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1"/>
  </p:notesMasterIdLst>
  <p:sldIdLst>
    <p:sldId id="256" r:id="rId2"/>
    <p:sldId id="257" r:id="rId3"/>
    <p:sldId id="258" r:id="rId4"/>
    <p:sldId id="260" r:id="rId5"/>
    <p:sldId id="261" r:id="rId6"/>
    <p:sldId id="263" r:id="rId7"/>
    <p:sldId id="269" r:id="rId8"/>
    <p:sldId id="271" r:id="rId9"/>
    <p:sldId id="270" r:id="rId10"/>
    <p:sldId id="273" r:id="rId11"/>
    <p:sldId id="275" r:id="rId12"/>
    <p:sldId id="274" r:id="rId13"/>
    <p:sldId id="279" r:id="rId14"/>
    <p:sldId id="280" r:id="rId15"/>
    <p:sldId id="283" r:id="rId16"/>
    <p:sldId id="282" r:id="rId17"/>
    <p:sldId id="276" r:id="rId18"/>
    <p:sldId id="277" r:id="rId19"/>
    <p:sldId id="281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4479"/>
    <a:srgbClr val="00AA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5A111915-BE36-4E01-A7E5-04B1672EAD32}" styleName="Estilo claro 2 - Acento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74"/>
  </p:normalViewPr>
  <p:slideViewPr>
    <p:cSldViewPr snapToGrid="0" snapToObjects="1">
      <p:cViewPr varScale="1">
        <p:scale>
          <a:sx n="152" d="100"/>
          <a:sy n="152" d="100"/>
        </p:scale>
        <p:origin x="206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FAF38C-8449-4683-974E-1A1AC51FBE8E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75F68A-C1E1-49F0-B6A0-815759A107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08274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" y="6492875"/>
            <a:ext cx="8577942" cy="36512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es-ES"/>
              <a:t>Dispersión y turbulencia en pulsos ultracortos: escenarios atmosférico y oceánico </a:t>
            </a:r>
            <a:endParaRPr lang="es-E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600"/>
            </a:lvl1pPr>
          </a:lstStyle>
          <a:p>
            <a:fld id="{FCFE5F45-1FFF-D043-8DCE-2BE364C338E3}" type="slidenum">
              <a:rPr lang="es-ES" smtClean="0"/>
              <a:pPr/>
              <a:t>‹#›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6471574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086600" y="6492875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FCFE5F45-1FFF-D043-8DCE-2BE364C338E3}" type="slidenum">
              <a:rPr lang="es-ES" smtClean="0"/>
              <a:pPr/>
              <a:t>‹#›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7433961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A89B0FDF-3662-524B-9C65-9051F9B74522}"/>
              </a:ext>
            </a:extLst>
          </p:cNvPr>
          <p:cNvSpPr txBox="1"/>
          <p:nvPr/>
        </p:nvSpPr>
        <p:spPr>
          <a:xfrm>
            <a:off x="1955972" y="3550638"/>
            <a:ext cx="642907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200" dirty="0">
                <a:solidFill>
                  <a:schemeClr val="bg1"/>
                </a:solidFill>
              </a:rPr>
              <a:t>Dispersión y turbulencia en pulsos ultracortos: escenarios atmosférico y oceánico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79028F85-7003-8F4F-BB66-F2F24CD19A38}"/>
              </a:ext>
            </a:extLst>
          </p:cNvPr>
          <p:cNvCxnSpPr>
            <a:cxnSpLocks/>
          </p:cNvCxnSpPr>
          <p:nvPr/>
        </p:nvCxnSpPr>
        <p:spPr>
          <a:xfrm>
            <a:off x="1974580" y="4364804"/>
            <a:ext cx="416742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uadroTexto 9">
            <a:extLst>
              <a:ext uri="{FF2B5EF4-FFF2-40B4-BE49-F238E27FC236}">
                <a16:creationId xmlns:a16="http://schemas.microsoft.com/office/drawing/2014/main" id="{DCE4FABE-B117-3644-AAD3-E54937705EDC}"/>
              </a:ext>
            </a:extLst>
          </p:cNvPr>
          <p:cNvSpPr txBox="1"/>
          <p:nvPr/>
        </p:nvSpPr>
        <p:spPr>
          <a:xfrm>
            <a:off x="1955974" y="4471085"/>
            <a:ext cx="5277033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solidFill>
                  <a:schemeClr val="bg1"/>
                </a:solidFill>
              </a:rPr>
              <a:t>Noelia Damas Vílchez</a:t>
            </a:r>
          </a:p>
          <a:p>
            <a:r>
              <a:rPr lang="es-ES" dirty="0">
                <a:solidFill>
                  <a:schemeClr val="bg1"/>
                </a:solidFill>
              </a:rPr>
              <a:t>Tutor/a/es: Rubén Boluda Ruiz</a:t>
            </a:r>
          </a:p>
          <a:p>
            <a:r>
              <a:rPr lang="es-ES" dirty="0">
                <a:solidFill>
                  <a:srgbClr val="00AAD6"/>
                </a:solidFill>
              </a:rPr>
              <a:t>Grado en Ingeniería Telemática</a:t>
            </a:r>
          </a:p>
          <a:p>
            <a:r>
              <a:rPr lang="es-ES" sz="1400" dirty="0">
                <a:solidFill>
                  <a:schemeClr val="bg1"/>
                </a:solidFill>
              </a:rPr>
              <a:t>Málaga, 19 de 02 de 2026</a:t>
            </a:r>
          </a:p>
        </p:txBody>
      </p:sp>
      <p:sp>
        <p:nvSpPr>
          <p:cNvPr id="2" name="Marcador de número de diapositiva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FE5F45-1FFF-D043-8DCE-2BE364C338E3}" type="slidenum">
              <a:rPr lang="es-ES" smtClean="0"/>
              <a:t>1</a:t>
            </a:fld>
            <a:endParaRPr lang="es-ES" dirty="0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Dispersión y turbulencia en pulsos ultracortos: escenarios atmosférico y oceánico 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3468165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4DF0C0A6-3121-D549-85A2-CC9A3E8FC545}"/>
              </a:ext>
            </a:extLst>
          </p:cNvPr>
          <p:cNvSpPr txBox="1"/>
          <p:nvPr/>
        </p:nvSpPr>
        <p:spPr>
          <a:xfrm>
            <a:off x="327189" y="121719"/>
            <a:ext cx="675941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800" dirty="0">
                <a:solidFill>
                  <a:srgbClr val="004479"/>
                </a:solidFill>
                <a:latin typeface="Malacitana" pitchFamily="2" charset="77"/>
              </a:rPr>
              <a:t> 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8CA85736-3E70-7946-A4A9-796CBF974F42}"/>
              </a:ext>
            </a:extLst>
          </p:cNvPr>
          <p:cNvSpPr txBox="1"/>
          <p:nvPr/>
        </p:nvSpPr>
        <p:spPr>
          <a:xfrm>
            <a:off x="715136" y="1608914"/>
            <a:ext cx="7713727" cy="39035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s-ES" sz="2800" dirty="0">
                <a:solidFill>
                  <a:srgbClr val="004479"/>
                </a:solidFill>
              </a:rPr>
              <a:t>1. Overview of the work</a:t>
            </a:r>
          </a:p>
          <a:p>
            <a:pPr algn="just">
              <a:lnSpc>
                <a:spcPct val="150000"/>
              </a:lnSpc>
            </a:pPr>
            <a:r>
              <a:rPr lang="es-ES" sz="2800" dirty="0">
                <a:solidFill>
                  <a:srgbClr val="004479"/>
                </a:solidFill>
              </a:rPr>
              <a:t>2. Motivación y contexto</a:t>
            </a:r>
          </a:p>
          <a:p>
            <a:pPr algn="just">
              <a:lnSpc>
                <a:spcPct val="150000"/>
              </a:lnSpc>
            </a:pPr>
            <a:r>
              <a:rPr lang="es-ES" sz="2800" dirty="0">
                <a:solidFill>
                  <a:srgbClr val="004479"/>
                </a:solidFill>
              </a:rPr>
              <a:t>3. Fundamentos físicos </a:t>
            </a:r>
          </a:p>
          <a:p>
            <a:pPr algn="just">
              <a:lnSpc>
                <a:spcPct val="150000"/>
              </a:lnSpc>
            </a:pPr>
            <a:r>
              <a:rPr lang="es-ES" sz="2800" dirty="0">
                <a:solidFill>
                  <a:srgbClr val="004479"/>
                </a:solidFill>
              </a:rPr>
              <a:t>4. Modelos teóricos </a:t>
            </a:r>
          </a:p>
          <a:p>
            <a:pPr algn="just">
              <a:lnSpc>
                <a:spcPct val="150000"/>
              </a:lnSpc>
            </a:pPr>
            <a:r>
              <a:rPr lang="es-ES" sz="2800" dirty="0">
                <a:solidFill>
                  <a:srgbClr val="004479"/>
                </a:solidFill>
              </a:rPr>
              <a:t>5. Simulaciones</a:t>
            </a:r>
          </a:p>
          <a:p>
            <a:pPr algn="just">
              <a:lnSpc>
                <a:spcPct val="150000"/>
              </a:lnSpc>
            </a:pPr>
            <a:r>
              <a:rPr lang="es-ES" sz="2800" dirty="0">
                <a:solidFill>
                  <a:srgbClr val="004479"/>
                </a:solidFill>
              </a:rPr>
              <a:t>6. Conclusiones y líneas futuras</a:t>
            </a:r>
          </a:p>
        </p:txBody>
      </p: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38318C8C-91B9-4A4C-9060-C2411328EE6E}"/>
              </a:ext>
            </a:extLst>
          </p:cNvPr>
          <p:cNvCxnSpPr>
            <a:cxnSpLocks/>
          </p:cNvCxnSpPr>
          <p:nvPr/>
        </p:nvCxnSpPr>
        <p:spPr>
          <a:xfrm>
            <a:off x="415773" y="1265941"/>
            <a:ext cx="3442481" cy="0"/>
          </a:xfrm>
          <a:prstGeom prst="line">
            <a:avLst/>
          </a:prstGeom>
          <a:ln>
            <a:solidFill>
              <a:srgbClr val="00AAD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Marcador de número de diapositiva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FE5F45-1FFF-D043-8DCE-2BE364C338E3}" type="slidenum">
              <a:rPr lang="es-ES" smtClean="0"/>
              <a:t>2</a:t>
            </a:fld>
            <a:endParaRPr lang="es-ES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>
                <a:solidFill>
                  <a:schemeClr val="bg1"/>
                </a:solidFill>
              </a:rPr>
              <a:t>Dispersión y turbulencia en pulsos ultracortos: escenarios atmosférico y oceánico</a:t>
            </a:r>
          </a:p>
          <a:p>
            <a:endParaRPr lang="es-ES" dirty="0"/>
          </a:p>
        </p:txBody>
      </p:sp>
      <p:sp>
        <p:nvSpPr>
          <p:cNvPr id="5" name="CuadroTexto 7">
            <a:extLst>
              <a:ext uri="{FF2B5EF4-FFF2-40B4-BE49-F238E27FC236}">
                <a16:creationId xmlns:a16="http://schemas.microsoft.com/office/drawing/2014/main" id="{FE4DC5AC-B513-67D3-C2A7-447D6B493FB9}"/>
              </a:ext>
            </a:extLst>
          </p:cNvPr>
          <p:cNvSpPr txBox="1"/>
          <p:nvPr/>
        </p:nvSpPr>
        <p:spPr>
          <a:xfrm>
            <a:off x="327189" y="465871"/>
            <a:ext cx="675941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800" b="1" dirty="0">
                <a:solidFill>
                  <a:srgbClr val="004479"/>
                </a:solidFill>
              </a:rPr>
              <a:t>Índice de contenidos </a:t>
            </a:r>
          </a:p>
        </p:txBody>
      </p:sp>
    </p:spTree>
    <p:extLst>
      <p:ext uri="{BB962C8B-B14F-4D97-AF65-F5344CB8AC3E}">
        <p14:creationId xmlns:p14="http://schemas.microsoft.com/office/powerpoint/2010/main" val="7366616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4DF0C0A6-3121-D549-85A2-CC9A3E8FC545}"/>
              </a:ext>
            </a:extLst>
          </p:cNvPr>
          <p:cNvSpPr txBox="1"/>
          <p:nvPr/>
        </p:nvSpPr>
        <p:spPr>
          <a:xfrm>
            <a:off x="327189" y="465871"/>
            <a:ext cx="675941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800" b="1" dirty="0">
                <a:solidFill>
                  <a:srgbClr val="004479"/>
                </a:solidFill>
              </a:rPr>
              <a:t>Overview</a:t>
            </a:r>
            <a:r>
              <a:rPr lang="es-ES" sz="2800" b="1" dirty="0">
                <a:solidFill>
                  <a:srgbClr val="004479"/>
                </a:solidFill>
                <a:latin typeface="Malacitana" pitchFamily="2" charset="77"/>
              </a:rPr>
              <a:t> of the work</a:t>
            </a:r>
            <a:endParaRPr lang="es-ES" sz="2800" dirty="0">
              <a:solidFill>
                <a:srgbClr val="004479"/>
              </a:solidFill>
              <a:latin typeface="Malacitana" pitchFamily="2" charset="77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8CA85736-3E70-7946-A4A9-796CBF974F42}"/>
              </a:ext>
            </a:extLst>
          </p:cNvPr>
          <p:cNvSpPr txBox="1"/>
          <p:nvPr/>
        </p:nvSpPr>
        <p:spPr>
          <a:xfrm>
            <a:off x="240840" y="1556029"/>
            <a:ext cx="8337103" cy="47440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00100" lvl="1" indent="-34290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s-ES" sz="2000" b="1" dirty="0">
                <a:solidFill>
                  <a:srgbClr val="004479"/>
                </a:solidFill>
              </a:rPr>
              <a:t>Chromatic dispersion and turbulence </a:t>
            </a:r>
          </a:p>
          <a:p>
            <a:pPr lvl="1">
              <a:lnSpc>
                <a:spcPct val="150000"/>
              </a:lnSpc>
            </a:pPr>
            <a:r>
              <a:rPr lang="es-ES" sz="2000" b="1" dirty="0">
                <a:solidFill>
                  <a:srgbClr val="004479"/>
                </a:solidFill>
              </a:rPr>
              <a:t>     	</a:t>
            </a:r>
            <a:r>
              <a:rPr lang="es-ES" sz="2000" dirty="0">
                <a:solidFill>
                  <a:srgbClr val="004479"/>
                </a:solidFill>
              </a:rPr>
              <a:t>in ultrashort optical pulse propagation</a:t>
            </a:r>
          </a:p>
          <a:p>
            <a:pPr marL="800100" lvl="1" indent="-34290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s-ES" sz="2000" b="1" dirty="0">
                <a:solidFill>
                  <a:srgbClr val="004479"/>
                </a:solidFill>
              </a:rPr>
              <a:t>Unguided optical channels </a:t>
            </a:r>
          </a:p>
          <a:p>
            <a:pPr lvl="1">
              <a:lnSpc>
                <a:spcPct val="150000"/>
              </a:lnSpc>
            </a:pPr>
            <a:r>
              <a:rPr lang="es-ES" sz="2000" b="1" dirty="0">
                <a:solidFill>
                  <a:srgbClr val="004479"/>
                </a:solidFill>
              </a:rPr>
              <a:t>     	</a:t>
            </a:r>
            <a:r>
              <a:rPr lang="es-ES" sz="2000" dirty="0">
                <a:solidFill>
                  <a:srgbClr val="004479"/>
                </a:solidFill>
              </a:rPr>
              <a:t>atmospheric and oceanic environments</a:t>
            </a:r>
          </a:p>
          <a:p>
            <a:pPr marL="800100" lvl="1" indent="-34290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s-ES" sz="2000" b="1" dirty="0">
                <a:solidFill>
                  <a:srgbClr val="004479"/>
                </a:solidFill>
              </a:rPr>
              <a:t>Limitation of high data-rate </a:t>
            </a:r>
            <a:r>
              <a:rPr lang="en-US" sz="2000" b="1" dirty="0">
                <a:solidFill>
                  <a:srgbClr val="004479"/>
                </a:solidFill>
              </a:rPr>
              <a:t>optical systems </a:t>
            </a:r>
          </a:p>
          <a:p>
            <a:pPr lvl="1">
              <a:lnSpc>
                <a:spcPct val="150000"/>
              </a:lnSpc>
            </a:pPr>
            <a:r>
              <a:rPr lang="en-US" sz="2000" b="1" dirty="0">
                <a:solidFill>
                  <a:srgbClr val="004479"/>
                </a:solidFill>
              </a:rPr>
              <a:t>     	</a:t>
            </a:r>
            <a:r>
              <a:rPr lang="en-US" sz="2000" dirty="0">
                <a:solidFill>
                  <a:srgbClr val="004479"/>
                </a:solidFill>
              </a:rPr>
              <a:t>due to propagation impairments</a:t>
            </a:r>
          </a:p>
          <a:p>
            <a:pPr lvl="1">
              <a:lnSpc>
                <a:spcPct val="150000"/>
              </a:lnSpc>
            </a:pPr>
            <a:endParaRPr lang="en-US" sz="2000" dirty="0">
              <a:solidFill>
                <a:srgbClr val="004479"/>
              </a:solidFill>
            </a:endParaRPr>
          </a:p>
          <a:p>
            <a:pPr lvl="1">
              <a:lnSpc>
                <a:spcPct val="150000"/>
              </a:lnSpc>
            </a:pPr>
            <a:r>
              <a:rPr lang="en-US" sz="2000" b="1" dirty="0">
                <a:solidFill>
                  <a:srgbClr val="004479"/>
                </a:solidFill>
              </a:rPr>
              <a:t>Approach: </a:t>
            </a:r>
            <a:r>
              <a:rPr lang="en-US" sz="2000" dirty="0">
                <a:solidFill>
                  <a:srgbClr val="004479"/>
                </a:solidFill>
              </a:rPr>
              <a:t>theoretical modeling and MATLAB simulations</a:t>
            </a:r>
          </a:p>
          <a:p>
            <a:pPr lvl="1">
              <a:lnSpc>
                <a:spcPct val="150000"/>
              </a:lnSpc>
            </a:pPr>
            <a:r>
              <a:rPr lang="en-US" sz="2000" b="1" dirty="0">
                <a:solidFill>
                  <a:srgbClr val="004479"/>
                </a:solidFill>
              </a:rPr>
              <a:t>Objective:</a:t>
            </a:r>
            <a:r>
              <a:rPr lang="en-US" sz="2000" dirty="0">
                <a:solidFill>
                  <a:srgbClr val="004479"/>
                </a:solidFill>
              </a:rPr>
              <a:t> analyze pulse broadening and signal distortion</a:t>
            </a:r>
            <a:endParaRPr lang="es-ES" sz="2000" dirty="0">
              <a:solidFill>
                <a:srgbClr val="004479"/>
              </a:solidFill>
            </a:endParaRPr>
          </a:p>
          <a:p>
            <a:pPr marL="742950" lvl="1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s-ES" sz="2400" dirty="0">
              <a:solidFill>
                <a:srgbClr val="004479"/>
              </a:solidFill>
              <a:latin typeface="Malacitana-Sans" pitchFamily="2" charset="77"/>
            </a:endParaRPr>
          </a:p>
        </p:txBody>
      </p: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38318C8C-91B9-4A4C-9060-C2411328EE6E}"/>
              </a:ext>
            </a:extLst>
          </p:cNvPr>
          <p:cNvCxnSpPr>
            <a:cxnSpLocks/>
          </p:cNvCxnSpPr>
          <p:nvPr/>
        </p:nvCxnSpPr>
        <p:spPr>
          <a:xfrm>
            <a:off x="415773" y="1265941"/>
            <a:ext cx="3442481" cy="0"/>
          </a:xfrm>
          <a:prstGeom prst="line">
            <a:avLst/>
          </a:prstGeom>
          <a:ln>
            <a:solidFill>
              <a:srgbClr val="00AAD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Marcador de número de diapositiva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FE5F45-1FFF-D043-8DCE-2BE364C338E3}" type="slidenum">
              <a:rPr lang="es-ES" smtClean="0"/>
              <a:t>3</a:t>
            </a:fld>
            <a:endParaRPr lang="es-ES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>
                <a:solidFill>
                  <a:schemeClr val="bg1"/>
                </a:solidFill>
              </a:rPr>
              <a:t>Dispersion and turbulence in ultrashort pulses: atmospheric and oceanic </a:t>
            </a:r>
            <a:r>
              <a:rPr lang="es-ES" dirty="0" err="1">
                <a:solidFill>
                  <a:schemeClr val="bg1"/>
                </a:solidFill>
              </a:rPr>
              <a:t>scenarios</a:t>
            </a:r>
            <a:endParaRPr lang="es-ES" dirty="0">
              <a:solidFill>
                <a:schemeClr val="bg1"/>
              </a:solidFill>
            </a:endParaRP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1783027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A3D6D7-C057-A115-47C2-51E7B496B6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85EC755A-4601-FF1C-6E20-EB4EAAB3A39C}"/>
              </a:ext>
            </a:extLst>
          </p:cNvPr>
          <p:cNvSpPr txBox="1"/>
          <p:nvPr/>
        </p:nvSpPr>
        <p:spPr>
          <a:xfrm>
            <a:off x="327188" y="478818"/>
            <a:ext cx="675941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800" b="1" dirty="0">
                <a:solidFill>
                  <a:srgbClr val="004479"/>
                </a:solidFill>
              </a:rPr>
              <a:t>Motivación y contexto </a:t>
            </a:r>
          </a:p>
          <a:p>
            <a:endParaRPr lang="es-ES" sz="2800" dirty="0">
              <a:solidFill>
                <a:srgbClr val="004479"/>
              </a:solidFill>
              <a:latin typeface="Malacitana" pitchFamily="2" charset="77"/>
            </a:endParaRPr>
          </a:p>
        </p:txBody>
      </p: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10B08B8E-9042-BA47-D240-B08F7454B4A0}"/>
              </a:ext>
            </a:extLst>
          </p:cNvPr>
          <p:cNvCxnSpPr>
            <a:cxnSpLocks/>
          </p:cNvCxnSpPr>
          <p:nvPr/>
        </p:nvCxnSpPr>
        <p:spPr>
          <a:xfrm>
            <a:off x="415773" y="1265941"/>
            <a:ext cx="3442481" cy="0"/>
          </a:xfrm>
          <a:prstGeom prst="line">
            <a:avLst/>
          </a:prstGeom>
          <a:ln>
            <a:solidFill>
              <a:srgbClr val="00AAD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58A70B8C-0502-4164-E772-49B0BF70D4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FE5F45-1FFF-D043-8DCE-2BE364C338E3}" type="slidenum">
              <a:rPr lang="es-ES" smtClean="0"/>
              <a:t>4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DB3BB5F3-A153-D2AD-6923-8BFFEEEBFF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>
                <a:solidFill>
                  <a:schemeClr val="bg1"/>
                </a:solidFill>
              </a:rPr>
              <a:t>Dispersión y turbulencia en pulsos ultracortos: escenarios atmosférico y oceánico</a:t>
            </a:r>
          </a:p>
          <a:p>
            <a:endParaRPr lang="es-ES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AD4DF0B7-E885-93D4-9382-0C9BAF6E4DB3}"/>
              </a:ext>
            </a:extLst>
          </p:cNvPr>
          <p:cNvSpPr txBox="1"/>
          <p:nvPr/>
        </p:nvSpPr>
        <p:spPr>
          <a:xfrm>
            <a:off x="465614" y="1265941"/>
            <a:ext cx="8212772" cy="38918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endParaRPr lang="es-ES" sz="2000" dirty="0">
              <a:solidFill>
                <a:srgbClr val="004479"/>
              </a:solidFill>
            </a:endParaRPr>
          </a:p>
          <a:p>
            <a:pPr marL="800100" lvl="1" indent="-342900" algn="just">
              <a:lnSpc>
                <a:spcPct val="200000"/>
              </a:lnSpc>
              <a:buFont typeface="Courier New" panose="02070309020205020404" pitchFamily="49" charset="0"/>
              <a:buChar char="o"/>
            </a:pPr>
            <a:r>
              <a:rPr lang="es-ES" sz="2000" dirty="0">
                <a:solidFill>
                  <a:srgbClr val="004479"/>
                </a:solidFill>
              </a:rPr>
              <a:t>Crecimiento exponencial de la demanda de datos</a:t>
            </a:r>
          </a:p>
          <a:p>
            <a:pPr marL="800100" lvl="1" indent="-342900" algn="just">
              <a:lnSpc>
                <a:spcPct val="200000"/>
              </a:lnSpc>
              <a:buFont typeface="Courier New" panose="02070309020205020404" pitchFamily="49" charset="0"/>
              <a:buChar char="o"/>
            </a:pPr>
            <a:r>
              <a:rPr lang="es-ES" sz="2000" dirty="0">
                <a:solidFill>
                  <a:srgbClr val="004479"/>
                </a:solidFill>
              </a:rPr>
              <a:t>Limitaciones de las comunicaciones RF y acústicas </a:t>
            </a:r>
          </a:p>
          <a:p>
            <a:pPr marL="800100" lvl="1" indent="-342900" algn="just">
              <a:lnSpc>
                <a:spcPct val="200000"/>
              </a:lnSpc>
              <a:buFont typeface="Courier New" panose="02070309020205020404" pitchFamily="49" charset="0"/>
              <a:buChar char="o"/>
            </a:pPr>
            <a:r>
              <a:rPr lang="es-ES" sz="2000" dirty="0">
                <a:solidFill>
                  <a:srgbClr val="004479"/>
                </a:solidFill>
              </a:rPr>
              <a:t>Comunicaciones ópticas inalámbricas: mejores prestaciones</a:t>
            </a:r>
          </a:p>
          <a:p>
            <a:pPr marL="800100" lvl="1" indent="-342900" algn="just">
              <a:lnSpc>
                <a:spcPct val="200000"/>
              </a:lnSpc>
              <a:buFont typeface="Courier New" panose="02070309020205020404" pitchFamily="49" charset="0"/>
              <a:buChar char="o"/>
            </a:pPr>
            <a:r>
              <a:rPr lang="es-ES" sz="2000" dirty="0">
                <a:solidFill>
                  <a:srgbClr val="004479"/>
                </a:solidFill>
              </a:rPr>
              <a:t>Interés creciente en enlaces FSO y UOWC y sus aplicaciones:</a:t>
            </a:r>
          </a:p>
          <a:p>
            <a:pPr lvl="2" algn="just">
              <a:lnSpc>
                <a:spcPct val="150000"/>
              </a:lnSpc>
            </a:pPr>
            <a:r>
              <a:rPr lang="es-ES" sz="2000" b="1" dirty="0">
                <a:solidFill>
                  <a:srgbClr val="004479"/>
                </a:solidFill>
              </a:rPr>
              <a:t>Atmósfera:</a:t>
            </a:r>
            <a:r>
              <a:rPr lang="es-ES" sz="2000" dirty="0">
                <a:solidFill>
                  <a:srgbClr val="004479"/>
                </a:solidFill>
              </a:rPr>
              <a:t> última milla, respaldo de fibra en 5G/6G, QKD…</a:t>
            </a:r>
          </a:p>
          <a:p>
            <a:pPr lvl="2" algn="just">
              <a:lnSpc>
                <a:spcPct val="150000"/>
              </a:lnSpc>
            </a:pPr>
            <a:r>
              <a:rPr lang="es-ES" sz="2000" b="1" dirty="0">
                <a:solidFill>
                  <a:srgbClr val="004479"/>
                </a:solidFill>
              </a:rPr>
              <a:t>Océano:</a:t>
            </a:r>
            <a:r>
              <a:rPr lang="es-ES" sz="2000" dirty="0">
                <a:solidFill>
                  <a:srgbClr val="004479"/>
                </a:solidFill>
              </a:rPr>
              <a:t> monitorización ambiental, comunicación entre AUV…</a:t>
            </a:r>
          </a:p>
        </p:txBody>
      </p:sp>
    </p:spTree>
    <p:extLst>
      <p:ext uri="{BB962C8B-B14F-4D97-AF65-F5344CB8AC3E}">
        <p14:creationId xmlns:p14="http://schemas.microsoft.com/office/powerpoint/2010/main" val="42824377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D82F5D-2532-254A-4EA4-6BD9E3047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37B97EE6-8CC6-B439-5C7C-9917E914AB31}"/>
              </a:ext>
            </a:extLst>
          </p:cNvPr>
          <p:cNvSpPr txBox="1"/>
          <p:nvPr/>
        </p:nvSpPr>
        <p:spPr>
          <a:xfrm>
            <a:off x="327188" y="478818"/>
            <a:ext cx="675941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800" b="1" dirty="0">
                <a:solidFill>
                  <a:srgbClr val="004479"/>
                </a:solidFill>
              </a:rPr>
              <a:t>Motivación y contexto </a:t>
            </a:r>
          </a:p>
          <a:p>
            <a:endParaRPr lang="es-ES" sz="2800" dirty="0">
              <a:solidFill>
                <a:srgbClr val="004479"/>
              </a:solidFill>
              <a:latin typeface="Malacitana" pitchFamily="2" charset="77"/>
            </a:endParaRPr>
          </a:p>
        </p:txBody>
      </p: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8AD26DAB-198D-CAFA-F57C-070E4837CCD3}"/>
              </a:ext>
            </a:extLst>
          </p:cNvPr>
          <p:cNvCxnSpPr>
            <a:cxnSpLocks/>
          </p:cNvCxnSpPr>
          <p:nvPr/>
        </p:nvCxnSpPr>
        <p:spPr>
          <a:xfrm>
            <a:off x="415773" y="1265941"/>
            <a:ext cx="3442481" cy="0"/>
          </a:xfrm>
          <a:prstGeom prst="line">
            <a:avLst/>
          </a:prstGeom>
          <a:ln>
            <a:solidFill>
              <a:srgbClr val="00AAD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AE862DCE-FB8B-31B0-750A-72DB2CF4AF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FE5F45-1FFF-D043-8DCE-2BE364C338E3}" type="slidenum">
              <a:rPr lang="es-ES" smtClean="0"/>
              <a:t>5</a:t>
            </a:fld>
            <a:endParaRPr lang="es-ES" dirty="0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862B2E53-F572-3471-1F72-A0A5F544EA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>
                <a:solidFill>
                  <a:schemeClr val="bg1"/>
                </a:solidFill>
              </a:rPr>
              <a:t>Dispersión y turbulencia en pulsos ultracortos: escenarios atmosférico y oceánico</a:t>
            </a:r>
          </a:p>
          <a:p>
            <a:endParaRPr lang="es-ES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37CB91DA-6982-BBE7-0CB1-AAF5FE5F31BB}"/>
              </a:ext>
            </a:extLst>
          </p:cNvPr>
          <p:cNvSpPr txBox="1"/>
          <p:nvPr/>
        </p:nvSpPr>
        <p:spPr>
          <a:xfrm>
            <a:off x="415774" y="1756114"/>
            <a:ext cx="8162169" cy="17989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ES" sz="2400" b="1" dirty="0">
                <a:solidFill>
                  <a:srgbClr val="004479"/>
                </a:solidFill>
              </a:rPr>
              <a:t>Limitaciones físicas de las comunicaciones ópticas inalámbricas</a:t>
            </a:r>
          </a:p>
          <a:p>
            <a:pPr marL="800100" lvl="1" indent="-342900" algn="just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s-ES" sz="2000" dirty="0">
                <a:solidFill>
                  <a:srgbClr val="004479"/>
                </a:solidFill>
              </a:rPr>
              <a:t>Atenuación (dispersión por partículas, niebla, turbidez del agua…)</a:t>
            </a:r>
          </a:p>
          <a:p>
            <a:pPr marL="800100" lvl="1" indent="-342900" algn="just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s-ES" sz="2000" dirty="0">
                <a:solidFill>
                  <a:srgbClr val="004479"/>
                </a:solidFill>
              </a:rPr>
              <a:t>Turbulencia atmosférica y oceánica</a:t>
            </a:r>
          </a:p>
          <a:p>
            <a:pPr marL="800100" lvl="1" indent="-342900" algn="just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s-ES" sz="2000" dirty="0">
                <a:solidFill>
                  <a:srgbClr val="004479"/>
                </a:solidFill>
              </a:rPr>
              <a:t>Dispersión cromática (pulsos ultracortos)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A80357A5-AA87-2B63-49E7-8F07F4E0B9C7}"/>
              </a:ext>
            </a:extLst>
          </p:cNvPr>
          <p:cNvSpPr txBox="1"/>
          <p:nvPr/>
        </p:nvSpPr>
        <p:spPr>
          <a:xfrm>
            <a:off x="415773" y="3900899"/>
            <a:ext cx="7987563" cy="15219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s-ES" sz="2400" b="1" dirty="0">
                <a:solidFill>
                  <a:srgbClr val="004479"/>
                </a:solidFill>
              </a:rPr>
              <a:t>USPL como tecnología prometedora</a:t>
            </a:r>
          </a:p>
          <a:p>
            <a:pPr marL="800100" lvl="1" indent="-342900" algn="just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s-ES" sz="2000" dirty="0">
                <a:solidFill>
                  <a:srgbClr val="004479"/>
                </a:solidFill>
              </a:rPr>
              <a:t>Mayor robustez frente a fenómenos degradantes </a:t>
            </a:r>
          </a:p>
          <a:p>
            <a:pPr marL="800100" lvl="1" indent="-342900" algn="just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s-ES" sz="2000" dirty="0">
                <a:solidFill>
                  <a:srgbClr val="004479"/>
                </a:solidFill>
              </a:rPr>
              <a:t>Posible activación de fenómenos no lineales</a:t>
            </a:r>
          </a:p>
        </p:txBody>
      </p:sp>
    </p:spTree>
    <p:extLst>
      <p:ext uri="{BB962C8B-B14F-4D97-AF65-F5344CB8AC3E}">
        <p14:creationId xmlns:p14="http://schemas.microsoft.com/office/powerpoint/2010/main" val="39325618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D58F5A-2A84-59F8-5EFD-285B5D11E1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0CC5C24A-B8AB-C32E-59D0-C63E9198CE9B}"/>
              </a:ext>
            </a:extLst>
          </p:cNvPr>
          <p:cNvSpPr txBox="1"/>
          <p:nvPr/>
        </p:nvSpPr>
        <p:spPr>
          <a:xfrm>
            <a:off x="327188" y="305396"/>
            <a:ext cx="675941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800" b="1" dirty="0">
                <a:solidFill>
                  <a:srgbClr val="004479"/>
                </a:solidFill>
              </a:rPr>
              <a:t>Fundamentos físicos  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5C2C0079-CC1F-ED83-F5E2-189A3773948F}"/>
              </a:ext>
            </a:extLst>
          </p:cNvPr>
          <p:cNvSpPr txBox="1"/>
          <p:nvPr/>
        </p:nvSpPr>
        <p:spPr>
          <a:xfrm>
            <a:off x="478548" y="729875"/>
            <a:ext cx="67594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dirty="0">
                <a:solidFill>
                  <a:srgbClr val="00AAD6"/>
                </a:solidFill>
              </a:rPr>
              <a:t>Conceptos básicos de óptica</a:t>
            </a:r>
          </a:p>
        </p:txBody>
      </p: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E79795FF-6F8B-9A5C-5C23-A2625065BA57}"/>
              </a:ext>
            </a:extLst>
          </p:cNvPr>
          <p:cNvCxnSpPr>
            <a:cxnSpLocks/>
          </p:cNvCxnSpPr>
          <p:nvPr/>
        </p:nvCxnSpPr>
        <p:spPr>
          <a:xfrm>
            <a:off x="415773" y="1265941"/>
            <a:ext cx="3442481" cy="0"/>
          </a:xfrm>
          <a:prstGeom prst="line">
            <a:avLst/>
          </a:prstGeom>
          <a:ln>
            <a:solidFill>
              <a:srgbClr val="00AAD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67812579-C8C9-ED55-3E39-E10140AB4F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FE5F45-1FFF-D043-8DCE-2BE364C338E3}" type="slidenum">
              <a:rPr lang="es-ES" smtClean="0"/>
              <a:t>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8A2E90B-8123-4B35-D1BF-9A0A9288A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>
                <a:solidFill>
                  <a:schemeClr val="bg1"/>
                </a:solidFill>
              </a:rPr>
              <a:t>Dispersión y turbulencia en pulsos ultracortos: escenarios atmosférico y oceánico</a:t>
            </a:r>
          </a:p>
          <a:p>
            <a:endParaRPr lang="es-ES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87051404-CC5C-CEB4-31A0-DC0A8DAD4AA1}"/>
              </a:ext>
            </a:extLst>
          </p:cNvPr>
          <p:cNvSpPr txBox="1"/>
          <p:nvPr/>
        </p:nvSpPr>
        <p:spPr>
          <a:xfrm>
            <a:off x="260143" y="2146727"/>
            <a:ext cx="4796924" cy="27838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b="1" dirty="0">
                <a:solidFill>
                  <a:srgbClr val="004479"/>
                </a:solidFill>
              </a:rPr>
              <a:t>Parámetros de onda</a:t>
            </a:r>
          </a:p>
          <a:p>
            <a:pPr lvl="1" algn="just"/>
            <a:endParaRPr lang="es-ES" sz="2400" b="1" dirty="0">
              <a:solidFill>
                <a:srgbClr val="004479"/>
              </a:solidFill>
            </a:endParaRPr>
          </a:p>
          <a:p>
            <a:pPr marL="800100" lvl="1" indent="-342900" algn="just">
              <a:buFont typeface="Courier New" panose="02070309020205020404" pitchFamily="49" charset="0"/>
              <a:buChar char="o"/>
            </a:pPr>
            <a:r>
              <a:rPr lang="es-ES" sz="2000" dirty="0">
                <a:solidFill>
                  <a:srgbClr val="004479"/>
                </a:solidFill>
              </a:rPr>
              <a:t>Longitud de onda (</a:t>
            </a:r>
            <a:r>
              <a:rPr lang="el-GR" sz="2000" dirty="0">
                <a:solidFill>
                  <a:srgbClr val="004479"/>
                </a:solidFill>
              </a:rPr>
              <a:t>λ</a:t>
            </a:r>
            <a:r>
              <a:rPr lang="en-US" sz="2000" dirty="0">
                <a:solidFill>
                  <a:srgbClr val="004479"/>
                </a:solidFill>
              </a:rPr>
              <a:t>)</a:t>
            </a:r>
            <a:endParaRPr lang="es-ES" sz="2000" dirty="0">
              <a:solidFill>
                <a:srgbClr val="004479"/>
              </a:solidFill>
            </a:endParaRPr>
          </a:p>
          <a:p>
            <a:pPr lvl="1" algn="just"/>
            <a:endParaRPr lang="es-ES" sz="2000" dirty="0">
              <a:solidFill>
                <a:srgbClr val="004479"/>
              </a:solidFill>
            </a:endParaRPr>
          </a:p>
          <a:p>
            <a:pPr marL="800100" lvl="1" indent="-342900" algn="just">
              <a:buFont typeface="Courier New" panose="02070309020205020404" pitchFamily="49" charset="0"/>
              <a:buChar char="o"/>
            </a:pPr>
            <a:r>
              <a:rPr lang="es-ES" sz="2000" dirty="0">
                <a:solidFill>
                  <a:srgbClr val="004479"/>
                </a:solidFill>
              </a:rPr>
              <a:t>Índice de refracción (</a:t>
            </a:r>
            <a:r>
              <a:rPr lang="en-US" sz="2000" dirty="0">
                <a:solidFill>
                  <a:srgbClr val="004479"/>
                </a:solidFill>
              </a:rPr>
              <a:t>n)</a:t>
            </a:r>
            <a:endParaRPr lang="es-ES" sz="2000" dirty="0">
              <a:solidFill>
                <a:srgbClr val="004479"/>
              </a:solidFill>
            </a:endParaRPr>
          </a:p>
          <a:p>
            <a:pPr lvl="1" algn="just"/>
            <a:endParaRPr lang="es-ES" sz="2000" dirty="0">
              <a:solidFill>
                <a:srgbClr val="004479"/>
              </a:solidFill>
            </a:endParaRPr>
          </a:p>
          <a:p>
            <a:pPr marL="800100" lvl="1" indent="-342900" algn="just">
              <a:buFont typeface="Courier New" panose="02070309020205020404" pitchFamily="49" charset="0"/>
              <a:buChar char="o"/>
            </a:pPr>
            <a:r>
              <a:rPr lang="es-ES" sz="2000" dirty="0">
                <a:solidFill>
                  <a:srgbClr val="004479"/>
                </a:solidFill>
              </a:rPr>
              <a:t>Constante de propagación (</a:t>
            </a:r>
            <a:r>
              <a:rPr lang="el-GR" sz="2000" dirty="0">
                <a:solidFill>
                  <a:srgbClr val="004479"/>
                </a:solidFill>
              </a:rPr>
              <a:t>γ</a:t>
            </a:r>
            <a:r>
              <a:rPr lang="es-ES" sz="2000" dirty="0">
                <a:solidFill>
                  <a:srgbClr val="004479"/>
                </a:solidFill>
              </a:rPr>
              <a:t>)</a:t>
            </a:r>
          </a:p>
          <a:p>
            <a:pPr marL="742950" lvl="1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s-ES" sz="2000" dirty="0">
              <a:solidFill>
                <a:srgbClr val="004479"/>
              </a:solidFill>
              <a:latin typeface="Malacitana-Sans" pitchFamily="2" charset="77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CEDE3C2F-BB81-6769-937B-50C005A506CF}"/>
              </a:ext>
            </a:extLst>
          </p:cNvPr>
          <p:cNvSpPr txBox="1"/>
          <p:nvPr/>
        </p:nvSpPr>
        <p:spPr>
          <a:xfrm>
            <a:off x="5057067" y="2146727"/>
            <a:ext cx="4059064" cy="27530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ES" sz="2400" b="1" dirty="0">
                <a:solidFill>
                  <a:srgbClr val="004479"/>
                </a:solidFill>
              </a:rPr>
              <a:t>Propagación en el medio</a:t>
            </a:r>
          </a:p>
          <a:p>
            <a:pPr algn="just"/>
            <a:endParaRPr lang="es-ES" sz="2400" b="1" dirty="0">
              <a:solidFill>
                <a:srgbClr val="004479"/>
              </a:solidFill>
            </a:endParaRPr>
          </a:p>
          <a:p>
            <a:pPr marL="342900" indent="-342900" algn="just">
              <a:buFont typeface="Courier New" panose="02070309020205020404" pitchFamily="49" charset="0"/>
              <a:buChar char="o"/>
            </a:pPr>
            <a:r>
              <a:rPr lang="es-ES" sz="2000" dirty="0">
                <a:solidFill>
                  <a:srgbClr val="004479"/>
                </a:solidFill>
              </a:rPr>
              <a:t>Medio dispersivo </a:t>
            </a:r>
          </a:p>
          <a:p>
            <a:pPr algn="just"/>
            <a:endParaRPr lang="es-ES" sz="2000" dirty="0">
              <a:solidFill>
                <a:srgbClr val="004479"/>
              </a:solidFill>
            </a:endParaRPr>
          </a:p>
          <a:p>
            <a:pPr marL="342900" indent="-342900" algn="just">
              <a:buFont typeface="Courier New" panose="02070309020205020404" pitchFamily="49" charset="0"/>
              <a:buChar char="o"/>
            </a:pPr>
            <a:r>
              <a:rPr lang="es-ES" sz="2000" dirty="0">
                <a:solidFill>
                  <a:srgbClr val="004479"/>
                </a:solidFill>
              </a:rPr>
              <a:t>Ventanas de transmisión</a:t>
            </a:r>
            <a:endParaRPr lang="es-ES" sz="2000" b="1" dirty="0">
              <a:solidFill>
                <a:srgbClr val="004479"/>
              </a:solidFill>
            </a:endParaRPr>
          </a:p>
          <a:p>
            <a:pPr algn="just"/>
            <a:r>
              <a:rPr lang="es-ES" sz="2000" b="1" dirty="0">
                <a:solidFill>
                  <a:srgbClr val="004479"/>
                </a:solidFill>
              </a:rPr>
              <a:t>	</a:t>
            </a:r>
            <a:r>
              <a:rPr lang="es-ES" b="1" dirty="0">
                <a:solidFill>
                  <a:srgbClr val="004479"/>
                </a:solidFill>
              </a:rPr>
              <a:t>Atmósfera:</a:t>
            </a:r>
            <a:r>
              <a:rPr lang="es-ES" dirty="0">
                <a:solidFill>
                  <a:srgbClr val="004479"/>
                </a:solidFill>
              </a:rPr>
              <a:t> 850-1310-1550 nm</a:t>
            </a:r>
          </a:p>
          <a:p>
            <a:pPr algn="just"/>
            <a:r>
              <a:rPr lang="es-ES" b="1" dirty="0">
                <a:solidFill>
                  <a:srgbClr val="004479"/>
                </a:solidFill>
              </a:rPr>
              <a:t>	Océano:</a:t>
            </a:r>
            <a:r>
              <a:rPr lang="es-ES" dirty="0">
                <a:solidFill>
                  <a:srgbClr val="004479"/>
                </a:solidFill>
              </a:rPr>
              <a:t> 440-550 nm</a:t>
            </a:r>
          </a:p>
          <a:p>
            <a:pPr marL="742950" lvl="1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s-ES" sz="2000" dirty="0">
              <a:solidFill>
                <a:srgbClr val="004479"/>
              </a:solidFill>
              <a:latin typeface="Malacitana-Sa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7825094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49596-E674-DE86-4311-2689A318C4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B97FF407-A733-2D7C-CF07-7449D3C1F775}"/>
              </a:ext>
            </a:extLst>
          </p:cNvPr>
          <p:cNvSpPr txBox="1"/>
          <p:nvPr/>
        </p:nvSpPr>
        <p:spPr>
          <a:xfrm>
            <a:off x="327188" y="305396"/>
            <a:ext cx="675941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800" b="1" dirty="0">
                <a:solidFill>
                  <a:srgbClr val="004479"/>
                </a:solidFill>
              </a:rPr>
              <a:t>Fundamentos físicos 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D7166E5A-FE75-7472-CF54-B37965466A98}"/>
              </a:ext>
            </a:extLst>
          </p:cNvPr>
          <p:cNvSpPr txBox="1"/>
          <p:nvPr/>
        </p:nvSpPr>
        <p:spPr>
          <a:xfrm>
            <a:off x="478548" y="729875"/>
            <a:ext cx="67594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dirty="0">
                <a:solidFill>
                  <a:srgbClr val="00AAD6"/>
                </a:solidFill>
              </a:rPr>
              <a:t>Propagación y dispersión de pulsos ultracortos</a:t>
            </a:r>
          </a:p>
        </p:txBody>
      </p: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87242749-8681-97BA-ED9B-C77195B34C73}"/>
              </a:ext>
            </a:extLst>
          </p:cNvPr>
          <p:cNvCxnSpPr>
            <a:cxnSpLocks/>
          </p:cNvCxnSpPr>
          <p:nvPr/>
        </p:nvCxnSpPr>
        <p:spPr>
          <a:xfrm>
            <a:off x="415773" y="1265941"/>
            <a:ext cx="3442481" cy="0"/>
          </a:xfrm>
          <a:prstGeom prst="line">
            <a:avLst/>
          </a:prstGeom>
          <a:ln>
            <a:solidFill>
              <a:srgbClr val="00AAD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701F292B-6EE8-0521-8E7C-DD062C142D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FE5F45-1FFF-D043-8DCE-2BE364C338E3}" type="slidenum">
              <a:rPr lang="es-ES" smtClean="0"/>
              <a:t>7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58FCCDD5-2752-9225-3B3E-1AF3C8180B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>
                <a:solidFill>
                  <a:schemeClr val="bg1"/>
                </a:solidFill>
              </a:rPr>
              <a:t>Dispersión y turbulencia en pulsos ultracortos: escenarios atmosférico y oceánico</a:t>
            </a:r>
          </a:p>
          <a:p>
            <a:endParaRPr lang="es-ES" dirty="0"/>
          </a:p>
        </p:txBody>
      </p:sp>
      <p:sp>
        <p:nvSpPr>
          <p:cNvPr id="6" name="CuadroTexto 3">
            <a:extLst>
              <a:ext uri="{FF2B5EF4-FFF2-40B4-BE49-F238E27FC236}">
                <a16:creationId xmlns:a16="http://schemas.microsoft.com/office/drawing/2014/main" id="{7172034C-6AD5-7759-6284-583AE03F4BB0}"/>
              </a:ext>
            </a:extLst>
          </p:cNvPr>
          <p:cNvSpPr txBox="1"/>
          <p:nvPr/>
        </p:nvSpPr>
        <p:spPr>
          <a:xfrm>
            <a:off x="1" y="1441535"/>
            <a:ext cx="3858254" cy="40010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>
              <a:lnSpc>
                <a:spcPct val="150000"/>
              </a:lnSpc>
            </a:pPr>
            <a:r>
              <a:rPr lang="es-ES" sz="2400" b="1" dirty="0">
                <a:solidFill>
                  <a:srgbClr val="004479"/>
                </a:solidFill>
              </a:rPr>
              <a:t>Pulsos ultracortos</a:t>
            </a:r>
          </a:p>
          <a:p>
            <a:pPr marL="800100" lvl="1" indent="-342900" algn="just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s-ES" sz="2000" dirty="0">
                <a:solidFill>
                  <a:srgbClr val="004479"/>
                </a:solidFill>
              </a:rPr>
              <a:t>Alta coherencia</a:t>
            </a:r>
          </a:p>
          <a:p>
            <a:pPr marL="800100" lvl="1" indent="-342900" algn="just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s-ES" sz="2000" dirty="0">
                <a:solidFill>
                  <a:srgbClr val="004479"/>
                </a:solidFill>
              </a:rPr>
              <a:t>Amplio ancho espectral</a:t>
            </a:r>
          </a:p>
          <a:p>
            <a:pPr marL="800100" lvl="1" indent="-342900" algn="just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s-ES" sz="2000" dirty="0">
                <a:solidFill>
                  <a:srgbClr val="004479"/>
                </a:solidFill>
              </a:rPr>
              <a:t>Gaussiano, supergaussiano, hiperbólico-secante…</a:t>
            </a:r>
          </a:p>
          <a:p>
            <a:pPr marL="800100" lvl="1" indent="-342900" algn="just">
              <a:buFont typeface="Courier New" panose="02070309020205020404" pitchFamily="49" charset="0"/>
              <a:buChar char="o"/>
            </a:pPr>
            <a:endParaRPr lang="es-ES" sz="2000" dirty="0">
              <a:solidFill>
                <a:srgbClr val="004479"/>
              </a:solidFill>
            </a:endParaRPr>
          </a:p>
          <a:p>
            <a:pPr marL="800100" lvl="1" indent="-342900" algn="just">
              <a:buFont typeface="Courier New" panose="02070309020205020404" pitchFamily="49" charset="0"/>
              <a:buChar char="o"/>
            </a:pPr>
            <a:endParaRPr lang="es-ES" dirty="0">
              <a:solidFill>
                <a:srgbClr val="004479"/>
              </a:solidFill>
            </a:endParaRPr>
          </a:p>
          <a:p>
            <a:pPr lvl="1" algn="just"/>
            <a:r>
              <a:rPr lang="es-ES" sz="2000" b="1" i="1" dirty="0">
                <a:solidFill>
                  <a:srgbClr val="004479"/>
                </a:solidFill>
              </a:rPr>
              <a:t>Chirp</a:t>
            </a:r>
          </a:p>
          <a:p>
            <a:pPr lvl="1" algn="just"/>
            <a:r>
              <a:rPr lang="es-ES" sz="2000" dirty="0">
                <a:solidFill>
                  <a:srgbClr val="004479"/>
                </a:solidFill>
                <a:latin typeface="Malacitana-Sans" pitchFamily="2" charset="77"/>
              </a:rPr>
              <a:t>Variación temporal de la frecuencia instantánea</a:t>
            </a:r>
          </a:p>
        </p:txBody>
      </p:sp>
      <p:pic>
        <p:nvPicPr>
          <p:cNvPr id="12" name="Imagen 13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7AF0D15E-B22A-41C5-7B16-97B6238046B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150" r="15270" b="11631"/>
          <a:stretch>
            <a:fillRect/>
          </a:stretch>
        </p:blipFill>
        <p:spPr>
          <a:xfrm>
            <a:off x="4762400" y="1368299"/>
            <a:ext cx="3352900" cy="1936631"/>
          </a:xfrm>
          <a:prstGeom prst="rect">
            <a:avLst/>
          </a:prstGeom>
        </p:spPr>
      </p:pic>
      <p:pic>
        <p:nvPicPr>
          <p:cNvPr id="13" name="Imagen 15" descr="Gráfico&#10;&#10;El contenido generado por IA puede ser incorrecto.">
            <a:extLst>
              <a:ext uri="{FF2B5EF4-FFF2-40B4-BE49-F238E27FC236}">
                <a16:creationId xmlns:a16="http://schemas.microsoft.com/office/drawing/2014/main" id="{F2F420A1-0EA6-19BC-61BB-75D06774EDF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003" r="13845" b="9519"/>
          <a:stretch>
            <a:fillRect/>
          </a:stretch>
        </p:blipFill>
        <p:spPr>
          <a:xfrm>
            <a:off x="4814263" y="3525815"/>
            <a:ext cx="3314808" cy="201943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992501CB-207C-CA17-B606-22C987BE17BF}"/>
              </a:ext>
            </a:extLst>
          </p:cNvPr>
          <p:cNvSpPr txBox="1"/>
          <p:nvPr/>
        </p:nvSpPr>
        <p:spPr>
          <a:xfrm>
            <a:off x="2232660" y="569214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B293502-11F4-9D7E-A746-96C6CA2DCEE2}"/>
              </a:ext>
            </a:extLst>
          </p:cNvPr>
          <p:cNvSpPr txBox="1"/>
          <p:nvPr/>
        </p:nvSpPr>
        <p:spPr>
          <a:xfrm>
            <a:off x="4439381" y="3304930"/>
            <a:ext cx="425949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1100" dirty="0">
                <a:solidFill>
                  <a:srgbClr val="004479"/>
                </a:solidFill>
              </a:rPr>
              <a:t>Representación esquemática de un pulso con </a:t>
            </a:r>
            <a:r>
              <a:rPr lang="es-ES" sz="1100" i="1" dirty="0">
                <a:solidFill>
                  <a:srgbClr val="004479"/>
                </a:solidFill>
              </a:rPr>
              <a:t>chirp</a:t>
            </a:r>
            <a:r>
              <a:rPr lang="es-ES" sz="1100" dirty="0">
                <a:solidFill>
                  <a:srgbClr val="004479"/>
                </a:solidFill>
              </a:rPr>
              <a:t> positivo. Fuente </a:t>
            </a:r>
            <a:r>
              <a:rPr lang="en-US" sz="1100" dirty="0">
                <a:solidFill>
                  <a:srgbClr val="004479"/>
                </a:solidFill>
              </a:rPr>
              <a:t>[1]</a:t>
            </a:r>
            <a:r>
              <a:rPr lang="es-ES" sz="1100" dirty="0">
                <a:solidFill>
                  <a:srgbClr val="004479"/>
                </a:solidFill>
              </a:rPr>
              <a:t> </a:t>
            </a:r>
            <a:endParaRPr lang="en-US" sz="1100" dirty="0">
              <a:solidFill>
                <a:srgbClr val="004479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1C10E03-7016-8317-B5E2-ADE1B2FEFD13}"/>
              </a:ext>
            </a:extLst>
          </p:cNvPr>
          <p:cNvSpPr txBox="1"/>
          <p:nvPr/>
        </p:nvSpPr>
        <p:spPr>
          <a:xfrm>
            <a:off x="4439381" y="5504523"/>
            <a:ext cx="46101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100" dirty="0">
                <a:solidFill>
                  <a:srgbClr val="004479"/>
                </a:solidFill>
              </a:rPr>
              <a:t>Representación esquemática de un pulso con </a:t>
            </a:r>
            <a:r>
              <a:rPr lang="es-ES" sz="1100" i="1" dirty="0">
                <a:solidFill>
                  <a:srgbClr val="004479"/>
                </a:solidFill>
              </a:rPr>
              <a:t>chirp</a:t>
            </a:r>
            <a:r>
              <a:rPr lang="es-ES" sz="1100" dirty="0">
                <a:solidFill>
                  <a:srgbClr val="004479"/>
                </a:solidFill>
              </a:rPr>
              <a:t> negativo. Fuente </a:t>
            </a:r>
            <a:r>
              <a:rPr lang="en-US" sz="1100" dirty="0">
                <a:solidFill>
                  <a:srgbClr val="004479"/>
                </a:solidFill>
              </a:rPr>
              <a:t>[1]</a:t>
            </a:r>
            <a:r>
              <a:rPr lang="es-ES" sz="1100" dirty="0">
                <a:solidFill>
                  <a:srgbClr val="004479"/>
                </a:solidFill>
              </a:rPr>
              <a:t> </a:t>
            </a:r>
            <a:endParaRPr lang="en-US" sz="1100" dirty="0">
              <a:solidFill>
                <a:srgbClr val="004479"/>
              </a:solidFill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41E277DF-7501-09C1-643C-651972ED5CAB}"/>
              </a:ext>
            </a:extLst>
          </p:cNvPr>
          <p:cNvSpPr txBox="1"/>
          <p:nvPr/>
        </p:nvSpPr>
        <p:spPr>
          <a:xfrm>
            <a:off x="327188" y="5874033"/>
            <a:ext cx="783840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200" dirty="0">
                <a:solidFill>
                  <a:srgbClr val="00AAD6"/>
                </a:solidFill>
              </a:rPr>
              <a:t>[1] R. Trebino, “Ultrashort Laser Pulses I - Lecture Notes”, 2025, accesible en: </a:t>
            </a:r>
            <a:r>
              <a:rPr lang="es-ES" sz="1200" i="1" dirty="0">
                <a:solidFill>
                  <a:srgbClr val="00AAD6"/>
                </a:solidFill>
              </a:rPr>
              <a:t>http://www.frog.gatech.edu </a:t>
            </a:r>
            <a:r>
              <a:rPr lang="es-ES" sz="1200" dirty="0">
                <a:solidFill>
                  <a:srgbClr val="00AAD6"/>
                </a:solidFill>
              </a:rPr>
              <a:t>(consultado el 3 de septiembre de 2025)</a:t>
            </a:r>
          </a:p>
        </p:txBody>
      </p:sp>
    </p:spTree>
    <p:extLst>
      <p:ext uri="{BB962C8B-B14F-4D97-AF65-F5344CB8AC3E}">
        <p14:creationId xmlns:p14="http://schemas.microsoft.com/office/powerpoint/2010/main" val="4332451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B8B32-62A2-D146-20F5-490025600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0B0CB4F6-5A37-2224-21EA-B60FCA806866}"/>
              </a:ext>
            </a:extLst>
          </p:cNvPr>
          <p:cNvSpPr txBox="1"/>
          <p:nvPr/>
        </p:nvSpPr>
        <p:spPr>
          <a:xfrm>
            <a:off x="327188" y="305396"/>
            <a:ext cx="675941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800" b="1" dirty="0">
                <a:solidFill>
                  <a:srgbClr val="004479"/>
                </a:solidFill>
              </a:rPr>
              <a:t>Fundamentos físicos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B46CC8A2-DEB0-E24B-8CBD-6A0235045796}"/>
              </a:ext>
            </a:extLst>
          </p:cNvPr>
          <p:cNvSpPr txBox="1"/>
          <p:nvPr/>
        </p:nvSpPr>
        <p:spPr>
          <a:xfrm>
            <a:off x="478548" y="729875"/>
            <a:ext cx="67594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dirty="0">
                <a:solidFill>
                  <a:srgbClr val="00AAD6"/>
                </a:solidFill>
              </a:rPr>
              <a:t>Propagación y dispersión de pulsos ultracortos</a:t>
            </a:r>
          </a:p>
        </p:txBody>
      </p: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72C51726-3419-1E63-1462-32B36F4EF612}"/>
              </a:ext>
            </a:extLst>
          </p:cNvPr>
          <p:cNvCxnSpPr>
            <a:cxnSpLocks/>
          </p:cNvCxnSpPr>
          <p:nvPr/>
        </p:nvCxnSpPr>
        <p:spPr>
          <a:xfrm>
            <a:off x="415773" y="1265941"/>
            <a:ext cx="3442481" cy="0"/>
          </a:xfrm>
          <a:prstGeom prst="line">
            <a:avLst/>
          </a:prstGeom>
          <a:ln>
            <a:solidFill>
              <a:srgbClr val="00AAD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1443424-41C1-76A0-69A9-99967B0A8C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FE5F45-1FFF-D043-8DCE-2BE364C338E3}" type="slidenum">
              <a:rPr lang="es-ES" smtClean="0"/>
              <a:t>8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09943477-25DB-7EA5-155B-8482321375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>
                <a:solidFill>
                  <a:schemeClr val="bg1"/>
                </a:solidFill>
              </a:rPr>
              <a:t>Dispersión y turbulencia en pulsos ultracortos: escenarios atmosférico y oceánico</a:t>
            </a:r>
          </a:p>
          <a:p>
            <a:endParaRPr lang="es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E3A117B-F8BD-2B86-4B2E-0A3F2DD50229}"/>
              </a:ext>
            </a:extLst>
          </p:cNvPr>
          <p:cNvSpPr txBox="1"/>
          <p:nvPr/>
        </p:nvSpPr>
        <p:spPr>
          <a:xfrm>
            <a:off x="2232660" y="569214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3856917A-2DC1-B48B-30FF-770A48E039F3}"/>
              </a:ext>
            </a:extLst>
          </p:cNvPr>
          <p:cNvSpPr txBox="1"/>
          <p:nvPr/>
        </p:nvSpPr>
        <p:spPr>
          <a:xfrm>
            <a:off x="201041" y="1265059"/>
            <a:ext cx="8376902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endParaRPr lang="es-ES" sz="2000" dirty="0">
              <a:solidFill>
                <a:srgbClr val="004479"/>
              </a:solidFill>
              <a:latin typeface="Malacitana-Sans" pitchFamily="2" charset="77"/>
            </a:endParaRPr>
          </a:p>
          <a:p>
            <a:pPr lvl="1" algn="just"/>
            <a:r>
              <a:rPr lang="es-ES" sz="2400" b="1" dirty="0">
                <a:solidFill>
                  <a:srgbClr val="004479"/>
                </a:solidFill>
              </a:rPr>
              <a:t>Dispersión cromática</a:t>
            </a:r>
          </a:p>
          <a:p>
            <a:pPr lvl="1" algn="just"/>
            <a:endParaRPr lang="es-ES" sz="2400" b="1" dirty="0">
              <a:solidFill>
                <a:srgbClr val="004479"/>
              </a:solidFill>
              <a:latin typeface="Malacitana-Sans" pitchFamily="2" charset="77"/>
            </a:endParaRPr>
          </a:p>
          <a:p>
            <a:pPr lvl="2" algn="just"/>
            <a:r>
              <a:rPr lang="es-ES" sz="2000" dirty="0">
                <a:solidFill>
                  <a:srgbClr val="004479"/>
                </a:solidFill>
              </a:rPr>
              <a:t>Provoca que las distintas frecuencias de un pulso viajen a diferentes velocidades, provocando su ensanchamiento temporal</a:t>
            </a:r>
          </a:p>
          <a:p>
            <a:pPr lvl="2" algn="just"/>
            <a:endParaRPr lang="es-ES" sz="2000" dirty="0">
              <a:solidFill>
                <a:srgbClr val="004479"/>
              </a:solidFill>
              <a:latin typeface="Malacitana-Sans" pitchFamily="2" charset="7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uadroTexto 18">
                <a:extLst>
                  <a:ext uri="{FF2B5EF4-FFF2-40B4-BE49-F238E27FC236}">
                    <a16:creationId xmlns:a16="http://schemas.microsoft.com/office/drawing/2014/main" id="{95A630FF-6A0D-0306-18B7-32336A5CCA75}"/>
                  </a:ext>
                </a:extLst>
              </p:cNvPr>
              <p:cNvSpPr txBox="1"/>
              <p:nvPr/>
            </p:nvSpPr>
            <p:spPr>
              <a:xfrm>
                <a:off x="1088136" y="3246939"/>
                <a:ext cx="6967728" cy="6109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i="1" smtClean="0">
                          <a:solidFill>
                            <a:srgbClr val="004479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𝛽</m:t>
                      </m:r>
                      <m:d>
                        <m:dPr>
                          <m:ctrlPr>
                            <a:rPr lang="es-ES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i="1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es-ES" i="1" smtClean="0">
                          <a:solidFill>
                            <a:srgbClr val="004479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i="1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s-ES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s-ES" i="1" smtClean="0">
                          <a:solidFill>
                            <a:srgbClr val="004479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i="1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s-ES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s-ES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i="1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  <m:r>
                            <a:rPr lang="es-ES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s-ES" i="1" smtClean="0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i="1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s-ES" b="0" i="1" smtClean="0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s-ES" i="1" smtClean="0">
                          <a:solidFill>
                            <a:srgbClr val="004479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s-ES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ES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>
                        <m:sSubPr>
                          <m:ctrlPr>
                            <a:rPr lang="es-ES" i="1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i="1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s-ES" i="1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p>
                        <m:sSupPr>
                          <m:ctrlPr>
                            <a:rPr lang="es-ES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s-ES" i="1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" i="1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s-ES" i="1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s-ES" i="1">
                                      <a:solidFill>
                                        <a:srgbClr val="004479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i="1">
                                      <a:solidFill>
                                        <a:srgbClr val="004479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s-ES" i="1">
                                      <a:solidFill>
                                        <a:srgbClr val="004479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s-ES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s-ES" i="1" smtClean="0">
                          <a:solidFill>
                            <a:srgbClr val="004479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s-ES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ES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</m:t>
                          </m:r>
                        </m:den>
                      </m:f>
                      <m:sSup>
                        <m:sSupPr>
                          <m:ctrlPr>
                            <a:rPr lang="es-ES" i="1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s-ES" i="1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i="1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s-ES" i="1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d>
                            <m:dPr>
                              <m:ctrlPr>
                                <a:rPr lang="es-ES" i="1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" i="1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s-ES" i="1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s-ES" i="1">
                                      <a:solidFill>
                                        <a:srgbClr val="004479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i="1">
                                      <a:solidFill>
                                        <a:srgbClr val="004479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s-ES" i="1">
                                      <a:solidFill>
                                        <a:srgbClr val="004479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s-ES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es-ES" i="1" smtClean="0">
                          <a:solidFill>
                            <a:srgbClr val="004479"/>
                          </a:solidFill>
                          <a:latin typeface="Cambria Math" panose="02040503050406030204" pitchFamily="18" charset="0"/>
                        </a:rPr>
                        <m:t>+…</m:t>
                      </m:r>
                    </m:oMath>
                  </m:oMathPara>
                </a14:m>
                <a:endParaRPr lang="es-ES" dirty="0">
                  <a:solidFill>
                    <a:srgbClr val="004479"/>
                  </a:solidFill>
                </a:endParaRPr>
              </a:p>
            </p:txBody>
          </p:sp>
        </mc:Choice>
        <mc:Fallback xmlns="">
          <p:sp>
            <p:nvSpPr>
              <p:cNvPr id="5" name="CuadroTexto 18">
                <a:extLst>
                  <a:ext uri="{FF2B5EF4-FFF2-40B4-BE49-F238E27FC236}">
                    <a16:creationId xmlns:a16="http://schemas.microsoft.com/office/drawing/2014/main" id="{95A630FF-6A0D-0306-18B7-32336A5CCA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8136" y="3246939"/>
                <a:ext cx="6967728" cy="61093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uadroTexto 19">
                <a:extLst>
                  <a:ext uri="{FF2B5EF4-FFF2-40B4-BE49-F238E27FC236}">
                    <a16:creationId xmlns:a16="http://schemas.microsoft.com/office/drawing/2014/main" id="{8CDF0984-987A-7927-F57E-F27440E748B3}"/>
                  </a:ext>
                </a:extLst>
              </p:cNvPr>
              <p:cNvSpPr txBox="1"/>
              <p:nvPr/>
            </p:nvSpPr>
            <p:spPr>
              <a:xfrm>
                <a:off x="201041" y="3616658"/>
                <a:ext cx="7845552" cy="21682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:endParaRPr lang="es-ES" sz="2800" dirty="0">
                  <a:solidFill>
                    <a:srgbClr val="004479"/>
                  </a:solidFill>
                  <a:latin typeface="Malacitana-Sans" pitchFamily="2" charset="77"/>
                </a:endParaRPr>
              </a:p>
              <a:p>
                <a:pPr lvl="2" algn="just"/>
                <a14:m>
                  <m:oMath xmlns:m="http://schemas.openxmlformats.org/officeDocument/2006/math">
                    <m:sSub>
                      <m:sSubPr>
                        <m:ctrlPr>
                          <a:rPr lang="es-ES" sz="2000" i="1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2000" b="0" i="1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s-ES" sz="2000" i="1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s-ES" sz="2000" i="1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s-ES" sz="2000" dirty="0">
                    <a:solidFill>
                      <a:srgbClr val="004479"/>
                    </a:solidFill>
                  </a:rPr>
                  <a:t>: constante de propagación</a:t>
                </a:r>
              </a:p>
              <a:p>
                <a:pPr lvl="1" algn="just"/>
                <a:r>
                  <a:rPr lang="es-ES" sz="2000" dirty="0">
                    <a:solidFill>
                      <a:srgbClr val="004479"/>
                    </a:solidFill>
                  </a:rPr>
                  <a:t>	</a:t>
                </a:r>
                <a:r>
                  <a:rPr lang="es-ES" sz="2000" dirty="0">
                    <a:solidFill>
                      <a:srgbClr val="004479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2000" i="1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2000" i="1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s-ES" sz="2000" i="1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s-ES" sz="2000" dirty="0">
                    <a:solidFill>
                      <a:srgbClr val="004479"/>
                    </a:solidFill>
                  </a:rPr>
                  <a:t>: retardo de la envolvente</a:t>
                </a:r>
              </a:p>
              <a:p>
                <a:pPr lvl="2" algn="just"/>
                <a14:m>
                  <m:oMath xmlns:m="http://schemas.openxmlformats.org/officeDocument/2006/math">
                    <m:sSub>
                      <m:sSubPr>
                        <m:ctrlPr>
                          <a:rPr lang="es-ES" sz="2000" i="1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2000" b="0" i="1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s-ES" sz="2000" i="1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s-ES" sz="2000" i="1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s-ES" sz="2000" dirty="0">
                    <a:solidFill>
                      <a:srgbClr val="004479"/>
                    </a:solidFill>
                  </a:rPr>
                  <a:t>: dispersión cromática (GVD)</a:t>
                </a:r>
              </a:p>
              <a:p>
                <a:pPr lvl="2" algn="just"/>
                <a:r>
                  <a:rPr lang="es-ES" sz="2000" dirty="0">
                    <a:solidFill>
                      <a:srgbClr val="004479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2000" i="1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2000" i="1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s-ES" sz="2000" b="0" i="1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s-ES" sz="2000" dirty="0">
                    <a:solidFill>
                      <a:srgbClr val="004479"/>
                    </a:solidFill>
                  </a:rPr>
                  <a:t>: dispersión de tercer orden (TOD)</a:t>
                </a:r>
              </a:p>
              <a:p>
                <a:pPr marL="742950" lvl="1" indent="-285750" algn="just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s-ES" sz="2000" dirty="0">
                  <a:solidFill>
                    <a:srgbClr val="004479"/>
                  </a:solidFill>
                  <a:latin typeface="Malacitana-Sans" pitchFamily="2" charset="77"/>
                </a:endParaRPr>
              </a:p>
            </p:txBody>
          </p:sp>
        </mc:Choice>
        <mc:Fallback xmlns="">
          <p:sp>
            <p:nvSpPr>
              <p:cNvPr id="7" name="CuadroTexto 19">
                <a:extLst>
                  <a:ext uri="{FF2B5EF4-FFF2-40B4-BE49-F238E27FC236}">
                    <a16:creationId xmlns:a16="http://schemas.microsoft.com/office/drawing/2014/main" id="{8CDF0984-987A-7927-F57E-F27440E748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1041" y="3616658"/>
                <a:ext cx="7845552" cy="216828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CuadroTexto 12">
            <a:extLst>
              <a:ext uri="{FF2B5EF4-FFF2-40B4-BE49-F238E27FC236}">
                <a16:creationId xmlns:a16="http://schemas.microsoft.com/office/drawing/2014/main" id="{3DD56034-F206-F1C8-FD10-8739897840D0}"/>
              </a:ext>
            </a:extLst>
          </p:cNvPr>
          <p:cNvSpPr txBox="1"/>
          <p:nvPr/>
        </p:nvSpPr>
        <p:spPr>
          <a:xfrm>
            <a:off x="327188" y="5885874"/>
            <a:ext cx="857794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" sz="1200" b="0" i="0" u="none" strike="noStrike" baseline="0" dirty="0">
                <a:solidFill>
                  <a:srgbClr val="00AAD6"/>
                </a:solidFill>
              </a:rPr>
              <a:t>[2] M. C. España Boquera, </a:t>
            </a:r>
            <a:r>
              <a:rPr lang="es-ES" sz="1200" b="0" i="1" u="none" strike="noStrike" baseline="0" dirty="0">
                <a:solidFill>
                  <a:srgbClr val="00AAD6"/>
                </a:solidFill>
              </a:rPr>
              <a:t>Comunicaciones Ópticas: Conceptos esenciales y resoluci</a:t>
            </a:r>
            <a:r>
              <a:rPr lang="es-ES" sz="1200" i="1" dirty="0">
                <a:solidFill>
                  <a:srgbClr val="00AAD6"/>
                </a:solidFill>
              </a:rPr>
              <a:t>ó</a:t>
            </a:r>
            <a:r>
              <a:rPr lang="es-ES" sz="1200" b="0" i="1" u="none" strike="noStrike" baseline="0" dirty="0">
                <a:solidFill>
                  <a:srgbClr val="00AAD6"/>
                </a:solidFill>
              </a:rPr>
              <a:t>n de ejercicios</a:t>
            </a:r>
            <a:r>
              <a:rPr lang="es-ES" sz="1200" b="0" i="0" u="none" strike="noStrike" baseline="0" dirty="0">
                <a:solidFill>
                  <a:srgbClr val="00AAD6"/>
                </a:solidFill>
              </a:rPr>
              <a:t>. Madrid: Ediciones Diaz de Santos, 2005.</a:t>
            </a:r>
            <a:endParaRPr lang="es-ES" sz="1200" dirty="0">
              <a:solidFill>
                <a:srgbClr val="00AAD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67974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AEDFB8-F7B7-B809-2683-277A0BB5A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E97ECE84-F744-83BC-5EA1-3D75348253BE}"/>
              </a:ext>
            </a:extLst>
          </p:cNvPr>
          <p:cNvSpPr txBox="1"/>
          <p:nvPr/>
        </p:nvSpPr>
        <p:spPr>
          <a:xfrm>
            <a:off x="327188" y="305396"/>
            <a:ext cx="675941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800" b="1" dirty="0">
                <a:solidFill>
                  <a:srgbClr val="004479"/>
                </a:solidFill>
              </a:rPr>
              <a:t>Fundamentos físicos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19322724-3F39-FC36-61CF-197D6818A0A2}"/>
              </a:ext>
            </a:extLst>
          </p:cNvPr>
          <p:cNvSpPr txBox="1"/>
          <p:nvPr/>
        </p:nvSpPr>
        <p:spPr>
          <a:xfrm>
            <a:off x="478548" y="729875"/>
            <a:ext cx="67594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dirty="0">
                <a:solidFill>
                  <a:srgbClr val="00AAD6"/>
                </a:solidFill>
              </a:rPr>
              <a:t>Turbulencia óptica</a:t>
            </a:r>
          </a:p>
        </p:txBody>
      </p: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2AE2D645-F726-3AF7-5730-E3175CCA64F8}"/>
              </a:ext>
            </a:extLst>
          </p:cNvPr>
          <p:cNvCxnSpPr>
            <a:cxnSpLocks/>
          </p:cNvCxnSpPr>
          <p:nvPr/>
        </p:nvCxnSpPr>
        <p:spPr>
          <a:xfrm>
            <a:off x="415773" y="1265941"/>
            <a:ext cx="3442481" cy="0"/>
          </a:xfrm>
          <a:prstGeom prst="line">
            <a:avLst/>
          </a:prstGeom>
          <a:ln>
            <a:solidFill>
              <a:srgbClr val="00AAD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750DB588-91D1-1A34-E8FA-85E7C0D8B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FE5F45-1FFF-D043-8DCE-2BE364C338E3}" type="slidenum">
              <a:rPr lang="es-ES" smtClean="0"/>
              <a:t>9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B8634E7-1A67-8459-EC37-A37228F683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>
                <a:solidFill>
                  <a:schemeClr val="bg1"/>
                </a:solidFill>
              </a:rPr>
              <a:t>Dispersión y turbulencia en pulsos ultracortos: escenarios atmosférico y oceánico</a:t>
            </a:r>
          </a:p>
          <a:p>
            <a:endParaRPr lang="es-ES" dirty="0"/>
          </a:p>
        </p:txBody>
      </p:sp>
      <p:sp>
        <p:nvSpPr>
          <p:cNvPr id="6" name="CuadroTexto 3">
            <a:extLst>
              <a:ext uri="{FF2B5EF4-FFF2-40B4-BE49-F238E27FC236}">
                <a16:creationId xmlns:a16="http://schemas.microsoft.com/office/drawing/2014/main" id="{CAEB62D2-4B2E-D166-21A3-20EE2CF7D46F}"/>
              </a:ext>
            </a:extLst>
          </p:cNvPr>
          <p:cNvSpPr txBox="1"/>
          <p:nvPr/>
        </p:nvSpPr>
        <p:spPr>
          <a:xfrm>
            <a:off x="187452" y="1537362"/>
            <a:ext cx="7927848" cy="8756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solidFill>
                  <a:srgbClr val="004479"/>
                </a:solidFill>
                <a:latin typeface="Malacitana-Sans" pitchFamily="2" charset="77"/>
              </a:rPr>
              <a:t>	</a:t>
            </a:r>
            <a:endParaRPr lang="es-ES" sz="2000" dirty="0">
              <a:solidFill>
                <a:srgbClr val="004479"/>
              </a:solidFill>
              <a:latin typeface="Malacitana-Sans" pitchFamily="2" charset="77"/>
            </a:endParaRPr>
          </a:p>
          <a:p>
            <a:pPr marL="742950" lvl="1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s-ES" sz="2000" dirty="0">
              <a:solidFill>
                <a:srgbClr val="004479"/>
              </a:solidFill>
              <a:latin typeface="Malacitana-Sans" pitchFamily="2" charset="7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uadroTexto 3">
                <a:extLst>
                  <a:ext uri="{FF2B5EF4-FFF2-40B4-BE49-F238E27FC236}">
                    <a16:creationId xmlns:a16="http://schemas.microsoft.com/office/drawing/2014/main" id="{413B5DE3-7A70-3FA5-1721-488667C93D01}"/>
                  </a:ext>
                </a:extLst>
              </p:cNvPr>
              <p:cNvSpPr txBox="1"/>
              <p:nvPr/>
            </p:nvSpPr>
            <p:spPr>
              <a:xfrm>
                <a:off x="568173" y="3968269"/>
                <a:ext cx="8162169" cy="17989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es-ES" sz="2400" b="1" dirty="0">
                    <a:solidFill>
                      <a:srgbClr val="004479"/>
                    </a:solidFill>
                  </a:rPr>
                  <a:t>Turbulencia oceánica</a:t>
                </a:r>
              </a:p>
              <a:p>
                <a:pPr marL="800100" lvl="1" indent="-342900" algn="just">
                  <a:lnSpc>
                    <a:spcPct val="150000"/>
                  </a:lnSpc>
                  <a:buFont typeface="Courier New" panose="02070309020205020404" pitchFamily="49" charset="0"/>
                  <a:buChar char="o"/>
                </a:pPr>
                <a:r>
                  <a:rPr lang="es-ES" sz="2000" dirty="0">
                    <a:solidFill>
                      <a:srgbClr val="004479"/>
                    </a:solidFill>
                  </a:rPr>
                  <a:t>Gradientes de temperatura, salinidad, presión y burbujas</a:t>
                </a:r>
              </a:p>
              <a:p>
                <a:pPr marL="800100" lvl="1" indent="-342900" algn="just">
                  <a:lnSpc>
                    <a:spcPct val="150000"/>
                  </a:lnSpc>
                  <a:buFont typeface="Courier New" panose="02070309020205020404" pitchFamily="49" charset="0"/>
                  <a:buChar char="o"/>
                </a:pPr>
                <a:r>
                  <a:rPr lang="es-ES" sz="2000" dirty="0">
                    <a:solidFill>
                      <a:srgbClr val="004479"/>
                    </a:solidFill>
                  </a:rPr>
                  <a:t>Modelos espectrales: OTOPS, Hill, Nikishov-Nikishov</a:t>
                </a:r>
              </a:p>
              <a:p>
                <a:pPr marL="800100" lvl="1" indent="-342900" algn="just">
                  <a:lnSpc>
                    <a:spcPct val="150000"/>
                  </a:lnSpc>
                  <a:buFont typeface="Courier New" panose="02070309020205020404" pitchFamily="49" charset="0"/>
                  <a:buChar char="o"/>
                </a:pPr>
                <a:r>
                  <a:rPr lang="es-ES" sz="2000" dirty="0">
                    <a:solidFill>
                      <a:srgbClr val="004479"/>
                    </a:solidFill>
                  </a:rPr>
                  <a:t>Factores dominantes: T, S,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000" b="0" i="1" smtClean="0">
                        <a:solidFill>
                          <a:srgbClr val="004479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ε</m:t>
                    </m:r>
                    <m:r>
                      <a:rPr lang="es-ES" sz="2000" b="0" i="1" smtClean="0">
                        <a:solidFill>
                          <a:srgbClr val="004479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a:rPr lang="el-GR" sz="2000" b="0" i="1" smtClean="0">
                        <a:solidFill>
                          <a:srgbClr val="004479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𝜒</m:t>
                    </m:r>
                  </m:oMath>
                </a14:m>
                <a:endParaRPr lang="es-ES" sz="2000" dirty="0">
                  <a:solidFill>
                    <a:srgbClr val="004479"/>
                  </a:solidFill>
                </a:endParaRPr>
              </a:p>
            </p:txBody>
          </p:sp>
        </mc:Choice>
        <mc:Fallback xmlns="">
          <p:sp>
            <p:nvSpPr>
              <p:cNvPr id="4" name="CuadroTexto 3">
                <a:extLst>
                  <a:ext uri="{FF2B5EF4-FFF2-40B4-BE49-F238E27FC236}">
                    <a16:creationId xmlns:a16="http://schemas.microsoft.com/office/drawing/2014/main" id="{413B5DE3-7A70-3FA5-1721-488667C93D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173" y="3968269"/>
                <a:ext cx="8162169" cy="1798954"/>
              </a:xfrm>
              <a:prstGeom prst="rect">
                <a:avLst/>
              </a:prstGeom>
              <a:blipFill>
                <a:blip r:embed="rId2"/>
                <a:stretch>
                  <a:fillRect l="-1120" t="-2712" b="-5424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uadroTexto 4">
                <a:extLst>
                  <a:ext uri="{FF2B5EF4-FFF2-40B4-BE49-F238E27FC236}">
                    <a16:creationId xmlns:a16="http://schemas.microsoft.com/office/drawing/2014/main" id="{F4B14A9C-1958-5920-D6FB-0947AADFD1BE}"/>
                  </a:ext>
                </a:extLst>
              </p:cNvPr>
              <p:cNvSpPr txBox="1"/>
              <p:nvPr/>
            </p:nvSpPr>
            <p:spPr>
              <a:xfrm>
                <a:off x="568172" y="1700685"/>
                <a:ext cx="8162169" cy="180164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es-ES" sz="2400" b="1" dirty="0">
                    <a:solidFill>
                      <a:srgbClr val="004479"/>
                    </a:solidFill>
                  </a:rPr>
                  <a:t>Turbulencia atmosférica</a:t>
                </a:r>
              </a:p>
              <a:p>
                <a:pPr marL="800100" lvl="1" indent="-342900" algn="just">
                  <a:lnSpc>
                    <a:spcPct val="150000"/>
                  </a:lnSpc>
                  <a:buFont typeface="Courier New" panose="02070309020205020404" pitchFamily="49" charset="0"/>
                  <a:buChar char="o"/>
                </a:pPr>
                <a:r>
                  <a:rPr lang="es-ES" sz="2000" dirty="0">
                    <a:solidFill>
                      <a:srgbClr val="004479"/>
                    </a:solidFill>
                  </a:rPr>
                  <a:t>Variaciones aleatorias de temperatura</a:t>
                </a:r>
              </a:p>
              <a:p>
                <a:pPr marL="800100" lvl="1" indent="-342900" algn="just">
                  <a:lnSpc>
                    <a:spcPct val="150000"/>
                  </a:lnSpc>
                  <a:buFont typeface="Courier New" panose="02070309020205020404" pitchFamily="49" charset="0"/>
                  <a:buChar char="o"/>
                </a:pPr>
                <a:r>
                  <a:rPr lang="es-ES" sz="2000" dirty="0">
                    <a:solidFill>
                      <a:srgbClr val="004479"/>
                    </a:solidFill>
                  </a:rPr>
                  <a:t>Modelos espectrales: Kolmogorov, von Kármán</a:t>
                </a:r>
              </a:p>
              <a:p>
                <a:pPr marL="800100" lvl="1" indent="-342900" algn="just">
                  <a:lnSpc>
                    <a:spcPct val="150000"/>
                  </a:lnSpc>
                  <a:buFont typeface="Courier New" panose="02070309020205020404" pitchFamily="49" charset="0"/>
                  <a:buChar char="o"/>
                </a:pPr>
                <a:r>
                  <a:rPr lang="es-ES" sz="2000" dirty="0">
                    <a:solidFill>
                      <a:srgbClr val="004479"/>
                    </a:solidFill>
                  </a:rPr>
                  <a:t>Parámetro de intensidad: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s-ES" sz="2000" i="1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s-ES" sz="2000" i="1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s-ES" sz="2000" b="0" i="1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  <m:sup>
                        <m:r>
                          <a:rPr lang="es-ES" sz="2000" b="0" i="1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s-ES" sz="2000" dirty="0">
                  <a:solidFill>
                    <a:srgbClr val="004479"/>
                  </a:solidFill>
                </a:endParaRPr>
              </a:p>
            </p:txBody>
          </p:sp>
        </mc:Choice>
        <mc:Fallback xmlns="">
          <p:sp>
            <p:nvSpPr>
              <p:cNvPr id="5" name="CuadroTexto 4">
                <a:extLst>
                  <a:ext uri="{FF2B5EF4-FFF2-40B4-BE49-F238E27FC236}">
                    <a16:creationId xmlns:a16="http://schemas.microsoft.com/office/drawing/2014/main" id="{F4B14A9C-1958-5920-D6FB-0947AADFD1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172" y="1700685"/>
                <a:ext cx="8162169" cy="1801647"/>
              </a:xfrm>
              <a:prstGeom prst="rect">
                <a:avLst/>
              </a:prstGeom>
              <a:blipFill>
                <a:blip r:embed="rId3"/>
                <a:stretch>
                  <a:fillRect l="-1120" t="-2703" b="-6419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380917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14112A-3FE8-A0F9-74EE-D5173D5C6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8F72B4DE-AD77-C2C6-569B-D4A8CDC07F8D}"/>
              </a:ext>
            </a:extLst>
          </p:cNvPr>
          <p:cNvSpPr txBox="1"/>
          <p:nvPr/>
        </p:nvSpPr>
        <p:spPr>
          <a:xfrm>
            <a:off x="327188" y="305396"/>
            <a:ext cx="675941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800" b="1" dirty="0">
                <a:solidFill>
                  <a:srgbClr val="004479"/>
                </a:solidFill>
              </a:rPr>
              <a:t>Modelos teóricos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0ABA927D-CE2F-5890-4800-0AA558366CFB}"/>
              </a:ext>
            </a:extLst>
          </p:cNvPr>
          <p:cNvSpPr txBox="1"/>
          <p:nvPr/>
        </p:nvSpPr>
        <p:spPr>
          <a:xfrm>
            <a:off x="478548" y="729875"/>
            <a:ext cx="67594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dirty="0">
                <a:solidFill>
                  <a:srgbClr val="00AAD6"/>
                </a:solidFill>
              </a:rPr>
              <a:t>Medio atmosférico</a:t>
            </a:r>
          </a:p>
        </p:txBody>
      </p: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6A677BF3-571B-58C7-B8A6-95339D03F679}"/>
              </a:ext>
            </a:extLst>
          </p:cNvPr>
          <p:cNvCxnSpPr>
            <a:cxnSpLocks/>
          </p:cNvCxnSpPr>
          <p:nvPr/>
        </p:nvCxnSpPr>
        <p:spPr>
          <a:xfrm>
            <a:off x="415773" y="1265941"/>
            <a:ext cx="3442481" cy="0"/>
          </a:xfrm>
          <a:prstGeom prst="line">
            <a:avLst/>
          </a:prstGeom>
          <a:ln>
            <a:solidFill>
              <a:srgbClr val="00AAD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9AD665FF-22E9-754B-973A-B57E8C637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FE5F45-1FFF-D043-8DCE-2BE364C338E3}" type="slidenum">
              <a:rPr lang="es-ES" smtClean="0"/>
              <a:t>10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06B43DD6-ABFE-D955-AAA5-19C5661B2D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>
                <a:solidFill>
                  <a:schemeClr val="bg1"/>
                </a:solidFill>
              </a:rPr>
              <a:t>Dispersión y turbulencia en pulsos ultracortos: escenarios atmosférico y oceánico</a:t>
            </a:r>
          </a:p>
          <a:p>
            <a:endParaRPr lang="es-E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uadroTexto 3">
                <a:extLst>
                  <a:ext uri="{FF2B5EF4-FFF2-40B4-BE49-F238E27FC236}">
                    <a16:creationId xmlns:a16="http://schemas.microsoft.com/office/drawing/2014/main" id="{8BA3E25C-9077-B5D5-C782-C8912B6D9078}"/>
                  </a:ext>
                </a:extLst>
              </p:cNvPr>
              <p:cNvSpPr txBox="1"/>
              <p:nvPr/>
            </p:nvSpPr>
            <p:spPr>
              <a:xfrm>
                <a:off x="1457895" y="1177172"/>
                <a:ext cx="6608339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lnSpc>
                    <a:spcPct val="150000"/>
                  </a:lnSpc>
                </a:pPr>
                <a:endParaRPr lang="es-ES" sz="2000" dirty="0">
                  <a:solidFill>
                    <a:srgbClr val="004479"/>
                  </a:solidFill>
                </a:endParaRPr>
              </a:p>
              <a:p>
                <a:pPr lvl="1" algn="just"/>
                <a:r>
                  <a:rPr lang="es-ES" sz="1400" b="1" dirty="0">
                    <a:solidFill>
                      <a:srgbClr val="004479"/>
                    </a:solidFill>
                    <a:ea typeface="Cambria Math" panose="02040503050406030204" pitchFamily="18" charset="0"/>
                  </a:rPr>
                  <a:t>1.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s-ES" sz="1400" i="1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es-ES" sz="1400" b="1" dirty="0">
                            <a:solidFill>
                              <a:srgbClr val="004479"/>
                            </a:solidFill>
                          </a:rPr>
                          <m:t>Ecuaci</m:t>
                        </m:r>
                        <m:r>
                          <m:rPr>
                            <m:nor/>
                          </m:rPr>
                          <a:rPr lang="es-ES" sz="1400" b="1" dirty="0">
                            <a:solidFill>
                              <a:srgbClr val="004479"/>
                            </a:solidFill>
                          </a:rPr>
                          <m:t>ó</m:t>
                        </m:r>
                        <m:r>
                          <m:rPr>
                            <m:nor/>
                          </m:rPr>
                          <a:rPr lang="es-ES" sz="1400" b="1" dirty="0">
                            <a:solidFill>
                              <a:srgbClr val="004479"/>
                            </a:solidFill>
                          </a:rPr>
                          <m:t>n</m:t>
                        </m:r>
                        <m:r>
                          <m:rPr>
                            <m:nor/>
                          </m:rPr>
                          <a:rPr lang="es-ES" sz="1400" b="1" dirty="0">
                            <a:solidFill>
                              <a:srgbClr val="004479"/>
                            </a:solidFill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s-ES" sz="1400" b="1" dirty="0">
                            <a:solidFill>
                              <a:srgbClr val="004479"/>
                            </a:solidFill>
                          </a:rPr>
                          <m:t>de</m:t>
                        </m:r>
                        <m:r>
                          <m:rPr>
                            <m:nor/>
                          </m:rPr>
                          <a:rPr lang="es-ES" sz="1400" b="1" dirty="0">
                            <a:solidFill>
                              <a:srgbClr val="004479"/>
                            </a:solidFill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s-ES" sz="1400" b="1" dirty="0">
                            <a:solidFill>
                              <a:srgbClr val="004479"/>
                            </a:solidFill>
                          </a:rPr>
                          <m:t>Helmholtz</m:t>
                        </m:r>
                        <m:r>
                          <m:rPr>
                            <m:nor/>
                          </m:rPr>
                          <a:rPr lang="es-ES" sz="1400" b="1" dirty="0">
                            <a:solidFill>
                              <a:srgbClr val="004479"/>
                            </a:solidFill>
                          </a:rPr>
                          <m:t>:</m:t>
                        </m:r>
                        <m:r>
                          <a:rPr lang="es-ES" sz="1400" b="0" i="1" dirty="0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s-ES" sz="1400" i="1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p>
                        <m:r>
                          <a:rPr lang="es-ES" sz="1400" b="0" i="1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s-ES" sz="1400" b="0" i="1" smtClean="0">
                        <a:solidFill>
                          <a:srgbClr val="004479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</m:t>
                    </m:r>
                    <m:r>
                      <a:rPr lang="es-ES" sz="1400" b="0" i="1" smtClean="0">
                        <a:solidFill>
                          <a:srgbClr val="004479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s-ES" sz="1400" b="0" i="1" smtClean="0">
                        <a:solidFill>
                          <a:srgbClr val="004479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z</m:t>
                    </m:r>
                    <m:r>
                      <a:rPr lang="es-ES" sz="1400" b="0" i="1" smtClean="0">
                        <a:solidFill>
                          <a:srgbClr val="004479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s-ES" sz="1400" b="0" i="1" smtClean="0">
                        <a:solidFill>
                          <a:srgbClr val="004479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  <m:r>
                      <a:rPr lang="es-ES" sz="1400" b="0" i="1" smtClean="0">
                        <a:solidFill>
                          <a:srgbClr val="004479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 + </m:t>
                    </m:r>
                    <m:r>
                      <a:rPr lang="es-ES" sz="1400" b="0" i="1" smtClean="0">
                        <a:solidFill>
                          <a:srgbClr val="004479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sSup>
                      <m:sSupPr>
                        <m:ctrlPr>
                          <a:rPr lang="es-ES" sz="1400" b="0" i="1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s-ES" sz="1400" i="1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s-ES" sz="1400" i="1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es-ES" sz="1400" i="1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s-ES" sz="1400" b="0" i="1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s-ES" sz="1400" i="1">
                        <a:solidFill>
                          <a:srgbClr val="004479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</m:t>
                    </m:r>
                    <m:r>
                      <a:rPr lang="es-ES" sz="1400" i="1">
                        <a:solidFill>
                          <a:srgbClr val="004479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s-ES" sz="1400" i="1">
                        <a:solidFill>
                          <a:srgbClr val="004479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z</m:t>
                    </m:r>
                    <m:r>
                      <a:rPr lang="es-ES" sz="1400" i="1">
                        <a:solidFill>
                          <a:srgbClr val="004479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s-ES" sz="1400" i="1">
                        <a:solidFill>
                          <a:srgbClr val="004479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  <m:r>
                      <a:rPr lang="es-ES" sz="1400" i="1">
                        <a:solidFill>
                          <a:srgbClr val="004479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 = 0</m:t>
                    </m:r>
                  </m:oMath>
                </a14:m>
                <a:endParaRPr lang="es-ES" sz="1400" i="1" dirty="0">
                  <a:solidFill>
                    <a:srgbClr val="004479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CuadroTexto 3">
                <a:extLst>
                  <a:ext uri="{FF2B5EF4-FFF2-40B4-BE49-F238E27FC236}">
                    <a16:creationId xmlns:a16="http://schemas.microsoft.com/office/drawing/2014/main" id="{8BA3E25C-9077-B5D5-C782-C8912B6D90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57895" y="1177172"/>
                <a:ext cx="6608339" cy="769441"/>
              </a:xfrm>
              <a:prstGeom prst="rect">
                <a:avLst/>
              </a:prstGeom>
              <a:blipFill>
                <a:blip r:embed="rId2"/>
                <a:stretch>
                  <a:fillRect b="-8730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uadroTexto 18">
                <a:extLst>
                  <a:ext uri="{FF2B5EF4-FFF2-40B4-BE49-F238E27FC236}">
                    <a16:creationId xmlns:a16="http://schemas.microsoft.com/office/drawing/2014/main" id="{AAC3B30A-BE2F-B8F7-B6F1-4A4C166FB87D}"/>
                  </a:ext>
                </a:extLst>
              </p:cNvPr>
              <p:cNvSpPr txBox="1"/>
              <p:nvPr/>
            </p:nvSpPr>
            <p:spPr>
              <a:xfrm>
                <a:off x="1" y="4048979"/>
                <a:ext cx="6669855" cy="49705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sz="1400" b="1" i="1" smtClean="0">
                          <a:solidFill>
                            <a:srgbClr val="004479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𝟑</m:t>
                      </m:r>
                      <m:r>
                        <a:rPr lang="es-ES" sz="1400" b="1" i="1" smtClean="0">
                          <a:solidFill>
                            <a:srgbClr val="004479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r>
                        <a:rPr lang="es-ES" sz="1400" b="0" i="1" smtClean="0">
                          <a:solidFill>
                            <a:srgbClr val="004479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r>
                        <a:rPr lang="es-ES" sz="1400" b="0" i="1" smtClean="0">
                          <a:solidFill>
                            <a:srgbClr val="004479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𝛽</m:t>
                      </m:r>
                      <m:d>
                        <m:dPr>
                          <m:ctrlPr>
                            <a:rPr lang="es-ES" sz="140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400" b="0" i="1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es-ES" sz="1400" b="0" i="1" smtClean="0">
                          <a:solidFill>
                            <a:srgbClr val="004479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sz="140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400" b="0" i="1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s-ES" sz="1400" b="0" i="1" smtClean="0">
                          <a:solidFill>
                            <a:srgbClr val="004479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sz="140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400" b="0" i="1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s-ES" sz="140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400" b="0" i="1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  <m: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s-ES" sz="1400" i="1" smtClean="0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400" b="0" i="1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s-ES" sz="1400" b="0" i="1" smtClean="0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s-ES" sz="1400" b="0" i="1" smtClean="0">
                          <a:solidFill>
                            <a:srgbClr val="004479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s-ES" sz="140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>
                        <m:sSubPr>
                          <m:ctrlPr>
                            <a:rPr lang="es-ES" sz="1400" i="1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400" b="0" i="1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s-ES" sz="1400" b="0" i="1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p>
                        <m:sSupPr>
                          <m:ctrlPr>
                            <a:rPr lang="es-ES" sz="140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s-ES" sz="1400" i="1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" sz="1400" b="0" i="1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s-ES" sz="1400" b="0" i="1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s-ES" sz="1400" i="1">
                                      <a:solidFill>
                                        <a:srgbClr val="004479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sz="1400" b="0" i="1">
                                      <a:solidFill>
                                        <a:srgbClr val="004479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s-ES" sz="1400" b="0" i="1">
                                      <a:solidFill>
                                        <a:srgbClr val="004479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s-ES" sz="1400" b="0" i="1" smtClean="0">
                          <a:solidFill>
                            <a:srgbClr val="004479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s-ES" sz="140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</m:t>
                          </m:r>
                        </m:den>
                      </m:f>
                      <m:sSup>
                        <m:sSupPr>
                          <m:ctrlPr>
                            <a:rPr lang="es-ES" sz="1400" i="1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s-ES" sz="1400" i="1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400" b="0" i="1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s-ES" sz="1400" b="0" i="1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d>
                            <m:dPr>
                              <m:ctrlPr>
                                <a:rPr lang="es-ES" sz="1400" i="1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" sz="1400" b="0" i="1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s-ES" sz="1400" b="0" i="1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s-ES" sz="1400" i="1">
                                      <a:solidFill>
                                        <a:srgbClr val="004479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sz="1400" b="0" i="1">
                                      <a:solidFill>
                                        <a:srgbClr val="004479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s-ES" sz="1400" b="0" i="1">
                                      <a:solidFill>
                                        <a:srgbClr val="004479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es-ES" sz="1400" b="0" i="1" smtClean="0">
                          <a:solidFill>
                            <a:srgbClr val="004479"/>
                          </a:solidFill>
                          <a:latin typeface="Cambria Math" panose="02040503050406030204" pitchFamily="18" charset="0"/>
                        </a:rPr>
                        <m:t>+…</m:t>
                      </m:r>
                    </m:oMath>
                  </m:oMathPara>
                </a14:m>
                <a:endParaRPr lang="es-ES" sz="1400" dirty="0">
                  <a:solidFill>
                    <a:srgbClr val="004479"/>
                  </a:solidFill>
                </a:endParaRPr>
              </a:p>
            </p:txBody>
          </p:sp>
        </mc:Choice>
        <mc:Fallback xmlns="">
          <p:sp>
            <p:nvSpPr>
              <p:cNvPr id="10" name="CuadroTexto 18">
                <a:extLst>
                  <a:ext uri="{FF2B5EF4-FFF2-40B4-BE49-F238E27FC236}">
                    <a16:creationId xmlns:a16="http://schemas.microsoft.com/office/drawing/2014/main" id="{AAC3B30A-BE2F-B8F7-B6F1-4A4C166FB8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" y="4048979"/>
                <a:ext cx="6669855" cy="497059"/>
              </a:xfrm>
              <a:prstGeom prst="rect">
                <a:avLst/>
              </a:prstGeom>
              <a:blipFill>
                <a:blip r:embed="rId3"/>
                <a:stretch>
                  <a:fillRect b="-1220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CuadroTexto 11">
                <a:extLst>
                  <a:ext uri="{FF2B5EF4-FFF2-40B4-BE49-F238E27FC236}">
                    <a16:creationId xmlns:a16="http://schemas.microsoft.com/office/drawing/2014/main" id="{3206B142-29A7-78A6-EF72-D0880AC0091B}"/>
                  </a:ext>
                </a:extLst>
              </p:cNvPr>
              <p:cNvSpPr txBox="1"/>
              <p:nvPr/>
            </p:nvSpPr>
            <p:spPr>
              <a:xfrm>
                <a:off x="910100" y="2744503"/>
                <a:ext cx="2827487" cy="37035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s-ES" sz="1400" b="1" dirty="0">
                    <a:solidFill>
                      <a:srgbClr val="004479"/>
                    </a:solidFill>
                    <a:ea typeface="Cambria Math" panose="02040503050406030204" pitchFamily="18" charset="0"/>
                  </a:rPr>
                  <a:t>2.   </a:t>
                </a:r>
                <a14:m>
                  <m:oMath xmlns:m="http://schemas.openxmlformats.org/officeDocument/2006/math">
                    <m:r>
                      <a:rPr lang="es-ES" sz="1400" i="1" smtClean="0">
                        <a:solidFill>
                          <a:srgbClr val="004479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s-ES" sz="1400" i="1" smtClean="0">
                        <a:solidFill>
                          <a:srgbClr val="004479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s-ES" sz="1400" i="1" smtClean="0">
                        <a:solidFill>
                          <a:srgbClr val="004479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  <m:r>
                      <a:rPr lang="es-ES" sz="1400" i="1">
                        <a:solidFill>
                          <a:srgbClr val="004479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a:rPr lang="es-ES" sz="1400" i="0">
                        <a:solidFill>
                          <a:srgbClr val="004479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  <m:r>
                      <a:rPr lang="es-ES" sz="1400" b="0" i="0" smtClean="0">
                        <a:solidFill>
                          <a:srgbClr val="004479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+ </m:t>
                    </m:r>
                    <m:f>
                      <m:fPr>
                        <m:ctrlPr>
                          <a:rPr lang="es-ES" sz="1400" b="0" i="1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es-ES" sz="1400" i="1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aP</m:t>
                        </m:r>
                        <m:r>
                          <a:rPr lang="es-ES" sz="1400" b="0" i="1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s-ES" sz="1400" i="1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s-ES" sz="1400" i="1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h</m:t>
                        </m:r>
                        <m:r>
                          <a:rPr lang="es-ES" sz="1400" b="0" i="1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s-ES" sz="1400" b="0" i="1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  <m:r>
                          <a:rPr lang="es-ES" sz="1400" b="0" i="1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s-ES" sz="1400" b="0" i="1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h</m:t>
                        </m:r>
                        <m:r>
                          <a:rPr lang="es-ES" sz="1400" b="0" i="1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es-ES" sz="1400" b="0" i="1" smtClean="0">
                        <a:solidFill>
                          <a:srgbClr val="004479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d>
                      <m:dPr>
                        <m:ctrlPr>
                          <a:rPr lang="es-ES" sz="1400" b="0" i="1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" sz="1400" b="0" i="0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1 </m:t>
                        </m:r>
                        <m:r>
                          <a:rPr lang="es-ES" sz="1400" b="0" i="1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 </m:t>
                        </m:r>
                        <m:f>
                          <m:fPr>
                            <m:ctrlPr>
                              <a:rPr lang="es-ES" sz="1400" b="0" i="1" smtClean="0">
                                <a:solidFill>
                                  <a:srgbClr val="004479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s-ES" sz="1400" b="0" i="1" smtClean="0">
                                <a:solidFill>
                                  <a:srgbClr val="004479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  <m:sSup>
                              <m:sSupPr>
                                <m:ctrlPr>
                                  <a:rPr lang="es-ES" sz="1400" b="0" i="1" smtClean="0">
                                    <a:solidFill>
                                      <a:srgbClr val="004479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s-ES" sz="1400" b="0" i="1" smtClean="0">
                                    <a:solidFill>
                                      <a:srgbClr val="004479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p>
                                <m:r>
                                  <a:rPr lang="es-ES" sz="1400" b="0" i="1" smtClean="0">
                                    <a:solidFill>
                                      <a:srgbClr val="004479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a:rPr lang="es-ES" sz="1400" b="0" i="1" smtClean="0">
                                <a:solidFill>
                                  <a:srgbClr val="004479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4</m:t>
                            </m:r>
                            <m:sSup>
                              <m:sSupPr>
                                <m:ctrlPr>
                                  <a:rPr lang="es-ES" sz="1400" b="0" i="1" smtClean="0">
                                    <a:solidFill>
                                      <a:srgbClr val="004479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s-ES" sz="1400" b="0" i="1" smtClean="0">
                                    <a:solidFill>
                                      <a:srgbClr val="004479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p>
                                <m:r>
                                  <a:rPr lang="es-ES" sz="1400" b="0" i="1" smtClean="0">
                                    <a:solidFill>
                                      <a:srgbClr val="004479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sSup>
                              <m:sSupPr>
                                <m:ctrlPr>
                                  <a:rPr lang="es-ES" sz="1400" b="0" i="1" smtClean="0">
                                    <a:solidFill>
                                      <a:srgbClr val="004479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s-ES" sz="1400" b="0" i="1" smtClean="0">
                                    <a:solidFill>
                                      <a:srgbClr val="004479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sup>
                                <m:r>
                                  <a:rPr lang="es-ES" sz="1400" b="0" i="1" smtClean="0">
                                    <a:solidFill>
                                      <a:srgbClr val="004479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</m:e>
                    </m:d>
                  </m:oMath>
                </a14:m>
                <a:endParaRPr lang="es-ES" sz="1400" dirty="0">
                  <a:solidFill>
                    <a:srgbClr val="004479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2" name="CuadroTexto 11">
                <a:extLst>
                  <a:ext uri="{FF2B5EF4-FFF2-40B4-BE49-F238E27FC236}">
                    <a16:creationId xmlns:a16="http://schemas.microsoft.com/office/drawing/2014/main" id="{3206B142-29A7-78A6-EF72-D0880AC009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0100" y="2744503"/>
                <a:ext cx="2827487" cy="370358"/>
              </a:xfrm>
              <a:prstGeom prst="rect">
                <a:avLst/>
              </a:prstGeom>
              <a:blipFill>
                <a:blip r:embed="rId4"/>
                <a:stretch>
                  <a:fillRect l="-3879" b="-180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CuadroTexto 13">
            <a:extLst>
              <a:ext uri="{FF2B5EF4-FFF2-40B4-BE49-F238E27FC236}">
                <a16:creationId xmlns:a16="http://schemas.microsoft.com/office/drawing/2014/main" id="{0486D667-3025-6ED0-F0FB-50F49AEEB239}"/>
              </a:ext>
            </a:extLst>
          </p:cNvPr>
          <p:cNvSpPr txBox="1"/>
          <p:nvPr/>
        </p:nvSpPr>
        <p:spPr>
          <a:xfrm>
            <a:off x="290612" y="5410004"/>
            <a:ext cx="8816812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200" dirty="0">
                <a:solidFill>
                  <a:srgbClr val="00AAD6"/>
                </a:solidFill>
              </a:rPr>
              <a:t>[2] M. C. España Boquera, </a:t>
            </a:r>
            <a:r>
              <a:rPr lang="es-ES" sz="1200" i="1" dirty="0">
                <a:solidFill>
                  <a:srgbClr val="00AAD6"/>
                </a:solidFill>
              </a:rPr>
              <a:t>Comunicaciones Ópticas: Conceptos esenciales y resolución de ejercicios</a:t>
            </a:r>
            <a:r>
              <a:rPr lang="es-ES" sz="1200" dirty="0">
                <a:solidFill>
                  <a:srgbClr val="00AAD6"/>
                </a:solidFill>
              </a:rPr>
              <a:t>. Madrid: Ediciones Diaz de Santos, 2005.</a:t>
            </a:r>
            <a:endParaRPr lang="en-US" sz="1200" b="0" i="0" u="none" strike="noStrike" baseline="0" dirty="0">
              <a:solidFill>
                <a:srgbClr val="00AAD6"/>
              </a:solidFill>
            </a:endParaRPr>
          </a:p>
          <a:p>
            <a:pPr algn="l"/>
            <a:r>
              <a:rPr lang="en-US" sz="1200" b="0" i="0" u="none" strike="noStrike" baseline="0" dirty="0">
                <a:solidFill>
                  <a:srgbClr val="00AAD6"/>
                </a:solidFill>
              </a:rPr>
              <a:t>[</a:t>
            </a:r>
            <a:r>
              <a:rPr lang="en-US" sz="1200" dirty="0">
                <a:solidFill>
                  <a:srgbClr val="00AAD6"/>
                </a:solidFill>
              </a:rPr>
              <a:t>3</a:t>
            </a:r>
            <a:r>
              <a:rPr lang="en-US" sz="1200" b="0" i="0" u="none" strike="noStrike" baseline="0" dirty="0">
                <a:solidFill>
                  <a:srgbClr val="00AAD6"/>
                </a:solidFill>
              </a:rPr>
              <a:t>] J. C. Owens, “Optical refractive index of air: Dependence on pressure, temperature and composition”, Applied Optics, Vol.6, </a:t>
            </a:r>
            <a:r>
              <a:rPr lang="en-US" sz="1200" dirty="0">
                <a:solidFill>
                  <a:srgbClr val="00AAD6"/>
                </a:solidFill>
              </a:rPr>
              <a:t>N</a:t>
            </a:r>
            <a:r>
              <a:rPr lang="es-ES" sz="1200" dirty="0">
                <a:solidFill>
                  <a:srgbClr val="00AAD6"/>
                </a:solidFill>
              </a:rPr>
              <a:t>º</a:t>
            </a:r>
            <a:r>
              <a:rPr lang="en-US" sz="1200" b="0" i="0" u="none" strike="noStrike" baseline="0" dirty="0">
                <a:solidFill>
                  <a:srgbClr val="00AAD6"/>
                </a:solidFill>
              </a:rPr>
              <a:t> 1, Enero, 1967, pp. 51-</a:t>
            </a:r>
            <a:r>
              <a:rPr lang="es-ES" sz="1200" b="0" i="0" u="none" strike="noStrike" baseline="0" dirty="0">
                <a:solidFill>
                  <a:srgbClr val="00AAD6"/>
                </a:solidFill>
              </a:rPr>
              <a:t>59.</a:t>
            </a:r>
          </a:p>
          <a:p>
            <a:pPr algn="l"/>
            <a:r>
              <a:rPr lang="en-US" sz="1200" b="0" i="0" u="none" strike="noStrike" baseline="0" dirty="0">
                <a:solidFill>
                  <a:srgbClr val="00AAD6"/>
                </a:solidFill>
              </a:rPr>
              <a:t>[</a:t>
            </a:r>
            <a:r>
              <a:rPr lang="en-US" sz="1200" dirty="0">
                <a:solidFill>
                  <a:srgbClr val="00AAD6"/>
                </a:solidFill>
              </a:rPr>
              <a:t>4</a:t>
            </a:r>
            <a:r>
              <a:rPr lang="en-US" sz="1200" b="0" i="0" u="none" strike="noStrike" baseline="0" dirty="0">
                <a:solidFill>
                  <a:srgbClr val="00AAD6"/>
                </a:solidFill>
              </a:rPr>
              <a:t>] L. C. Andrews, “Aperture-averaging factor for optical scintillations of plane and spherical waves in the atmosphere”, Journal of the Optical Society of </a:t>
            </a:r>
            <a:r>
              <a:rPr lang="es-ES" sz="1200" b="0" i="0" u="none" strike="noStrike" baseline="0" dirty="0">
                <a:solidFill>
                  <a:srgbClr val="00AAD6"/>
                </a:solidFill>
              </a:rPr>
              <a:t>America A, Vol.9, </a:t>
            </a:r>
            <a:r>
              <a:rPr lang="es-ES" sz="1200" b="0" i="0" u="none" strike="noStrike" baseline="0" dirty="0" err="1">
                <a:solidFill>
                  <a:srgbClr val="00AAD6"/>
                </a:solidFill>
              </a:rPr>
              <a:t>Nº</a:t>
            </a:r>
            <a:r>
              <a:rPr lang="es-ES" sz="1200" b="0" i="0" u="none" strike="noStrike" baseline="0" dirty="0">
                <a:solidFill>
                  <a:srgbClr val="00AAD6"/>
                </a:solidFill>
              </a:rPr>
              <a:t> 4, Abril, 1992, pp. 597-600.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uadroTexto 17">
                <a:extLst>
                  <a:ext uri="{FF2B5EF4-FFF2-40B4-BE49-F238E27FC236}">
                    <a16:creationId xmlns:a16="http://schemas.microsoft.com/office/drawing/2014/main" id="{F637A2D1-B1CC-1A67-EAFB-3551FB0AF556}"/>
                  </a:ext>
                </a:extLst>
              </p:cNvPr>
              <p:cNvSpPr txBox="1"/>
              <p:nvPr/>
            </p:nvSpPr>
            <p:spPr>
              <a:xfrm>
                <a:off x="3052233" y="1958856"/>
                <a:ext cx="3039534" cy="3284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40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40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  <m: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  <m:r>
                        <a:rPr lang="es-ES" sz="1400" b="0" i="1" smtClean="0">
                          <a:solidFill>
                            <a:srgbClr val="004479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400" i="1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sz="1400" i="1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s-ES" sz="1400" i="1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  <m: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  <m:r>
                        <a:rPr lang="es-ES" sz="1400" b="0" i="1" smtClean="0">
                          <a:solidFill>
                            <a:srgbClr val="004479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𝜔</m:t>
                      </m:r>
                      <m:r>
                        <a:rPr lang="es-ES" sz="1400" b="0" i="1" smtClean="0">
                          <a:solidFill>
                            <a:srgbClr val="004479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/</m:t>
                      </m:r>
                      <m:r>
                        <m:rPr>
                          <m:nor/>
                        </m:rPr>
                        <a:rPr lang="es-ES" sz="1400" i="1">
                          <a:solidFill>
                            <a:srgbClr val="004479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c</m:t>
                      </m:r>
                    </m:oMath>
                  </m:oMathPara>
                </a14:m>
                <a:endParaRPr lang="es-ES" dirty="0"/>
              </a:p>
            </p:txBody>
          </p:sp>
        </mc:Choice>
        <mc:Fallback xmlns="">
          <p:sp>
            <p:nvSpPr>
              <p:cNvPr id="18" name="CuadroTexto 17">
                <a:extLst>
                  <a:ext uri="{FF2B5EF4-FFF2-40B4-BE49-F238E27FC236}">
                    <a16:creationId xmlns:a16="http://schemas.microsoft.com/office/drawing/2014/main" id="{F637A2D1-B1CC-1A67-EAFB-3551FB0AF5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2233" y="1958856"/>
                <a:ext cx="3039534" cy="328488"/>
              </a:xfrm>
              <a:prstGeom prst="rect">
                <a:avLst/>
              </a:prstGeom>
              <a:blipFill>
                <a:blip r:embed="rId5"/>
                <a:stretch>
                  <a:fillRect b="-5556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uadroTexto 18">
                <a:extLst>
                  <a:ext uri="{FF2B5EF4-FFF2-40B4-BE49-F238E27FC236}">
                    <a16:creationId xmlns:a16="http://schemas.microsoft.com/office/drawing/2014/main" id="{57C93728-4E89-52B0-CF38-56FEC019A5F9}"/>
                  </a:ext>
                </a:extLst>
              </p:cNvPr>
              <p:cNvSpPr txBox="1"/>
              <p:nvPr/>
            </p:nvSpPr>
            <p:spPr>
              <a:xfrm>
                <a:off x="4443476" y="2813304"/>
                <a:ext cx="4183902" cy="21961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sz="1400" i="1">
                          <a:solidFill>
                            <a:srgbClr val="004479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lang="es-ES" sz="1400" i="1">
                          <a:solidFill>
                            <a:srgbClr val="004479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s-ES" sz="1400" i="1">
                          <a:solidFill>
                            <a:srgbClr val="004479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𝜔</m:t>
                      </m:r>
                      <m:r>
                        <a:rPr lang="es-ES" sz="1400" i="1">
                          <a:solidFill>
                            <a:srgbClr val="004479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a:rPr lang="es-ES" sz="1400">
                          <a:solidFill>
                            <a:srgbClr val="004479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s-ES" sz="1400" b="0" i="0" smtClean="0">
                          <a:solidFill>
                            <a:srgbClr val="004479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sz="1400" b="0" i="1" smtClean="0">
                          <a:solidFill>
                            <a:srgbClr val="004479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Sup>
                        <m:sSubSupPr>
                          <m:ctrlP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s-ES" sz="1400" b="0" i="1" smtClean="0">
                          <a:solidFill>
                            <a:srgbClr val="004479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+2</m:t>
                      </m:r>
                      <m:sSub>
                        <m:sSubPr>
                          <m:ctrlP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s-ES" sz="1400" b="0" i="1" smtClean="0">
                          <a:solidFill>
                            <a:srgbClr val="004479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s-ES" sz="1400" b="0" i="1" smtClean="0">
                          <a:solidFill>
                            <a:srgbClr val="004479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𝜔</m:t>
                      </m:r>
                      <m:r>
                        <a:rPr lang="es-ES" sz="1400" i="1">
                          <a:solidFill>
                            <a:srgbClr val="004479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s-ES" sz="1400" i="1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400" i="1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s-ES" sz="1400" i="1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s-ES" sz="1400" b="0" i="1" smtClean="0">
                          <a:solidFill>
                            <a:srgbClr val="004479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 +</m:t>
                      </m:r>
                      <m:sSub>
                        <m:sSubPr>
                          <m:ctrlPr>
                            <a:rPr lang="es-ES" sz="1400" i="1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400" i="1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s-ES" sz="1400" i="1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p>
                        <m:sSupPr>
                          <m:ctrlPr>
                            <a:rPr lang="es-ES" sz="140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s-ES" sz="1400" i="1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s-ES" sz="1400" i="1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  <m:r>
                            <a:rPr lang="es-ES" sz="1400" i="1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s-ES" sz="1400" i="1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400" i="1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s-ES" sz="1400" i="1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s-ES" sz="1400" i="1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s-ES" dirty="0"/>
              </a:p>
            </p:txBody>
          </p:sp>
        </mc:Choice>
        <mc:Fallback xmlns="">
          <p:sp>
            <p:nvSpPr>
              <p:cNvPr id="19" name="CuadroTexto 18">
                <a:extLst>
                  <a:ext uri="{FF2B5EF4-FFF2-40B4-BE49-F238E27FC236}">
                    <a16:creationId xmlns:a16="http://schemas.microsoft.com/office/drawing/2014/main" id="{57C93728-4E89-52B0-CF38-56FEC019A5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43476" y="2813304"/>
                <a:ext cx="4183902" cy="219612"/>
              </a:xfrm>
              <a:prstGeom prst="rect">
                <a:avLst/>
              </a:prstGeom>
              <a:blipFill>
                <a:blip r:embed="rId6"/>
                <a:stretch>
                  <a:fillRect b="-30556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uadroTexto 19">
                <a:extLst>
                  <a:ext uri="{FF2B5EF4-FFF2-40B4-BE49-F238E27FC236}">
                    <a16:creationId xmlns:a16="http://schemas.microsoft.com/office/drawing/2014/main" id="{8BD2A2BC-1F54-350F-0236-B071BC61F9B3}"/>
                  </a:ext>
                </a:extLst>
              </p:cNvPr>
              <p:cNvSpPr txBox="1"/>
              <p:nvPr/>
            </p:nvSpPr>
            <p:spPr>
              <a:xfrm>
                <a:off x="6535427" y="3537718"/>
                <a:ext cx="933011" cy="36901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400" i="1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400" i="1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s-ES" sz="1400" i="1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s-ES" sz="1400" b="0" i="1" smtClean="0">
                          <a:solidFill>
                            <a:srgbClr val="004479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s-ES" sz="1400" i="1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400" i="1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s-ES" sz="1400" i="1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b>
                            <m:sSubPr>
                              <m:ctrlPr>
                                <a:rPr lang="es-ES" sz="1400" i="1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400" b="0" i="1" smtClean="0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es-ES" sz="1400" i="1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den>
                      </m:f>
                    </m:oMath>
                  </m:oMathPara>
                </a14:m>
                <a:endParaRPr lang="es-ES" sz="1400" dirty="0"/>
              </a:p>
            </p:txBody>
          </p:sp>
        </mc:Choice>
        <mc:Fallback xmlns="">
          <p:sp>
            <p:nvSpPr>
              <p:cNvPr id="20" name="CuadroTexto 19">
                <a:extLst>
                  <a:ext uri="{FF2B5EF4-FFF2-40B4-BE49-F238E27FC236}">
                    <a16:creationId xmlns:a16="http://schemas.microsoft.com/office/drawing/2014/main" id="{8BD2A2BC-1F54-350F-0236-B071BC61F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5427" y="3537718"/>
                <a:ext cx="933011" cy="369012"/>
              </a:xfrm>
              <a:prstGeom prst="rect">
                <a:avLst/>
              </a:prstGeom>
              <a:blipFill>
                <a:blip r:embed="rId7"/>
                <a:stretch>
                  <a:fillRect l="-8497" b="-9836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uadroTexto 21">
                <a:extLst>
                  <a:ext uri="{FF2B5EF4-FFF2-40B4-BE49-F238E27FC236}">
                    <a16:creationId xmlns:a16="http://schemas.microsoft.com/office/drawing/2014/main" id="{BB22AB05-EF9B-27B2-B23C-26E3807B4F2F}"/>
                  </a:ext>
                </a:extLst>
              </p:cNvPr>
              <p:cNvSpPr txBox="1"/>
              <p:nvPr/>
            </p:nvSpPr>
            <p:spPr>
              <a:xfrm>
                <a:off x="6438748" y="3877350"/>
                <a:ext cx="1627486" cy="4837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40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400" i="1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sz="1400" b="0" i="1" smtClean="0">
                          <a:solidFill>
                            <a:srgbClr val="004479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s-ES" sz="1400" i="1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sSub>
                                <m:sSubPr>
                                  <m:ctrlPr>
                                    <a:rPr lang="es-ES" sz="1400" i="1">
                                      <a:solidFill>
                                        <a:srgbClr val="004479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sz="1400" i="1">
                                      <a:solidFill>
                                        <a:srgbClr val="004479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es-ES" sz="1400" i="1">
                                      <a:solidFill>
                                        <a:srgbClr val="004479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s-ES" sz="1400" b="0" i="1" smtClean="0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+ </m:t>
                              </m:r>
                              <m:r>
                                <a:rPr lang="es-ES" sz="1400" i="1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s-ES" sz="1400" i="1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b>
                            <m:sSubPr>
                              <m:ctrlPr>
                                <a:rPr lang="es-ES" sz="1400" i="1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400" b="0" i="1" smtClean="0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es-ES" sz="1400" b="0" i="1" smtClean="0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den>
                      </m:f>
                    </m:oMath>
                  </m:oMathPara>
                </a14:m>
                <a:endParaRPr lang="es-ES" sz="1400" dirty="0"/>
              </a:p>
            </p:txBody>
          </p:sp>
        </mc:Choice>
        <mc:Fallback xmlns="">
          <p:sp>
            <p:nvSpPr>
              <p:cNvPr id="22" name="CuadroTexto 21">
                <a:extLst>
                  <a:ext uri="{FF2B5EF4-FFF2-40B4-BE49-F238E27FC236}">
                    <a16:creationId xmlns:a16="http://schemas.microsoft.com/office/drawing/2014/main" id="{BB22AB05-EF9B-27B2-B23C-26E3807B4F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8748" y="3877350"/>
                <a:ext cx="1627486" cy="48372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CuadroTexto 23">
                <a:extLst>
                  <a:ext uri="{FF2B5EF4-FFF2-40B4-BE49-F238E27FC236}">
                    <a16:creationId xmlns:a16="http://schemas.microsoft.com/office/drawing/2014/main" id="{BD3CA6DB-9FD6-9E47-54BF-6604C53C4C0D}"/>
                  </a:ext>
                </a:extLst>
              </p:cNvPr>
              <p:cNvSpPr txBox="1"/>
              <p:nvPr/>
            </p:nvSpPr>
            <p:spPr>
              <a:xfrm>
                <a:off x="6438748" y="4307781"/>
                <a:ext cx="1802271" cy="4971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40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400" i="1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s-ES" sz="1400" b="0" i="1" smtClean="0">
                          <a:solidFill>
                            <a:srgbClr val="004479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s-ES" sz="1400" i="1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sSub>
                                <m:sSubPr>
                                  <m:ctrlPr>
                                    <a:rPr lang="es-ES" sz="1400" i="1">
                                      <a:solidFill>
                                        <a:srgbClr val="004479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sz="1400" b="0" i="1" smtClean="0">
                                      <a:solidFill>
                                        <a:srgbClr val="004479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s-ES" sz="1400" i="1">
                                      <a:solidFill>
                                        <a:srgbClr val="004479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es-ES" sz="1400" b="0" i="1" smtClean="0">
                                      <a:solidFill>
                                        <a:srgbClr val="004479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s-ES" sz="1400" b="0" i="1" smtClean="0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+ </m:t>
                              </m:r>
                              <m:r>
                                <a:rPr lang="es-ES" sz="1400" i="1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s-ES" sz="1400" i="1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b>
                            <m:sSubPr>
                              <m:ctrlPr>
                                <a:rPr lang="es-ES" sz="1400" i="1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400" b="0" i="1" smtClean="0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es-ES" sz="1400" b="0" i="1" smtClean="0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den>
                      </m:f>
                    </m:oMath>
                  </m:oMathPara>
                </a14:m>
                <a:endParaRPr lang="es-ES" dirty="0"/>
              </a:p>
            </p:txBody>
          </p:sp>
        </mc:Choice>
        <mc:Fallback xmlns="">
          <p:sp>
            <p:nvSpPr>
              <p:cNvPr id="24" name="CuadroTexto 23">
                <a:extLst>
                  <a:ext uri="{FF2B5EF4-FFF2-40B4-BE49-F238E27FC236}">
                    <a16:creationId xmlns:a16="http://schemas.microsoft.com/office/drawing/2014/main" id="{BD3CA6DB-9FD6-9E47-54BF-6604C53C4C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8748" y="4307781"/>
                <a:ext cx="1802271" cy="49712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CuadroTexto 25">
                <a:extLst>
                  <a:ext uri="{FF2B5EF4-FFF2-40B4-BE49-F238E27FC236}">
                    <a16:creationId xmlns:a16="http://schemas.microsoft.com/office/drawing/2014/main" id="{79F4A50A-1CA9-A7C7-B106-F74E81EEBA72}"/>
                  </a:ext>
                </a:extLst>
              </p:cNvPr>
              <p:cNvSpPr txBox="1"/>
              <p:nvPr/>
            </p:nvSpPr>
            <p:spPr>
              <a:xfrm>
                <a:off x="6438747" y="4702646"/>
                <a:ext cx="1802271" cy="4971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40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400" i="1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s-ES" sz="1400" b="0" i="1" smtClean="0">
                          <a:solidFill>
                            <a:srgbClr val="004479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s-ES" sz="1400" i="1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sSub>
                                <m:sSubPr>
                                  <m:ctrlPr>
                                    <a:rPr lang="es-ES" sz="1400" i="1">
                                      <a:solidFill>
                                        <a:srgbClr val="004479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sz="1400" b="0" i="1" smtClean="0">
                                      <a:solidFill>
                                        <a:srgbClr val="004479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s-ES" sz="1400" i="1">
                                      <a:solidFill>
                                        <a:srgbClr val="004479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es-ES" sz="1400" b="0" i="1" smtClean="0">
                                      <a:solidFill>
                                        <a:srgbClr val="004479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s-ES" sz="1400" b="0" i="1" smtClean="0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+ </m:t>
                              </m:r>
                              <m:r>
                                <a:rPr lang="es-ES" sz="1400" i="1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s-ES" sz="1400" i="1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b>
                            <m:sSubPr>
                              <m:ctrlPr>
                                <a:rPr lang="es-ES" sz="1400" i="1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400" b="0" i="1" smtClean="0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es-ES" sz="1400" b="0" i="1" smtClean="0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num>
                        <m:den>
                          <m: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den>
                      </m:f>
                    </m:oMath>
                  </m:oMathPara>
                </a14:m>
                <a:endParaRPr lang="es-ES" dirty="0"/>
              </a:p>
            </p:txBody>
          </p:sp>
        </mc:Choice>
        <mc:Fallback xmlns="">
          <p:sp>
            <p:nvSpPr>
              <p:cNvPr id="26" name="CuadroTexto 25">
                <a:extLst>
                  <a:ext uri="{FF2B5EF4-FFF2-40B4-BE49-F238E27FC236}">
                    <a16:creationId xmlns:a16="http://schemas.microsoft.com/office/drawing/2014/main" id="{79F4A50A-1CA9-A7C7-B106-F74E81EEBA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8747" y="4702646"/>
                <a:ext cx="1802271" cy="49712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Conector recto de flecha 28">
            <a:extLst>
              <a:ext uri="{FF2B5EF4-FFF2-40B4-BE49-F238E27FC236}">
                <a16:creationId xmlns:a16="http://schemas.microsoft.com/office/drawing/2014/main" id="{89142AB9-B1A7-D857-C2B9-F4306FD17E14}"/>
              </a:ext>
            </a:extLst>
          </p:cNvPr>
          <p:cNvCxnSpPr/>
          <p:nvPr/>
        </p:nvCxnSpPr>
        <p:spPr>
          <a:xfrm>
            <a:off x="3780973" y="2935138"/>
            <a:ext cx="575732" cy="0"/>
          </a:xfrm>
          <a:prstGeom prst="straightConnector1">
            <a:avLst/>
          </a:prstGeom>
          <a:ln>
            <a:solidFill>
              <a:srgbClr val="00AAD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ángulo 29">
            <a:extLst>
              <a:ext uri="{FF2B5EF4-FFF2-40B4-BE49-F238E27FC236}">
                <a16:creationId xmlns:a16="http://schemas.microsoft.com/office/drawing/2014/main" id="{1190309C-95E3-91A5-900B-33BCA40865E0}"/>
              </a:ext>
            </a:extLst>
          </p:cNvPr>
          <p:cNvSpPr/>
          <p:nvPr/>
        </p:nvSpPr>
        <p:spPr>
          <a:xfrm>
            <a:off x="6199000" y="3441090"/>
            <a:ext cx="2140668" cy="1805367"/>
          </a:xfrm>
          <a:prstGeom prst="rect">
            <a:avLst/>
          </a:prstGeom>
          <a:noFill/>
          <a:ln>
            <a:solidFill>
              <a:srgbClr val="00AAD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704295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7DCA67-2CAF-53F3-83B0-2C310DCFD3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F92188C0-5550-0D1F-44C3-27FEB7ECB627}"/>
              </a:ext>
            </a:extLst>
          </p:cNvPr>
          <p:cNvSpPr txBox="1"/>
          <p:nvPr/>
        </p:nvSpPr>
        <p:spPr>
          <a:xfrm>
            <a:off x="327188" y="305396"/>
            <a:ext cx="675941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800" b="1" dirty="0">
                <a:solidFill>
                  <a:srgbClr val="004479"/>
                </a:solidFill>
              </a:rPr>
              <a:t>Modelos teóricos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415314D9-C349-DD87-932A-748C971FD38F}"/>
              </a:ext>
            </a:extLst>
          </p:cNvPr>
          <p:cNvSpPr txBox="1"/>
          <p:nvPr/>
        </p:nvSpPr>
        <p:spPr>
          <a:xfrm>
            <a:off x="478548" y="729875"/>
            <a:ext cx="67594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dirty="0">
                <a:solidFill>
                  <a:srgbClr val="00AAD6"/>
                </a:solidFill>
              </a:rPr>
              <a:t>Medio atmosférico</a:t>
            </a:r>
          </a:p>
        </p:txBody>
      </p: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A7AC488B-E39D-A518-ADAE-AD84E744071F}"/>
              </a:ext>
            </a:extLst>
          </p:cNvPr>
          <p:cNvCxnSpPr>
            <a:cxnSpLocks/>
          </p:cNvCxnSpPr>
          <p:nvPr/>
        </p:nvCxnSpPr>
        <p:spPr>
          <a:xfrm>
            <a:off x="415773" y="1265941"/>
            <a:ext cx="3442481" cy="0"/>
          </a:xfrm>
          <a:prstGeom prst="line">
            <a:avLst/>
          </a:prstGeom>
          <a:ln>
            <a:solidFill>
              <a:srgbClr val="00AAD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510A1933-1870-A955-7F8D-596AA27C7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FE5F45-1FFF-D043-8DCE-2BE364C338E3}" type="slidenum">
              <a:rPr lang="es-ES" smtClean="0"/>
              <a:t>11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01ADAE3-C8EA-579A-0C8E-BFEB79EB1C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>
                <a:solidFill>
                  <a:schemeClr val="bg1"/>
                </a:solidFill>
              </a:rPr>
              <a:t>Dispersión y turbulencia en pulsos ultracortos: escenarios atmosférico y oceánico</a:t>
            </a:r>
          </a:p>
          <a:p>
            <a:endParaRPr lang="es-E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uadroTexto 3">
                <a:extLst>
                  <a:ext uri="{FF2B5EF4-FFF2-40B4-BE49-F238E27FC236}">
                    <a16:creationId xmlns:a16="http://schemas.microsoft.com/office/drawing/2014/main" id="{20474023-86AE-E1B2-10BA-2CB4A613E897}"/>
                  </a:ext>
                </a:extLst>
              </p:cNvPr>
              <p:cNvSpPr txBox="1"/>
              <p:nvPr/>
            </p:nvSpPr>
            <p:spPr>
              <a:xfrm>
                <a:off x="3274035" y="2340552"/>
                <a:ext cx="7927848" cy="11834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2" algn="just"/>
                <a:r>
                  <a:rPr lang="es-ES" sz="2000" dirty="0">
                    <a:solidFill>
                      <a:srgbClr val="004479"/>
                    </a:solidFill>
                  </a:rPr>
                  <a:t>	</a:t>
                </a:r>
                <a:r>
                  <a:rPr lang="es-ES" sz="1200" dirty="0">
                    <a:solidFill>
                      <a:srgbClr val="004479"/>
                    </a:solidFill>
                  </a:rPr>
                  <a:t>	</a:t>
                </a:r>
                <a:r>
                  <a:rPr lang="es-ES" sz="1200" i="1" dirty="0">
                    <a:solidFill>
                      <a:srgbClr val="004479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100" i="1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sz="1100" i="1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𝛷</m:t>
                        </m:r>
                      </m:e>
                      <m:sub>
                        <m:r>
                          <a:rPr lang="en-US" sz="1100" b="0" i="1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s-ES" sz="1100" i="1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" sz="1100" i="1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𝜅</m:t>
                        </m:r>
                      </m:e>
                    </m:d>
                    <m:r>
                      <a:rPr lang="en-US" sz="1100" b="0" i="1" smtClean="0">
                        <a:solidFill>
                          <a:srgbClr val="004479"/>
                        </a:solidFill>
                        <a:latin typeface="Cambria Math" panose="02040503050406030204" pitchFamily="18" charset="0"/>
                      </a:rPr>
                      <m:t>=0.0333</m:t>
                    </m:r>
                    <m:sSubSup>
                      <m:sSubSupPr>
                        <m:ctrlPr>
                          <a:rPr lang="en-US" sz="1100" b="0" i="1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100" b="0" i="1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1100" b="0" i="1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sz="1100" b="0" i="1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1100" b="0" i="1" smtClean="0">
                        <a:solidFill>
                          <a:srgbClr val="004479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100" b="0" i="1" smtClean="0">
                        <a:solidFill>
                          <a:srgbClr val="004479"/>
                        </a:solidFill>
                        <a:latin typeface="Cambria Math" panose="02040503050406030204" pitchFamily="18" charset="0"/>
                      </a:rPr>
                      <m:t>𝑒𝑥𝑝</m:t>
                    </m:r>
                    <m:d>
                      <m:dPr>
                        <m:ctrlPr>
                          <a:rPr lang="en-US" sz="1100" b="0" i="1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100" b="0" i="1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US" sz="1100" b="0" i="1" smtClean="0">
                                <a:solidFill>
                                  <a:srgbClr val="004479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sz="1100" b="0" i="1" smtClean="0">
                                    <a:solidFill>
                                      <a:srgbClr val="004479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100" b="0" i="1" smtClean="0">
                                    <a:solidFill>
                                      <a:srgbClr val="004479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𝜅</m:t>
                                </m:r>
                              </m:e>
                              <m:sup>
                                <m:r>
                                  <a:rPr lang="en-US" sz="1100" b="0" i="1" smtClean="0">
                                    <a:solidFill>
                                      <a:srgbClr val="004479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sSubSup>
                              <m:sSubSupPr>
                                <m:ctrlPr>
                                  <a:rPr lang="en-US" sz="1100" b="0" i="1" smtClean="0">
                                    <a:solidFill>
                                      <a:srgbClr val="004479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100" b="0" i="1" smtClean="0">
                                    <a:solidFill>
                                      <a:srgbClr val="004479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𝜅</m:t>
                                </m:r>
                              </m:e>
                              <m:sub>
                                <m:r>
                                  <a:rPr lang="en-US" sz="1100" b="0" i="1" smtClean="0">
                                    <a:solidFill>
                                      <a:srgbClr val="004479"/>
                                    </a:solidFill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  <m:sup>
                                <m:r>
                                  <a:rPr lang="en-US" sz="1100" b="0" i="1" smtClean="0">
                                    <a:solidFill>
                                      <a:srgbClr val="004479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den>
                        </m:f>
                      </m:e>
                    </m:d>
                    <m:sSup>
                      <m:sSupPr>
                        <m:ctrlPr>
                          <a:rPr lang="en-US" sz="1100" b="0" i="1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1100" b="0" i="1" smtClean="0">
                                <a:solidFill>
                                  <a:srgbClr val="004479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1100" b="0" i="1" smtClean="0">
                                    <a:solidFill>
                                      <a:srgbClr val="004479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100" b="0" i="1" smtClean="0">
                                    <a:solidFill>
                                      <a:srgbClr val="004479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𝜅</m:t>
                                </m:r>
                              </m:e>
                              <m:sup>
                                <m:r>
                                  <a:rPr lang="en-US" sz="1100" b="0" i="1" smtClean="0">
                                    <a:solidFill>
                                      <a:srgbClr val="004479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sz="1100" b="0" i="1" smtClean="0">
                                <a:solidFill>
                                  <a:srgbClr val="004479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Sup>
                              <m:sSubSupPr>
                                <m:ctrlPr>
                                  <a:rPr lang="en-US" sz="1100" b="0" i="1" smtClean="0">
                                    <a:solidFill>
                                      <a:srgbClr val="004479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100" b="0" i="1" smtClean="0">
                                    <a:solidFill>
                                      <a:srgbClr val="004479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𝜅</m:t>
                                </m:r>
                              </m:e>
                              <m:sub>
                                <m:r>
                                  <a:rPr lang="en-US" sz="1100" b="0" i="1" smtClean="0">
                                    <a:solidFill>
                                      <a:srgbClr val="004479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  <m:sup>
                                <m:r>
                                  <a:rPr lang="en-US" sz="1100" b="0" i="1" smtClean="0">
                                    <a:solidFill>
                                      <a:srgbClr val="004479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e>
                        </m:d>
                      </m:e>
                      <m:sup>
                        <m:r>
                          <a:rPr lang="en-US" sz="1100" b="0" i="1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</a:rPr>
                          <m:t>−11/6</m:t>
                        </m:r>
                      </m:sup>
                    </m:sSup>
                  </m:oMath>
                </a14:m>
                <a:endParaRPr lang="es-ES" i="1" dirty="0">
                  <a:solidFill>
                    <a:srgbClr val="004479"/>
                  </a:solidFill>
                  <a:latin typeface="Malacitana-Sans" pitchFamily="2" charset="77"/>
                </a:endParaRPr>
              </a:p>
              <a:p>
                <a:pPr lvl="1" algn="just"/>
                <a:endParaRPr lang="es-ES" sz="2400" dirty="0">
                  <a:solidFill>
                    <a:srgbClr val="004479"/>
                  </a:solidFill>
                  <a:latin typeface="Malacitana-Sans" pitchFamily="2" charset="77"/>
                </a:endParaRPr>
              </a:p>
              <a:p>
                <a:pPr lvl="1" algn="just">
                  <a:lnSpc>
                    <a:spcPct val="150000"/>
                  </a:lnSpc>
                </a:pPr>
                <a:r>
                  <a:rPr lang="es-ES" sz="2000" dirty="0">
                    <a:solidFill>
                      <a:srgbClr val="004479"/>
                    </a:solidFill>
                  </a:rPr>
                  <a:t>		</a:t>
                </a:r>
                <a:endParaRPr lang="es-ES" sz="2000" dirty="0">
                  <a:solidFill>
                    <a:srgbClr val="004479"/>
                  </a:solidFill>
                  <a:latin typeface="Malacitana-Sans" pitchFamily="2" charset="77"/>
                </a:endParaRPr>
              </a:p>
            </p:txBody>
          </p:sp>
        </mc:Choice>
        <mc:Fallback xmlns="">
          <p:sp>
            <p:nvSpPr>
              <p:cNvPr id="6" name="CuadroTexto 3">
                <a:extLst>
                  <a:ext uri="{FF2B5EF4-FFF2-40B4-BE49-F238E27FC236}">
                    <a16:creationId xmlns:a16="http://schemas.microsoft.com/office/drawing/2014/main" id="{20474023-86AE-E1B2-10BA-2CB4A613E8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4035" y="2340552"/>
                <a:ext cx="7927848" cy="118340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CuadroTexto 4">
            <a:extLst>
              <a:ext uri="{FF2B5EF4-FFF2-40B4-BE49-F238E27FC236}">
                <a16:creationId xmlns:a16="http://schemas.microsoft.com/office/drawing/2014/main" id="{4303C7B5-BDB4-3899-EF73-AF03B92C9BDC}"/>
              </a:ext>
            </a:extLst>
          </p:cNvPr>
          <p:cNvSpPr txBox="1"/>
          <p:nvPr/>
        </p:nvSpPr>
        <p:spPr>
          <a:xfrm>
            <a:off x="327188" y="5841985"/>
            <a:ext cx="836447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" sz="1200" b="0" i="0" u="none" strike="noStrike" baseline="0" dirty="0">
                <a:solidFill>
                  <a:srgbClr val="00AAD6"/>
                </a:solidFill>
              </a:rPr>
              <a:t>[5] </a:t>
            </a:r>
            <a:r>
              <a:rPr lang="en-US" sz="1200" b="0" i="0" u="none" strike="noStrike" baseline="0" dirty="0">
                <a:solidFill>
                  <a:srgbClr val="00AAD6"/>
                </a:solidFill>
              </a:rPr>
              <a:t>A. Trichili, M. A. Cox, B. S. Ooi y M.-S. </a:t>
            </a:r>
            <a:r>
              <a:rPr lang="en-US" sz="1200" b="0" i="0" u="none" strike="noStrike" baseline="0" dirty="0" err="1">
                <a:solidFill>
                  <a:srgbClr val="00AAD6"/>
                </a:solidFill>
              </a:rPr>
              <a:t>Alouini</a:t>
            </a:r>
            <a:r>
              <a:rPr lang="en-US" sz="1200" b="0" i="0" u="none" strike="noStrike" baseline="0" dirty="0">
                <a:solidFill>
                  <a:srgbClr val="00AAD6"/>
                </a:solidFill>
              </a:rPr>
              <a:t>, “Roadmap to free space optics”, Journal of the Optical Society of America B, Vol.37, Nº 11, </a:t>
            </a:r>
            <a:r>
              <a:rPr lang="en-US" sz="1200" b="0" i="0" u="none" strike="noStrike" baseline="0" dirty="0" err="1">
                <a:solidFill>
                  <a:srgbClr val="00AAD6"/>
                </a:solidFill>
              </a:rPr>
              <a:t>Noviembre</a:t>
            </a:r>
            <a:r>
              <a:rPr lang="en-US" sz="1200" b="0" i="0" u="none" strike="noStrike" baseline="0" dirty="0">
                <a:solidFill>
                  <a:srgbClr val="00AAD6"/>
                </a:solidFill>
              </a:rPr>
              <a:t>, </a:t>
            </a:r>
            <a:r>
              <a:rPr lang="es-ES" sz="1200" b="0" i="0" u="none" strike="noStrike" baseline="0" dirty="0">
                <a:solidFill>
                  <a:srgbClr val="00AAD6"/>
                </a:solidFill>
              </a:rPr>
              <a:t>2020, pp. A184-A201.</a:t>
            </a:r>
            <a:endParaRPr lang="es-ES" sz="1200" dirty="0">
              <a:solidFill>
                <a:srgbClr val="00AAD6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210D5D52-D282-BE3D-58F7-197FD75C7E31}"/>
                  </a:ext>
                </a:extLst>
              </p:cNvPr>
              <p:cNvSpPr txBox="1"/>
              <p:nvPr/>
            </p:nvSpPr>
            <p:spPr>
              <a:xfrm>
                <a:off x="4102282" y="1502071"/>
                <a:ext cx="4814896" cy="36048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s-ES" sz="1400" i="1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sz="1400" i="0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es-ES" sz="1400" b="0" i="0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m:rPr>
                        <m:nor/>
                      </m:rPr>
                      <a:rPr lang="es-ES" sz="1400">
                        <a:solidFill>
                          <a:srgbClr val="004479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(·)</m:t>
                    </m:r>
                    <m:r>
                      <a:rPr lang="es-ES" sz="1400" b="0" i="0" smtClean="0">
                        <a:solidFill>
                          <a:srgbClr val="004479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</m:t>
                    </m:r>
                    <m:sSup>
                      <m:sSupPr>
                        <m:ctrlPr>
                          <a:rPr lang="es-ES" sz="1400" b="0" i="1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s-ES" sz="1400" b="0" i="1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f>
                          <m:fPr>
                            <m:ctrlPr>
                              <a:rPr lang="es-ES" sz="1400" b="0" i="1" smtClean="0">
                                <a:solidFill>
                                  <a:srgbClr val="004479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s-ES" sz="1400" b="0" i="1" smtClean="0">
                                <a:solidFill>
                                  <a:srgbClr val="004479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−2</m:t>
                            </m:r>
                            <m:sSup>
                              <m:sSupPr>
                                <m:ctrlPr>
                                  <a:rPr lang="es-ES" sz="1400" b="0" i="1" smtClean="0">
                                    <a:solidFill>
                                      <a:srgbClr val="004479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s-ES" sz="1400" b="0" i="1" smtClean="0">
                                    <a:solidFill>
                                      <a:srgbClr val="004479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p>
                                <m:r>
                                  <a:rPr lang="es-ES" sz="1400" b="0" i="1" smtClean="0">
                                    <a:solidFill>
                                      <a:srgbClr val="004479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sSub>
                              <m:sSubPr>
                                <m:ctrlPr>
                                  <a:rPr lang="es-ES" sz="1400" b="0" i="1" smtClean="0">
                                    <a:solidFill>
                                      <a:srgbClr val="004479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s-ES" sz="1400" b="0" i="1" smtClean="0">
                                    <a:solidFill>
                                      <a:srgbClr val="004479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s-ES" sz="1400" b="0" i="1" smtClean="0">
                                    <a:solidFill>
                                      <a:srgbClr val="004479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</m:sup>
                    </m:sSup>
                    <m:r>
                      <a:rPr lang="es-ES" sz="1400" b="0" i="1" smtClean="0">
                        <a:solidFill>
                          <a:srgbClr val="004479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s-ES" sz="1400" i="1" dirty="0">
                    <a:solidFill>
                      <a:srgbClr val="004479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s-ES" sz="1400" i="1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s-ES" sz="1400" i="1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s-ES" sz="1400" b="0" i="1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es-ES" sz="1400" b="0" i="1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s-ES" sz="1400" b="0" i="1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s-ES" sz="1400" b="0" i="1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  <m:r>
                          <a:rPr lang="es-ES" sz="1400" b="0" i="1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s-ES" sz="1400" b="0" i="1" smtClean="0">
                                <a:solidFill>
                                  <a:srgbClr val="004479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sz="1400" b="0" i="1" smtClean="0">
                                <a:solidFill>
                                  <a:srgbClr val="004479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s-ES" sz="1400" b="0" i="1" smtClean="0">
                                <a:solidFill>
                                  <a:srgbClr val="004479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s-ES" sz="1400" b="0" i="1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s-ES" sz="1400" i="1">
                                <a:solidFill>
                                  <a:srgbClr val="004479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sz="1400" i="1">
                                <a:solidFill>
                                  <a:srgbClr val="004479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s-ES" sz="1400" b="0" i="1" smtClean="0">
                                <a:solidFill>
                                  <a:srgbClr val="004479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s-ES" sz="1400" b="0" i="1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)−</m:t>
                        </m:r>
                        <m:r>
                          <a:rPr lang="es-ES" sz="1400" i="1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  <m:r>
                          <a:rPr lang="es-ES" sz="1400" i="1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s-ES" sz="1400" i="1">
                                <a:solidFill>
                                  <a:srgbClr val="004479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sz="1400" i="1">
                                <a:solidFill>
                                  <a:srgbClr val="004479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s-ES" sz="1400" b="0" i="1" smtClean="0">
                                <a:solidFill>
                                  <a:srgbClr val="004479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s-ES" sz="1400" i="1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s-ES" sz="1400" i="1">
                                <a:solidFill>
                                  <a:srgbClr val="004479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sz="1400" i="1">
                                <a:solidFill>
                                  <a:srgbClr val="004479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s-ES" sz="1400" i="1">
                                <a:solidFill>
                                  <a:srgbClr val="004479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s-ES" sz="1400" i="1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  <m:r>
                          <a:rPr lang="es-ES" sz="1400" b="0" i="1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sup>
                    </m:sSup>
                    <m:r>
                      <a:rPr lang="es-ES" sz="1400" i="1" smtClean="0">
                        <a:solidFill>
                          <a:srgbClr val="004479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s-ES" sz="1400" i="1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s-ES" sz="1400" i="1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s-ES" sz="1400" i="1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s-ES" sz="1400" i="1" smtClean="0">
                                <a:solidFill>
                                  <a:srgbClr val="004479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sz="1400" b="0" i="1" smtClean="0">
                                <a:solidFill>
                                  <a:srgbClr val="004479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s-ES" sz="1400" b="0" i="1" smtClean="0">
                                <a:solidFill>
                                  <a:srgbClr val="004479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  <m:sSubSup>
                          <m:sSubSupPr>
                            <m:ctrlPr>
                              <a:rPr lang="es-ES" sz="1400" i="1" smtClean="0">
                                <a:solidFill>
                                  <a:srgbClr val="004479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s-ES" sz="1400" i="1" smtClean="0">
                                <a:solidFill>
                                  <a:srgbClr val="004479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s-ES" sz="1400" b="0" i="1" smtClean="0">
                                <a:solidFill>
                                  <a:srgbClr val="004479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</m:sub>
                          <m:sup>
                            <m:r>
                              <a:rPr lang="es-ES" sz="1400" b="0" i="1" smtClean="0">
                                <a:solidFill>
                                  <a:srgbClr val="004479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sup>
                    </m:sSup>
                  </m:oMath>
                </a14:m>
                <a:endParaRPr lang="es-E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210D5D52-D282-BE3D-58F7-197FD75C7E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02282" y="1502071"/>
                <a:ext cx="4814896" cy="36048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uadroTexto 21">
                <a:extLst>
                  <a:ext uri="{FF2B5EF4-FFF2-40B4-BE49-F238E27FC236}">
                    <a16:creationId xmlns:a16="http://schemas.microsoft.com/office/drawing/2014/main" id="{F826943B-BB3E-3D1D-92E0-419B5BAFE46E}"/>
                  </a:ext>
                </a:extLst>
              </p:cNvPr>
              <p:cNvSpPr txBox="1"/>
              <p:nvPr/>
            </p:nvSpPr>
            <p:spPr>
              <a:xfrm>
                <a:off x="1308613" y="2273873"/>
                <a:ext cx="3200812" cy="51950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40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r>
                        <a:rPr lang="es-ES" sz="1400" b="0" i="0" smtClean="0">
                          <a:solidFill>
                            <a:srgbClr val="004479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sSup>
                            <m:sSupPr>
                              <m:ctrlPr>
                                <a:rPr lang="es-ES" sz="1400" b="0" i="1" smtClean="0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1400" b="0" i="1" smtClean="0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s-ES" sz="1400" b="0" i="1" smtClean="0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num>
                        <m:den>
                          <m:sSup>
                            <m:sSupPr>
                              <m:ctrlPr>
                                <a:rPr lang="es-ES" sz="1400" b="0" i="1" smtClean="0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1400" b="0" i="1" smtClean="0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p>
                              <m:r>
                                <a:rPr lang="es-ES" sz="1400" b="0" i="1" smtClean="0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nary>
                        <m:naryPr>
                          <m:ctrlP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s-ES" sz="1400" b="0" i="0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s-ES" sz="1400" b="0" i="0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𝜅</m:t>
                          </m:r>
                          <m:r>
                            <a:rPr lang="el-GR" sz="1400" i="1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𝛷</m:t>
                          </m:r>
                          <m:d>
                            <m:dPr>
                              <m:ctrlPr>
                                <a:rPr lang="es-ES" sz="1400" i="1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" sz="1400" i="1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𝜅</m:t>
                              </m:r>
                            </m:e>
                          </m:d>
                          <m: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𝜅</m:t>
                          </m:r>
                          <m: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≅ </m:t>
                          </m:r>
                          <m:f>
                            <m:fPr>
                              <m:ctrlPr>
                                <a:rPr lang="es-ES" sz="1400" b="0" i="1" smtClean="0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ES" sz="1400" b="0" i="1" smtClean="0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0.39</m:t>
                              </m:r>
                              <m:sSubSup>
                                <m:sSubSupPr>
                                  <m:ctrlPr>
                                    <a:rPr lang="es-ES" sz="1400" b="0" i="1" smtClean="0">
                                      <a:solidFill>
                                        <a:srgbClr val="004479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s-ES" sz="1400" b="0" i="1" smtClean="0">
                                      <a:solidFill>
                                        <a:srgbClr val="004479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s-ES" sz="1400" b="0" i="1" smtClean="0">
                                      <a:solidFill>
                                        <a:srgbClr val="004479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  <m:sup>
                                  <m:r>
                                    <a:rPr lang="es-ES" sz="1400" b="0" i="1" smtClean="0">
                                      <a:solidFill>
                                        <a:srgbClr val="004479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  <m:r>
                                <a:rPr lang="es-ES" sz="1400" b="0" i="1" smtClean="0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  <m:sSubSup>
                                <m:sSubSupPr>
                                  <m:ctrlPr>
                                    <a:rPr lang="es-ES" sz="1400" b="0" i="1" smtClean="0">
                                      <a:solidFill>
                                        <a:srgbClr val="004479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s-ES" sz="1400" b="0" i="1" smtClean="0">
                                      <a:solidFill>
                                        <a:srgbClr val="004479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𝜅</m:t>
                                  </m:r>
                                </m:e>
                                <m:sub>
                                  <m:r>
                                    <a:rPr lang="es-ES" sz="1400" b="0" i="1" smtClean="0">
                                      <a:solidFill>
                                        <a:srgbClr val="004479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s-ES" sz="1400" b="0" i="1" smtClean="0">
                                      <a:solidFill>
                                        <a:srgbClr val="004479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−5/3</m:t>
                                  </m:r>
                                </m:sup>
                              </m:sSubSup>
                            </m:num>
                            <m:den>
                              <m:sSup>
                                <m:sSupPr>
                                  <m:ctrlPr>
                                    <a:rPr lang="es-ES" sz="1400" i="1">
                                      <a:solidFill>
                                        <a:srgbClr val="004479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s-ES" sz="1400" i="1">
                                      <a:solidFill>
                                        <a:srgbClr val="004479"/>
                                      </a:solidFill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p>
                                  <m:r>
                                    <a:rPr lang="es-ES" sz="1400" i="1">
                                      <a:solidFill>
                                        <a:srgbClr val="004479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  <a:endParaRPr lang="es-ES" sz="1400" dirty="0"/>
              </a:p>
            </p:txBody>
          </p:sp>
        </mc:Choice>
        <mc:Fallback xmlns="">
          <p:sp>
            <p:nvSpPr>
              <p:cNvPr id="22" name="CuadroTexto 21">
                <a:extLst>
                  <a:ext uri="{FF2B5EF4-FFF2-40B4-BE49-F238E27FC236}">
                    <a16:creationId xmlns:a16="http://schemas.microsoft.com/office/drawing/2014/main" id="{F826943B-BB3E-3D1D-92E0-419B5BAFE4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8613" y="2273873"/>
                <a:ext cx="3200812" cy="519501"/>
              </a:xfrm>
              <a:prstGeom prst="rect">
                <a:avLst/>
              </a:prstGeom>
              <a:blipFill>
                <a:blip r:embed="rId4"/>
                <a:stretch>
                  <a:fillRect b="-1176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uadroTexto 22">
                <a:extLst>
                  <a:ext uri="{FF2B5EF4-FFF2-40B4-BE49-F238E27FC236}">
                    <a16:creationId xmlns:a16="http://schemas.microsoft.com/office/drawing/2014/main" id="{0829FD12-1B69-990C-8633-64A4325C55B1}"/>
                  </a:ext>
                </a:extLst>
              </p:cNvPr>
              <p:cNvSpPr txBox="1"/>
              <p:nvPr/>
            </p:nvSpPr>
            <p:spPr>
              <a:xfrm>
                <a:off x="2700563" y="4829680"/>
                <a:ext cx="3176817" cy="63652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sz="1400" b="0" i="1" smtClean="0">
                          <a:solidFill>
                            <a:srgbClr val="004479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sSub>
                        <m:sSubPr>
                          <m:ctrlP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</a:rPr>
                            <m:t>𝑐𝑜𝑚𝑏</m:t>
                          </m:r>
                        </m:sub>
                      </m:sSub>
                      <m:r>
                        <a:rPr lang="es-ES" sz="1400" b="0" i="1" smtClean="0">
                          <a:solidFill>
                            <a:srgbClr val="004479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ad>
                        <m:radPr>
                          <m:degHide m:val="on"/>
                          <m:ctrlP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</a:rPr>
                            <m:t>1 + </m:t>
                          </m:r>
                          <m:f>
                            <m:fPr>
                              <m:ctrlPr>
                                <a:rPr lang="es-ES" sz="1400" b="0" i="1" smtClean="0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ES" sz="1400" b="0" i="1" smtClean="0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b>
                                <m:sSubPr>
                                  <m:ctrlPr>
                                    <a:rPr lang="es-ES" sz="1400" b="0" i="1" smtClean="0">
                                      <a:solidFill>
                                        <a:srgbClr val="004479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sz="1400" b="0" i="1" smtClean="0">
                                      <a:solidFill>
                                        <a:srgbClr val="004479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s-ES" sz="1400" b="0" i="1" smtClean="0">
                                      <a:solidFill>
                                        <a:srgbClr val="004479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b>
                              </m:sSub>
                            </m:num>
                            <m:den>
                              <m:sSubSup>
                                <m:sSubSupPr>
                                  <m:ctrlPr>
                                    <a:rPr lang="es-ES" sz="1400" b="0" i="1" smtClean="0">
                                      <a:solidFill>
                                        <a:srgbClr val="004479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s-ES" sz="1400" b="0" i="1" smtClean="0">
                                      <a:solidFill>
                                        <a:srgbClr val="004479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s-ES" sz="1400" b="0" i="1" smtClean="0">
                                      <a:solidFill>
                                        <a:srgbClr val="004479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s-ES" sz="1400" b="0" i="1" smtClean="0">
                                      <a:solidFill>
                                        <a:srgbClr val="004479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  <m: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</a:rPr>
                            <m:t>+ </m:t>
                          </m:r>
                          <m:sSup>
                            <m:sSupPr>
                              <m:ctrlPr>
                                <a:rPr lang="es-ES" sz="1400" b="0" i="1" smtClean="0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s-ES" sz="1400" b="0" i="1" smtClean="0">
                                      <a:solidFill>
                                        <a:srgbClr val="004479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s-ES" sz="1400" i="1">
                                          <a:solidFill>
                                            <a:srgbClr val="004479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es-ES" sz="1400" i="1">
                                              <a:solidFill>
                                                <a:srgbClr val="004479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s-ES" sz="1400" i="1">
                                              <a:solidFill>
                                                <a:srgbClr val="004479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𝛽</m:t>
                                          </m:r>
                                        </m:e>
                                        <m:sub>
                                          <m:r>
                                            <a:rPr lang="es-ES" sz="1400" i="1">
                                              <a:solidFill>
                                                <a:srgbClr val="004479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r>
                                        <a:rPr lang="es-ES" sz="1400" i="1">
                                          <a:solidFill>
                                            <a:srgbClr val="004479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𝑧</m:t>
                                      </m:r>
                                    </m:num>
                                    <m:den>
                                      <m:r>
                                        <a:rPr lang="es-ES" sz="1400" i="1">
                                          <a:solidFill>
                                            <a:srgbClr val="004479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sSubSup>
                                        <m:sSubSupPr>
                                          <m:ctrlPr>
                                            <a:rPr lang="es-ES" sz="1400" i="1">
                                              <a:solidFill>
                                                <a:srgbClr val="004479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s-ES" sz="1400" i="1">
                                              <a:solidFill>
                                                <a:srgbClr val="004479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𝜎</m:t>
                                          </m:r>
                                        </m:e>
                                        <m:sub>
                                          <m:r>
                                            <a:rPr lang="es-ES" sz="1400" i="1">
                                              <a:solidFill>
                                                <a:srgbClr val="004479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  <m:sup>
                                          <m:r>
                                            <a:rPr lang="es-ES" sz="1400" i="1">
                                              <a:solidFill>
                                                <a:srgbClr val="004479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s-ES" sz="1400" b="0" i="1" smtClean="0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  <a:endParaRPr lang="es-ES" i="1" dirty="0"/>
              </a:p>
            </p:txBody>
          </p:sp>
        </mc:Choice>
        <mc:Fallback xmlns="">
          <p:sp>
            <p:nvSpPr>
              <p:cNvPr id="23" name="CuadroTexto 22">
                <a:extLst>
                  <a:ext uri="{FF2B5EF4-FFF2-40B4-BE49-F238E27FC236}">
                    <a16:creationId xmlns:a16="http://schemas.microsoft.com/office/drawing/2014/main" id="{0829FD12-1B69-990C-8633-64A4325C55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00563" y="4829680"/>
                <a:ext cx="3176817" cy="63652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CuadroTexto 23">
                <a:extLst>
                  <a:ext uri="{FF2B5EF4-FFF2-40B4-BE49-F238E27FC236}">
                    <a16:creationId xmlns:a16="http://schemas.microsoft.com/office/drawing/2014/main" id="{AF076585-3886-5E78-49CF-32E8971FDAC2}"/>
                  </a:ext>
                </a:extLst>
              </p:cNvPr>
              <p:cNvSpPr txBox="1"/>
              <p:nvPr/>
            </p:nvSpPr>
            <p:spPr>
              <a:xfrm>
                <a:off x="1052160" y="3684304"/>
                <a:ext cx="7140411" cy="5058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sz="1400" b="0" i="1" smtClean="0">
                          <a:solidFill>
                            <a:srgbClr val="004479"/>
                          </a:solidFill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es-ES" sz="1400" b="0" i="1" smtClean="0">
                          <a:solidFill>
                            <a:srgbClr val="004479"/>
                          </a:solidFill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s-ES" sz="1400" b="0" i="1" smtClean="0">
                          <a:solidFill>
                            <a:srgbClr val="004479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s-ES" sz="1400" b="0" i="1" smtClean="0">
                          <a:solidFill>
                            <a:srgbClr val="004479"/>
                          </a:solidFill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s-ES" sz="1400" b="0" i="1" smtClean="0">
                          <a:solidFill>
                            <a:srgbClr val="004479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s-ES" sz="1400" b="0" i="1" smtClean="0">
                          <a:solidFill>
                            <a:srgbClr val="004479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s-ES" sz="1400" b="0" i="1" smtClean="0">
                          <a:solidFill>
                            <a:srgbClr val="004479"/>
                          </a:solidFill>
                          <a:latin typeface="Cambria Math" panose="02040503050406030204" pitchFamily="18" charset="0"/>
                        </a:rPr>
                        <m:t>;</m:t>
                      </m:r>
                      <m:r>
                        <a:rPr lang="es-ES" sz="1400" b="0" i="1" smtClean="0">
                          <a:solidFill>
                            <a:srgbClr val="004479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s-ES" sz="1400" b="0" i="1" smtClean="0">
                          <a:solidFill>
                            <a:srgbClr val="004479"/>
                          </a:solidFill>
                          <a:latin typeface="Cambria Math" panose="02040503050406030204" pitchFamily="18" charset="0"/>
                        </a:rPr>
                        <m:t>)&gt; =</m:t>
                      </m:r>
                      <m:f>
                        <m:fPr>
                          <m:ctrlP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s-ES" sz="1400" b="0" i="1" smtClean="0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s-ES" sz="1400" b="0" i="1" smtClean="0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s-ES" sz="1400" b="0" i="1" smtClean="0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s-ES" sz="1400" b="0" i="1" smtClean="0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sSup>
                        <m:sSupPr>
                          <m:ctrlP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f>
                            <m:fPr>
                              <m:ctrlPr>
                                <a:rPr lang="es-ES" sz="1400" i="1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ES" sz="1400" i="1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</a:rPr>
                                <m:t>−2</m:t>
                              </m:r>
                              <m:sSup>
                                <m:sSupPr>
                                  <m:ctrlPr>
                                    <a:rPr lang="es-ES" sz="1400" i="1">
                                      <a:solidFill>
                                        <a:srgbClr val="004479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s-ES" sz="1400" i="1">
                                      <a:solidFill>
                                        <a:srgbClr val="004479"/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p>
                                  <m:r>
                                    <a:rPr lang="es-ES" sz="1400" i="1">
                                      <a:solidFill>
                                        <a:srgbClr val="004479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b>
                                <m:sSubPr>
                                  <m:ctrlPr>
                                    <a:rPr lang="es-ES" sz="1400" i="1">
                                      <a:solidFill>
                                        <a:srgbClr val="004479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sz="1400" i="1">
                                      <a:solidFill>
                                        <a:srgbClr val="004479"/>
                                      </a:solidFill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s-ES" sz="1400" i="1">
                                      <a:solidFill>
                                        <a:srgbClr val="004479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den>
                          </m:f>
                        </m:sup>
                      </m:sSup>
                      <m:nary>
                        <m:naryPr>
                          <m:ctrlP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b>
                        <m:sup>
                          <m: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sSup>
                            <m:sSupPr>
                              <m:ctrlPr>
                                <a:rPr lang="es-ES" sz="1400" b="0" i="1" smtClean="0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1400" b="0" i="1" smtClean="0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s-ES" sz="1400" b="0" i="1" smtClean="0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</a:rPr>
                                <m:t>−2</m:t>
                              </m:r>
                              <m:sSubSup>
                                <m:sSubSupPr>
                                  <m:ctrlPr>
                                    <a:rPr lang="es-ES" sz="1400" b="0" i="1" smtClean="0">
                                      <a:solidFill>
                                        <a:srgbClr val="004479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s-ES" sz="1400" b="0" i="1" smtClean="0">
                                      <a:solidFill>
                                        <a:srgbClr val="004479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s-ES" sz="1400" b="0" i="1" smtClean="0">
                                      <a:solidFill>
                                        <a:srgbClr val="004479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s-ES" sz="1400" b="0" i="1" smtClean="0">
                                      <a:solidFill>
                                        <a:srgbClr val="004479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  <m:sSubSup>
                                <m:sSubSupPr>
                                  <m:ctrlPr>
                                    <a:rPr lang="es-ES" sz="1400" b="0" i="1" smtClean="0">
                                      <a:solidFill>
                                        <a:srgbClr val="004479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s-ES" sz="1400" b="0" i="1" smtClean="0">
                                      <a:solidFill>
                                        <a:srgbClr val="004479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s-ES" sz="1400" b="0" i="1" smtClean="0">
                                      <a:solidFill>
                                        <a:srgbClr val="004479"/>
                                      </a:solidFill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  <m:sup>
                                  <m:r>
                                    <a:rPr lang="es-ES" sz="1400" b="0" i="1" smtClean="0">
                                      <a:solidFill>
                                        <a:srgbClr val="004479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sup>
                          </m:sSup>
                          <m:d>
                            <m:dPr>
                              <m:begChr m:val="["/>
                              <m:endChr m:val="]"/>
                              <m:ctrlPr>
                                <a:rPr lang="es-ES" sz="1400" b="0" i="1" smtClean="0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trlPr>
                                    <a:rPr lang="es-ES" sz="1400" b="0" i="1" smtClean="0">
                                      <a:solidFill>
                                        <a:srgbClr val="004479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s-ES" sz="1400" b="0" i="1" smtClean="0">
                                      <a:solidFill>
                                        <a:srgbClr val="004479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s-ES" sz="1400" b="0" i="1" smtClean="0">
                                      <a:solidFill>
                                        <a:srgbClr val="004479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∞</m:t>
                                  </m:r>
                                </m:sub>
                                <m:sup>
                                  <m:r>
                                    <a:rPr lang="es-ES" sz="1400" b="0" i="1" smtClean="0">
                                      <a:solidFill>
                                        <a:srgbClr val="004479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s-ES" sz="1400" b="0" i="1" smtClean="0">
                                      <a:solidFill>
                                        <a:srgbClr val="004479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∞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es-ES" sz="1400" b="0" i="1" smtClean="0">
                                          <a:solidFill>
                                            <a:srgbClr val="004479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s-ES" sz="1400" b="0" i="1" smtClean="0">
                                          <a:solidFill>
                                            <a:srgbClr val="004479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sSubSup>
                                        <m:sSubSupPr>
                                          <m:ctrlPr>
                                            <a:rPr lang="es-ES" sz="1400" b="0" i="1" smtClean="0">
                                              <a:solidFill>
                                                <a:srgbClr val="004479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s-ES" sz="1400" b="0" i="1" smtClean="0">
                                              <a:solidFill>
                                                <a:srgbClr val="004479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r>
                                            <a:rPr lang="es-ES" sz="1400" b="0" i="1" smtClean="0">
                                              <a:solidFill>
                                                <a:srgbClr val="004479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e>
                                        <m:sub>
                                          <m:r>
                                            <a:rPr lang="es-ES" sz="1400" b="0" i="1" smtClean="0">
                                              <a:solidFill>
                                                <a:srgbClr val="004479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𝑑</m:t>
                                          </m:r>
                                        </m:sub>
                                        <m:sup>
                                          <m:r>
                                            <a:rPr lang="es-ES" sz="1400" b="0" i="1" smtClean="0">
                                              <a:solidFill>
                                                <a:srgbClr val="004479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  <m:d>
                                        <m:dPr>
                                          <m:ctrlPr>
                                            <a:rPr lang="es-ES" sz="1400" b="0" i="1" smtClean="0">
                                              <a:solidFill>
                                                <a:srgbClr val="004479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f>
                                            <m:fPr>
                                              <m:ctrlPr>
                                                <a:rPr lang="es-ES" sz="1400" b="0" i="1" smtClean="0">
                                                  <a:solidFill>
                                                    <a:srgbClr val="004479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fPr>
                                            <m:num>
                                              <m:sSubSup>
                                                <m:sSubSupPr>
                                                  <m:ctrlPr>
                                                    <a:rPr lang="es-ES" sz="1400" b="0" i="1" smtClean="0">
                                                      <a:solidFill>
                                                        <a:srgbClr val="004479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s-ES" sz="1400" b="0" i="1" smtClean="0">
                                                      <a:solidFill>
                                                        <a:srgbClr val="004479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s-ES" sz="1400" b="0" i="1" smtClean="0">
                                                      <a:solidFill>
                                                        <a:srgbClr val="004479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0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s-ES" sz="1400" b="0" i="1" smtClean="0">
                                                      <a:solidFill>
                                                        <a:srgbClr val="004479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num>
                                            <m:den>
                                              <m:r>
                                                <a:rPr lang="es-ES" sz="1400" b="0" i="1" smtClean="0">
                                                  <a:solidFill>
                                                    <a:srgbClr val="004479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den>
                                          </m:f>
                                          <m:r>
                                            <a:rPr lang="es-ES" sz="1400" b="0" i="1" smtClean="0">
                                              <a:solidFill>
                                                <a:srgbClr val="004479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 +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s-ES" sz="1400" b="0" i="1" smtClean="0">
                                                  <a:solidFill>
                                                    <a:srgbClr val="004479"/>
                                                  </a:solidFill>
                                                  <a:highlight>
                                                    <a:srgbClr val="00FFFF"/>
                                                  </a:highlight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s-ES" sz="1400" b="0" i="1" smtClean="0">
                                                  <a:solidFill>
                                                    <a:srgbClr val="004479"/>
                                                  </a:solidFill>
                                                  <a:highlight>
                                                    <a:srgbClr val="00FFFF"/>
                                                  </a:highlight>
                                                  <a:latin typeface="Cambria Math" panose="02040503050406030204" pitchFamily="18" charset="0"/>
                                                </a:rPr>
                                                <m:t>𝑎</m:t>
                                              </m:r>
                                            </m:e>
                                            <m:sub>
                                              <m:r>
                                                <a:rPr lang="es-ES" sz="1400" b="0" i="1" smtClean="0">
                                                  <a:solidFill>
                                                    <a:srgbClr val="004479"/>
                                                  </a:solidFill>
                                                  <a:highlight>
                                                    <a:srgbClr val="00FFFF"/>
                                                  </a:highlight>
                                                  <a:latin typeface="Cambria Math" panose="02040503050406030204" pitchFamily="18" charset="0"/>
                                                </a:rPr>
                                                <m:t>𝑇</m:t>
                                              </m:r>
                                            </m:sub>
                                          </m:sSub>
                                          <m:r>
                                            <a:rPr lang="es-ES" sz="1400" b="0" i="1" smtClean="0">
                                              <a:solidFill>
                                                <a:srgbClr val="004479"/>
                                              </a:solidFill>
                                              <a:highlight>
                                                <a:srgbClr val="00FFFF"/>
                                              </a:highlight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</m:e>
                                      </m:d>
                                    </m:sup>
                                  </m:sSup>
                                  <m:sSup>
                                    <m:sSupPr>
                                      <m:ctrlPr>
                                        <a:rPr lang="es-ES" sz="1400" b="0" i="1" smtClean="0">
                                          <a:solidFill>
                                            <a:srgbClr val="004479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s-ES" sz="1400" b="0" i="1" smtClean="0">
                                          <a:solidFill>
                                            <a:srgbClr val="004479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es-ES" sz="1400" b="0" i="1" smtClean="0">
                                          <a:solidFill>
                                            <a:srgbClr val="004479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sSub>
                                        <m:sSubPr>
                                          <m:ctrlPr>
                                            <a:rPr lang="es-ES" sz="1400" b="0" i="1" smtClean="0">
                                              <a:solidFill>
                                                <a:srgbClr val="004479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s-ES" sz="1400" b="0" i="1" smtClean="0">
                                              <a:solidFill>
                                                <a:srgbClr val="004479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e>
                                        <m:sub>
                                          <m:r>
                                            <a:rPr lang="es-ES" sz="1400" b="0" i="1" smtClean="0">
                                              <a:solidFill>
                                                <a:srgbClr val="004479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𝑑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s-ES" sz="1400" b="0" i="1" smtClean="0">
                                              <a:solidFill>
                                                <a:srgbClr val="004479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s-ES" sz="1400" b="0" i="1" smtClean="0">
                                              <a:solidFill>
                                                <a:srgbClr val="004479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  <m:r>
                                            <a:rPr lang="es-ES" sz="1400" b="0" i="1" smtClean="0">
                                              <a:solidFill>
                                                <a:srgbClr val="004479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s-ES" sz="1400" b="0" i="1" smtClean="0">
                                                  <a:solidFill>
                                                    <a:srgbClr val="004479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s-ES" sz="1400" b="0" i="1" smtClean="0">
                                                  <a:solidFill>
                                                    <a:srgbClr val="004479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𝛽</m:t>
                                              </m:r>
                                            </m:e>
                                            <m:sub>
                                              <m:r>
                                                <a:rPr lang="es-ES" sz="1400" b="0" i="1" smtClean="0">
                                                  <a:solidFill>
                                                    <a:srgbClr val="004479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  <m:r>
                                            <a:rPr lang="es-ES" sz="1400" b="0" i="1" smtClean="0">
                                              <a:solidFill>
                                                <a:srgbClr val="004479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𝑧</m:t>
                                          </m:r>
                                          <m:r>
                                            <a:rPr lang="es-ES" sz="1400" b="0" i="1" smtClean="0">
                                              <a:solidFill>
                                                <a:srgbClr val="004479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s-ES" sz="1400" b="0" i="1" smtClean="0">
                                                  <a:solidFill>
                                                    <a:srgbClr val="004479"/>
                                                  </a:solidFill>
                                                  <a:highlight>
                                                    <a:srgbClr val="00FFFF"/>
                                                  </a:highlight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s-ES" sz="1400" b="0" i="1" smtClean="0">
                                                  <a:solidFill>
                                                    <a:srgbClr val="004479"/>
                                                  </a:solidFill>
                                                  <a:highlight>
                                                    <a:srgbClr val="00FFFF"/>
                                                  </a:highlight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𝛽</m:t>
                                              </m:r>
                                            </m:e>
                                            <m:sub>
                                              <m:r>
                                                <a:rPr lang="es-ES" sz="1400" b="0" i="1" smtClean="0">
                                                  <a:solidFill>
                                                    <a:srgbClr val="004479"/>
                                                  </a:solidFill>
                                                  <a:highlight>
                                                    <a:srgbClr val="00FFFF"/>
                                                  </a:highlight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sSub>
                                            <m:sSubPr>
                                              <m:ctrlPr>
                                                <a:rPr lang="es-ES" sz="1400" b="0" i="1" smtClean="0">
                                                  <a:solidFill>
                                                    <a:srgbClr val="004479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s-ES" sz="1400" b="0" i="1" smtClean="0">
                                                  <a:solidFill>
                                                    <a:srgbClr val="004479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𝜔</m:t>
                                              </m:r>
                                            </m:e>
                                            <m:sub>
                                              <m:r>
                                                <a:rPr lang="es-ES" sz="1400" b="0" i="1" smtClean="0">
                                                  <a:solidFill>
                                                    <a:srgbClr val="004479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𝑐</m:t>
                                              </m:r>
                                            </m:sub>
                                          </m:sSub>
                                          <m:r>
                                            <a:rPr lang="es-ES" sz="1400" b="0" i="1" smtClean="0">
                                              <a:solidFill>
                                                <a:srgbClr val="004479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𝑧</m:t>
                                          </m:r>
                                        </m:e>
                                      </m:d>
                                    </m:sup>
                                  </m:sSup>
                                  <m:r>
                                    <a:rPr lang="es-ES" sz="1400" b="0" i="1" smtClean="0">
                                      <a:solidFill>
                                        <a:srgbClr val="004479"/>
                                      </a:solidFill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sSub>
                                    <m:sSubPr>
                                      <m:ctrlPr>
                                        <a:rPr lang="es-ES" sz="1400" b="0" i="1" smtClean="0">
                                          <a:solidFill>
                                            <a:srgbClr val="004479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s-ES" sz="1400" b="0" i="1" smtClean="0">
                                          <a:solidFill>
                                            <a:srgbClr val="004479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lang="es-ES" sz="1400" b="0" i="1" smtClean="0">
                                          <a:solidFill>
                                            <a:srgbClr val="004479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d>
                          <m: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s-ES" sz="1400" b="0" i="1" smtClean="0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400" b="0" i="1" smtClean="0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s-ES" sz="1400" b="0" i="1" smtClean="0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s-ES" dirty="0"/>
              </a:p>
            </p:txBody>
          </p:sp>
        </mc:Choice>
        <mc:Fallback xmlns="">
          <p:sp>
            <p:nvSpPr>
              <p:cNvPr id="24" name="CuadroTexto 23">
                <a:extLst>
                  <a:ext uri="{FF2B5EF4-FFF2-40B4-BE49-F238E27FC236}">
                    <a16:creationId xmlns:a16="http://schemas.microsoft.com/office/drawing/2014/main" id="{AF076585-3886-5E78-49CF-32E8971FDA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2160" y="3684304"/>
                <a:ext cx="7140411" cy="505844"/>
              </a:xfrm>
              <a:prstGeom prst="rect">
                <a:avLst/>
              </a:prstGeom>
              <a:blipFill>
                <a:blip r:embed="rId6"/>
                <a:stretch>
                  <a:fillRect b="-1205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CuadroTexto 25">
            <a:extLst>
              <a:ext uri="{FF2B5EF4-FFF2-40B4-BE49-F238E27FC236}">
                <a16:creationId xmlns:a16="http://schemas.microsoft.com/office/drawing/2014/main" id="{77952203-22D8-AE04-BB6C-6BD03D919499}"/>
              </a:ext>
            </a:extLst>
          </p:cNvPr>
          <p:cNvSpPr txBox="1"/>
          <p:nvPr/>
        </p:nvSpPr>
        <p:spPr>
          <a:xfrm>
            <a:off x="1052160" y="1616019"/>
            <a:ext cx="565573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400" b="1" dirty="0">
                <a:solidFill>
                  <a:srgbClr val="004479"/>
                </a:solidFill>
              </a:rPr>
              <a:t>4. MCF aproximación campo cercano:</a:t>
            </a: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79E2BDB7-A755-2817-2D9C-AEA7C6FCF96B}"/>
              </a:ext>
            </a:extLst>
          </p:cNvPr>
          <p:cNvSpPr/>
          <p:nvPr/>
        </p:nvSpPr>
        <p:spPr>
          <a:xfrm>
            <a:off x="4938484" y="2321753"/>
            <a:ext cx="3176816" cy="508156"/>
          </a:xfrm>
          <a:prstGeom prst="rect">
            <a:avLst/>
          </a:prstGeom>
          <a:noFill/>
          <a:ln>
            <a:solidFill>
              <a:srgbClr val="00AAD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D060A8E0-FB18-3F3C-D74E-0C35EE4EA5D2}"/>
              </a:ext>
            </a:extLst>
          </p:cNvPr>
          <p:cNvSpPr txBox="1"/>
          <p:nvPr/>
        </p:nvSpPr>
        <p:spPr>
          <a:xfrm>
            <a:off x="563627" y="3181412"/>
            <a:ext cx="740350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400" b="1" dirty="0">
                <a:solidFill>
                  <a:srgbClr val="004479"/>
                </a:solidFill>
              </a:rPr>
              <a:t>5. Irradiancia promedio con dispersión cromática añadida además de turbulencia atmosférica:</a:t>
            </a: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D35167A3-9CDA-AD66-E8CD-215FC00B49C7}"/>
              </a:ext>
            </a:extLst>
          </p:cNvPr>
          <p:cNvSpPr txBox="1"/>
          <p:nvPr/>
        </p:nvSpPr>
        <p:spPr>
          <a:xfrm>
            <a:off x="563627" y="4397835"/>
            <a:ext cx="569383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400" b="1" dirty="0">
                <a:solidFill>
                  <a:srgbClr val="004479"/>
                </a:solidFill>
              </a:rPr>
              <a:t>6. Factor de ensanchado, ambos efectos </a:t>
            </a:r>
            <a:endParaRPr lang="es-ES" sz="1400" dirty="0"/>
          </a:p>
        </p:txBody>
      </p:sp>
    </p:spTree>
    <p:extLst>
      <p:ext uri="{BB962C8B-B14F-4D97-AF65-F5344CB8AC3E}">
        <p14:creationId xmlns:p14="http://schemas.microsoft.com/office/powerpoint/2010/main" val="4706031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B21002-D89F-2CBA-3235-6525B71861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E2E648D5-43FF-54BC-5750-9FCF78B4678F}"/>
              </a:ext>
            </a:extLst>
          </p:cNvPr>
          <p:cNvSpPr txBox="1"/>
          <p:nvPr/>
        </p:nvSpPr>
        <p:spPr>
          <a:xfrm>
            <a:off x="327188" y="305396"/>
            <a:ext cx="675941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800" b="1" dirty="0">
                <a:solidFill>
                  <a:srgbClr val="004479"/>
                </a:solidFill>
              </a:rPr>
              <a:t>Modelos teóricos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5599106C-EEE2-94E8-6127-628593C6F83B}"/>
              </a:ext>
            </a:extLst>
          </p:cNvPr>
          <p:cNvSpPr txBox="1"/>
          <p:nvPr/>
        </p:nvSpPr>
        <p:spPr>
          <a:xfrm>
            <a:off x="478548" y="729875"/>
            <a:ext cx="67594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dirty="0">
                <a:solidFill>
                  <a:srgbClr val="00AAD6"/>
                </a:solidFill>
              </a:rPr>
              <a:t>Medio oceánico</a:t>
            </a:r>
          </a:p>
        </p:txBody>
      </p: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4567F2CD-D0AC-FAB1-2203-F340DC05A795}"/>
              </a:ext>
            </a:extLst>
          </p:cNvPr>
          <p:cNvCxnSpPr>
            <a:cxnSpLocks/>
          </p:cNvCxnSpPr>
          <p:nvPr/>
        </p:nvCxnSpPr>
        <p:spPr>
          <a:xfrm>
            <a:off x="415773" y="1265941"/>
            <a:ext cx="3442481" cy="0"/>
          </a:xfrm>
          <a:prstGeom prst="line">
            <a:avLst/>
          </a:prstGeom>
          <a:ln>
            <a:solidFill>
              <a:srgbClr val="00AAD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FA7EA3B5-E12E-CC62-283D-1801D1138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FE5F45-1FFF-D043-8DCE-2BE364C338E3}" type="slidenum">
              <a:rPr lang="es-ES" smtClean="0"/>
              <a:t>12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7BB3B546-8E66-93A8-596E-F53B6DB29C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>
                <a:solidFill>
                  <a:schemeClr val="bg1"/>
                </a:solidFill>
              </a:rPr>
              <a:t>Dispersión y turbulencia en pulsos ultracortos: escenarios atmosférico y oceánico</a:t>
            </a:r>
          </a:p>
          <a:p>
            <a:endParaRPr lang="es-ES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50489C3B-8680-7961-4260-055AAB3175D4}"/>
              </a:ext>
            </a:extLst>
          </p:cNvPr>
          <p:cNvSpPr txBox="1"/>
          <p:nvPr/>
        </p:nvSpPr>
        <p:spPr>
          <a:xfrm>
            <a:off x="-1365224" y="1116933"/>
            <a:ext cx="9160021" cy="13603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>
              <a:lnSpc>
                <a:spcPct val="200000"/>
              </a:lnSpc>
            </a:pPr>
            <a:endParaRPr lang="es-ES" sz="2400" b="1" dirty="0">
              <a:solidFill>
                <a:srgbClr val="004479"/>
              </a:solidFill>
            </a:endParaRPr>
          </a:p>
          <a:p>
            <a:pPr lvl="2" algn="just">
              <a:lnSpc>
                <a:spcPct val="200000"/>
              </a:lnSpc>
            </a:pPr>
            <a:r>
              <a:rPr lang="es-ES" sz="2000" dirty="0">
                <a:solidFill>
                  <a:srgbClr val="004479"/>
                </a:solidFill>
              </a:rPr>
              <a:t>	</a:t>
            </a:r>
            <a:endParaRPr lang="es-ES" sz="2000" dirty="0">
              <a:solidFill>
                <a:srgbClr val="004479"/>
              </a:solidFill>
              <a:latin typeface="Malacitana-Sans" pitchFamily="2" charset="77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01AFC424-2478-BA3D-03D8-F5794A118ECB}"/>
              </a:ext>
            </a:extLst>
          </p:cNvPr>
          <p:cNvSpPr txBox="1"/>
          <p:nvPr/>
        </p:nvSpPr>
        <p:spPr>
          <a:xfrm>
            <a:off x="240385" y="4807229"/>
            <a:ext cx="8918394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00AAD6"/>
                </a:solidFill>
              </a:rPr>
              <a:t>[6] R. C. Millard y G. Seaver, “An index of refraction algorithm for seawater over temperature, pressure, salinity, density, and wavelength”, Deep-Sea </a:t>
            </a:r>
            <a:r>
              <a:rPr lang="es-ES" sz="1200" dirty="0" err="1">
                <a:solidFill>
                  <a:srgbClr val="00AAD6"/>
                </a:solidFill>
              </a:rPr>
              <a:t>Research</a:t>
            </a:r>
            <a:r>
              <a:rPr lang="es-ES" sz="1200" dirty="0">
                <a:solidFill>
                  <a:srgbClr val="00AAD6"/>
                </a:solidFill>
              </a:rPr>
              <a:t>, Vol.37, </a:t>
            </a:r>
            <a:r>
              <a:rPr lang="es-ES" sz="1200" dirty="0" err="1">
                <a:solidFill>
                  <a:srgbClr val="00AAD6"/>
                </a:solidFill>
              </a:rPr>
              <a:t>Nº</a:t>
            </a:r>
            <a:r>
              <a:rPr lang="es-ES" sz="1200" dirty="0">
                <a:solidFill>
                  <a:srgbClr val="00AAD6"/>
                </a:solidFill>
              </a:rPr>
              <a:t> 12, Diciembre, 1990, pp. 1909-1926.</a:t>
            </a:r>
            <a:endParaRPr lang="en-US" sz="1200" b="0" i="0" u="none" strike="noStrike" baseline="0" dirty="0">
              <a:solidFill>
                <a:srgbClr val="00AAD6"/>
              </a:solidFill>
            </a:endParaRPr>
          </a:p>
          <a:p>
            <a:pPr algn="l"/>
            <a:r>
              <a:rPr lang="en-US" sz="1200" b="0" i="0" u="none" strike="noStrike" baseline="0" dirty="0">
                <a:solidFill>
                  <a:srgbClr val="00AAD6"/>
                </a:solidFill>
              </a:rPr>
              <a:t>[7] J. Yao, M. </a:t>
            </a:r>
            <a:r>
              <a:rPr lang="en-US" sz="1200" b="0" i="0" u="none" strike="noStrike" baseline="0" dirty="0" err="1">
                <a:solidFill>
                  <a:srgbClr val="00AAD6"/>
                </a:solidFill>
              </a:rPr>
              <a:t>Elamassie</a:t>
            </a:r>
            <a:r>
              <a:rPr lang="en-US" sz="1200" b="0" i="0" u="none" strike="noStrike" baseline="0" dirty="0">
                <a:solidFill>
                  <a:srgbClr val="00AAD6"/>
                </a:solidFill>
              </a:rPr>
              <a:t> y O. Korotkova, “Spatial power spectrum of natural water turbulence with any average temperature, salinity concentration and light wavelength”, Journal of the Optical Society of America A, Vol. 37, </a:t>
            </a:r>
            <a:r>
              <a:rPr lang="es-ES" sz="1200" b="0" i="0" u="none" strike="noStrike" baseline="0" dirty="0" err="1">
                <a:solidFill>
                  <a:srgbClr val="00AAD6"/>
                </a:solidFill>
              </a:rPr>
              <a:t>Nº</a:t>
            </a:r>
            <a:r>
              <a:rPr lang="es-ES" sz="1200" b="0" i="0" u="none" strike="noStrike" baseline="0" dirty="0">
                <a:solidFill>
                  <a:srgbClr val="00AAD6"/>
                </a:solidFill>
              </a:rPr>
              <a:t> 10, Octubre, 2020, pp. 1614-1621.</a:t>
            </a:r>
          </a:p>
          <a:p>
            <a:pPr algn="l"/>
            <a:r>
              <a:rPr lang="en-US" sz="1200" b="0" i="0" u="none" strike="noStrike" baseline="0" dirty="0">
                <a:solidFill>
                  <a:srgbClr val="00AAD6"/>
                </a:solidFill>
              </a:rPr>
              <a:t>[</a:t>
            </a:r>
            <a:r>
              <a:rPr lang="en-US" sz="1200" dirty="0">
                <a:solidFill>
                  <a:srgbClr val="00AAD6"/>
                </a:solidFill>
              </a:rPr>
              <a:t>8</a:t>
            </a:r>
            <a:r>
              <a:rPr lang="en-US" sz="1200" b="0" i="0" u="none" strike="noStrike" baseline="0" dirty="0">
                <a:solidFill>
                  <a:srgbClr val="00AAD6"/>
                </a:solidFill>
              </a:rPr>
              <a:t>] S. A. Thorpe, The Turbulent Ocean. Cambridge: Cambridge University </a:t>
            </a:r>
            <a:r>
              <a:rPr lang="es-ES" sz="1200" b="0" i="0" u="none" strike="noStrike" baseline="0" dirty="0" err="1">
                <a:solidFill>
                  <a:srgbClr val="00AAD6"/>
                </a:solidFill>
              </a:rPr>
              <a:t>Press</a:t>
            </a:r>
            <a:r>
              <a:rPr lang="es-ES" sz="1200" b="0" i="0" u="none" strike="noStrike" baseline="0" dirty="0">
                <a:solidFill>
                  <a:srgbClr val="00AAD6"/>
                </a:solidFill>
              </a:rPr>
              <a:t>, 2005.</a:t>
            </a:r>
          </a:p>
          <a:p>
            <a:pPr algn="l"/>
            <a:r>
              <a:rPr lang="en-US" sz="1200" b="0" i="0" u="none" strike="noStrike" baseline="0" dirty="0">
                <a:solidFill>
                  <a:srgbClr val="00AAD6"/>
                </a:solidFill>
              </a:rPr>
              <a:t>[</a:t>
            </a:r>
            <a:r>
              <a:rPr lang="en-US" sz="1200" dirty="0">
                <a:solidFill>
                  <a:srgbClr val="00AAD6"/>
                </a:solidFill>
              </a:rPr>
              <a:t>9</a:t>
            </a:r>
            <a:r>
              <a:rPr lang="en-US" sz="1200" b="0" i="0" u="none" strike="noStrike" baseline="0" dirty="0">
                <a:solidFill>
                  <a:srgbClr val="00AAD6"/>
                </a:solidFill>
              </a:rPr>
              <a:t>] S. A. Thorpe, An Introduction to Ocean Turbulence. Cambridge: Cambridge </a:t>
            </a:r>
            <a:r>
              <a:rPr lang="es-ES" sz="1200" b="0" i="0" u="none" strike="noStrike" baseline="0" dirty="0" err="1">
                <a:solidFill>
                  <a:srgbClr val="00AAD6"/>
                </a:solidFill>
              </a:rPr>
              <a:t>University</a:t>
            </a:r>
            <a:r>
              <a:rPr lang="es-ES" sz="1200" b="0" i="0" u="none" strike="noStrike" baseline="0" dirty="0">
                <a:solidFill>
                  <a:srgbClr val="00AAD6"/>
                </a:solidFill>
              </a:rPr>
              <a:t> </a:t>
            </a:r>
            <a:r>
              <a:rPr lang="es-ES" sz="1200" b="0" i="0" u="none" strike="noStrike" baseline="0" dirty="0" err="1">
                <a:solidFill>
                  <a:srgbClr val="00AAD6"/>
                </a:solidFill>
              </a:rPr>
              <a:t>Press</a:t>
            </a:r>
            <a:r>
              <a:rPr lang="es-ES" sz="1200" b="0" i="0" u="none" strike="noStrike" baseline="0" dirty="0">
                <a:solidFill>
                  <a:srgbClr val="00AAD6"/>
                </a:solidFill>
              </a:rPr>
              <a:t>, 2007.</a:t>
            </a:r>
          </a:p>
          <a:p>
            <a:pPr algn="l"/>
            <a:r>
              <a:rPr lang="es-ES" sz="1200" b="0" i="0" u="none" strike="noStrike" baseline="0" dirty="0">
                <a:solidFill>
                  <a:srgbClr val="00AAD6"/>
                </a:solidFill>
              </a:rPr>
              <a:t>[</a:t>
            </a:r>
            <a:r>
              <a:rPr lang="es-ES" sz="1200" dirty="0">
                <a:solidFill>
                  <a:srgbClr val="00AAD6"/>
                </a:solidFill>
              </a:rPr>
              <a:t>10</a:t>
            </a:r>
            <a:r>
              <a:rPr lang="es-ES" sz="1200" b="0" i="0" u="none" strike="noStrike" baseline="0" dirty="0">
                <a:solidFill>
                  <a:srgbClr val="00AAD6"/>
                </a:solidFill>
              </a:rPr>
              <a:t>] J.-R. Yao, H.-T. Wang, H.-J. Zhang, J.-D. </a:t>
            </a:r>
            <a:r>
              <a:rPr lang="es-ES" sz="1200" b="0" i="0" u="none" strike="noStrike" baseline="0" dirty="0" err="1">
                <a:solidFill>
                  <a:srgbClr val="00AAD6"/>
                </a:solidFill>
              </a:rPr>
              <a:t>Cai</a:t>
            </a:r>
            <a:r>
              <a:rPr lang="es-ES" sz="1200" b="0" i="0" u="none" strike="noStrike" baseline="0" dirty="0">
                <a:solidFill>
                  <a:srgbClr val="00AAD6"/>
                </a:solidFill>
              </a:rPr>
              <a:t>, M.-Y. Ren, Y. Zhang y O. </a:t>
            </a:r>
            <a:r>
              <a:rPr lang="es-ES" sz="1200" b="0" i="0" u="none" strike="noStrike" baseline="0" dirty="0" err="1">
                <a:solidFill>
                  <a:srgbClr val="00AAD6"/>
                </a:solidFill>
              </a:rPr>
              <a:t>Korotkova</a:t>
            </a:r>
            <a:r>
              <a:rPr lang="es-ES" sz="1200" b="0" i="0" u="none" strike="noStrike" baseline="0" dirty="0">
                <a:solidFill>
                  <a:srgbClr val="00AAD6"/>
                </a:solidFill>
              </a:rPr>
              <a:t>, </a:t>
            </a:r>
            <a:r>
              <a:rPr lang="en-US" sz="1200" b="0" i="0" u="none" strike="noStrike" baseline="0" dirty="0">
                <a:solidFill>
                  <a:srgbClr val="00AAD6"/>
                </a:solidFill>
              </a:rPr>
              <a:t>“Oceanic non-Kolmogorov optical turbulence and spherical wave </a:t>
            </a:r>
            <a:r>
              <a:rPr lang="es-ES" sz="1200" b="0" i="0" u="none" strike="noStrike" baseline="0" dirty="0">
                <a:solidFill>
                  <a:srgbClr val="00AAD6"/>
                </a:solidFill>
              </a:rPr>
              <a:t>propagation”, </a:t>
            </a:r>
            <a:r>
              <a:rPr lang="es-ES" sz="1200" b="0" i="0" u="none" strike="noStrike" baseline="0" dirty="0" err="1">
                <a:solidFill>
                  <a:srgbClr val="00AAD6"/>
                </a:solidFill>
              </a:rPr>
              <a:t>Optics</a:t>
            </a:r>
            <a:r>
              <a:rPr lang="es-ES" sz="1200" b="0" i="0" u="none" strike="noStrike" baseline="0" dirty="0">
                <a:solidFill>
                  <a:srgbClr val="00AAD6"/>
                </a:solidFill>
              </a:rPr>
              <a:t> Express, Vol.29, </a:t>
            </a:r>
            <a:r>
              <a:rPr lang="es-ES" sz="1200" b="0" i="0" u="none" strike="noStrike" baseline="0" dirty="0" err="1">
                <a:solidFill>
                  <a:srgbClr val="00AAD6"/>
                </a:solidFill>
              </a:rPr>
              <a:t>Nº</a:t>
            </a:r>
            <a:r>
              <a:rPr lang="es-ES" sz="1200" b="0" i="0" u="none" strike="noStrike" baseline="0" dirty="0">
                <a:solidFill>
                  <a:srgbClr val="00AAD6"/>
                </a:solidFill>
              </a:rPr>
              <a:t> 2, Enero, 2021, pp. 1340-1357.</a:t>
            </a:r>
            <a:endParaRPr lang="es-ES" sz="1200" dirty="0">
              <a:solidFill>
                <a:srgbClr val="00AAD6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uadroTexto 14">
                <a:extLst>
                  <a:ext uri="{FF2B5EF4-FFF2-40B4-BE49-F238E27FC236}">
                    <a16:creationId xmlns:a16="http://schemas.microsoft.com/office/drawing/2014/main" id="{F7EBF36E-8235-39EB-FDB7-B9F69EE1CFB6}"/>
                  </a:ext>
                </a:extLst>
              </p:cNvPr>
              <p:cNvSpPr txBox="1"/>
              <p:nvPr/>
            </p:nvSpPr>
            <p:spPr>
              <a:xfrm>
                <a:off x="4752495" y="2433485"/>
                <a:ext cx="3286605" cy="30700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s-ES" sz="1400" b="0" i="1" smtClean="0">
                        <a:solidFill>
                          <a:srgbClr val="004479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d>
                      <m:dPr>
                        <m:ctrlPr>
                          <a:rPr lang="es-ES" sz="1400" b="0" i="1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" sz="1400" b="0" i="1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</m:d>
                    <m:r>
                      <a:rPr lang="es-ES" sz="1400" b="0" i="1" smtClean="0">
                        <a:solidFill>
                          <a:srgbClr val="004479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s-ES" sz="1400" i="1" dirty="0">
                    <a:solidFill>
                      <a:srgbClr val="004479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400" i="1" dirty="0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400" b="0" i="1" dirty="0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s-ES" sz="1400" b="0" i="1" dirty="0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s-ES" sz="1400" b="0" i="1" dirty="0" smtClean="0">
                        <a:solidFill>
                          <a:srgbClr val="004479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s-ES" sz="1400" i="1" dirty="0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s-ES" sz="1400" b="0" i="1" dirty="0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</m:num>
                      <m:den>
                        <m:r>
                          <a:rPr lang="es-ES" sz="1400" i="1" dirty="0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den>
                    </m:f>
                    <m:r>
                      <a:rPr lang="es-ES" sz="1400" b="0" i="1" dirty="0" smtClean="0">
                        <a:solidFill>
                          <a:srgbClr val="004479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s-ES" sz="1400" i="1" dirty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s-ES" sz="1400" b="0" i="1" dirty="0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</m:num>
                      <m:den>
                        <m:sSup>
                          <m:sSupPr>
                            <m:ctrlPr>
                              <a:rPr lang="es-ES" sz="1400" i="1" dirty="0" smtClean="0">
                                <a:solidFill>
                                  <a:srgbClr val="004479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s-ES" sz="1400" i="1" dirty="0" smtClean="0">
                                <a:solidFill>
                                  <a:srgbClr val="004479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p>
                            <m:r>
                              <a:rPr lang="es-ES" sz="1400" b="0" i="1" dirty="0" smtClean="0">
                                <a:solidFill>
                                  <a:srgbClr val="004479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es-ES" sz="1400" b="0" i="1" dirty="0" smtClean="0">
                        <a:solidFill>
                          <a:srgbClr val="004479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+ </m:t>
                    </m:r>
                    <m:r>
                      <a:rPr lang="es-ES" sz="1400" b="0" i="1" dirty="0" smtClean="0">
                        <a:solidFill>
                          <a:srgbClr val="004479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  <m:sSup>
                      <m:sSupPr>
                        <m:ctrlPr>
                          <a:rPr lang="es-ES" sz="1400" b="0" i="1" dirty="0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s-ES" sz="1400" b="0" i="1" dirty="0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p>
                        <m:r>
                          <a:rPr lang="es-ES" sz="1400" b="0" i="1" dirty="0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s-ES" sz="1400" b="0" i="1" dirty="0" smtClean="0">
                        <a:solidFill>
                          <a:srgbClr val="004479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s-ES" sz="1400" b="0" i="1" dirty="0" smtClean="0">
                        <a:solidFill>
                          <a:srgbClr val="004479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𝐷</m:t>
                    </m:r>
                    <m:sSup>
                      <m:sSupPr>
                        <m:ctrlPr>
                          <a:rPr lang="es-ES" sz="1400" b="0" i="1" dirty="0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s-ES" sz="1400" b="0" i="1" dirty="0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p>
                        <m:r>
                          <a:rPr lang="es-ES" sz="1400" b="0" i="1" dirty="0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es-ES" sz="1400" b="0" i="1" dirty="0" smtClean="0">
                        <a:solidFill>
                          <a:srgbClr val="004479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 </m:t>
                    </m:r>
                    <m:r>
                      <a:rPr lang="es-ES" sz="1400" b="0" i="1" dirty="0" smtClean="0">
                        <a:solidFill>
                          <a:srgbClr val="004479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</m:t>
                    </m:r>
                    <m:sSup>
                      <m:sSupPr>
                        <m:ctrlPr>
                          <a:rPr lang="es-ES" sz="1400" b="0" i="1" dirty="0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s-ES" sz="1400" b="0" i="1" dirty="0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p>
                        <m:r>
                          <a:rPr lang="es-ES" sz="1400" b="0" i="1" dirty="0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6</m:t>
                        </m:r>
                      </m:sup>
                    </m:sSup>
                  </m:oMath>
                </a14:m>
                <a:endParaRPr lang="es-ES" sz="14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5" name="CuadroTexto 14">
                <a:extLst>
                  <a:ext uri="{FF2B5EF4-FFF2-40B4-BE49-F238E27FC236}">
                    <a16:creationId xmlns:a16="http://schemas.microsoft.com/office/drawing/2014/main" id="{F7EBF36E-8235-39EB-FDB7-B9F69EE1CF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2495" y="2433485"/>
                <a:ext cx="3286605" cy="307007"/>
              </a:xfrm>
              <a:prstGeom prst="rect">
                <a:avLst/>
              </a:prstGeom>
              <a:blipFill>
                <a:blip r:embed="rId2"/>
                <a:stretch>
                  <a:fillRect l="-1484" r="-186" b="-9804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uadroTexto 16">
                <a:extLst>
                  <a:ext uri="{FF2B5EF4-FFF2-40B4-BE49-F238E27FC236}">
                    <a16:creationId xmlns:a16="http://schemas.microsoft.com/office/drawing/2014/main" id="{71C88101-34BD-7B69-37FC-782FDF403C47}"/>
                  </a:ext>
                </a:extLst>
              </p:cNvPr>
              <p:cNvSpPr txBox="1"/>
              <p:nvPr/>
            </p:nvSpPr>
            <p:spPr>
              <a:xfrm>
                <a:off x="240385" y="4154322"/>
                <a:ext cx="8784452" cy="47942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40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1400" i="1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𝛷</m:t>
                          </m:r>
                        </m:e>
                        <m:sub>
                          <m: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400" i="1">
                          <a:solidFill>
                            <a:srgbClr val="004479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1400" i="1">
                          <a:solidFill>
                            <a:srgbClr val="004479"/>
                          </a:solidFill>
                          <a:latin typeface="Cambria Math" panose="02040503050406030204" pitchFamily="18" charset="0"/>
                        </a:rPr>
                        <m:t>𝑂𝑇𝑂𝑃𝑆</m:t>
                      </m:r>
                      <m:d>
                        <m:dPr>
                          <m:ctrlPr>
                            <a:rPr lang="es-ES" sz="1400" i="1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400" i="1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𝜅</m:t>
                          </m:r>
                        </m:e>
                      </m:d>
                      <m:r>
                        <a:rPr lang="en-US" sz="1400" i="1">
                          <a:solidFill>
                            <a:srgbClr val="004479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sz="1400" b="0" i="1" smtClean="0">
                          <a:solidFill>
                            <a:srgbClr val="004479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begChr m:val="["/>
                          <m:endChr m:val="]"/>
                          <m:ctrlP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</a:rPr>
                            <m:t>1 + 21.52</m:t>
                          </m:r>
                          <m:sSup>
                            <m:sSupPr>
                              <m:ctrlPr>
                                <a:rPr lang="es-ES" sz="1400" b="0" i="1" smtClean="0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s-ES" sz="1400" b="0" i="1" smtClean="0">
                                      <a:solidFill>
                                        <a:srgbClr val="004479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s-ES" sz="1400" b="0" i="1" smtClean="0">
                                      <a:solidFill>
                                        <a:srgbClr val="004479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𝜅𝜂</m:t>
                                  </m:r>
                                </m:e>
                              </m:d>
                            </m:e>
                            <m:sup>
                              <m:r>
                                <a:rPr lang="es-ES" sz="1400" b="0" i="1" smtClean="0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</a:rPr>
                                <m:t>0.63</m:t>
                              </m:r>
                            </m:sup>
                          </m:sSup>
                          <m:sSubSup>
                            <m:sSubSupPr>
                              <m:ctrlPr>
                                <a:rPr lang="es-ES" sz="1400" b="0" i="1" smtClean="0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s-ES" sz="1400" b="0" i="1" smtClean="0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s-ES" sz="1400" b="0" i="1" smtClean="0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s-ES" sz="1400" b="0" i="1" smtClean="0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</a:rPr>
                                <m:t>0.02</m:t>
                              </m:r>
                            </m:sup>
                          </m:sSubSup>
                          <m: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−18.17</m:t>
                          </m:r>
                          <m:sSup>
                            <m:sSupPr>
                              <m:ctrlPr>
                                <a:rPr lang="es-ES" sz="1400" i="1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s-ES" sz="1400" i="1">
                                      <a:solidFill>
                                        <a:srgbClr val="004479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s-ES" sz="1400" i="1">
                                      <a:solidFill>
                                        <a:srgbClr val="004479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𝜅𝜂</m:t>
                                  </m:r>
                                </m:e>
                              </m:d>
                            </m:e>
                            <m:sup>
                              <m:r>
                                <a:rPr lang="es-ES" sz="1400" i="1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</a:rPr>
                                <m:t>0.</m:t>
                              </m:r>
                              <m:r>
                                <a:rPr lang="es-ES" sz="1400" b="0" i="1" smtClean="0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</a:rPr>
                                <m:t>58</m:t>
                              </m:r>
                            </m:sup>
                          </m:sSup>
                          <m:sSubSup>
                            <m:sSubSupPr>
                              <m:ctrlPr>
                                <a:rPr lang="es-ES" sz="1400" i="1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s-ES" sz="1400" i="1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s-ES" sz="1400" i="1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s-ES" sz="1400" i="1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</a:rPr>
                                <m:t>0.0</m:t>
                              </m:r>
                              <m:r>
                                <a:rPr lang="es-ES" sz="1400" b="0" i="1" smtClean="0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p>
                          </m:sSubSup>
                          <m:r>
                            <a:rPr lang="es-ES" sz="140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f>
                            <m:fPr>
                              <m:ctrlPr>
                                <a:rPr lang="es-ES" sz="1400" i="1" smtClean="0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ES" sz="1400" b="0" i="1" smtClean="0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s-ES" sz="1400" b="0" i="1" smtClean="0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s-ES" sz="1400" b="0" i="1" smtClean="0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den>
                          </m:f>
                          <m:r>
                            <a:rPr lang="es-ES" sz="140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  <m:sSup>
                            <m:sSupPr>
                              <m:ctrlPr>
                                <a:rPr lang="es-ES" sz="1400" i="1" smtClean="0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1400" i="1" smtClean="0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𝜅</m:t>
                              </m:r>
                            </m:e>
                            <m:sup>
                              <m:r>
                                <a:rPr lang="es-ES" sz="1400" b="0" i="1" smtClean="0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−11/3</m:t>
                              </m:r>
                            </m:sup>
                          </m:sSup>
                          <m:sSub>
                            <m:sSubPr>
                              <m:ctrlPr>
                                <a:rPr lang="es-ES" sz="1400" i="1" smtClean="0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400" i="1" smtClean="0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𝜒</m:t>
                              </m:r>
                            </m:e>
                            <m:sub>
                              <m:r>
                                <a:rPr lang="es-ES" sz="1400" b="0" i="1" smtClean="0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𝑒𝑥𝑝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s-ES" sz="1400" b="0" i="1" smtClean="0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" sz="1400" b="0" i="1" smtClean="0">
                                  <a:solidFill>
                                    <a:srgbClr val="004479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−176.41</m:t>
                              </m:r>
                              <m:sSup>
                                <m:sSupPr>
                                  <m:ctrlPr>
                                    <a:rPr lang="es-ES" sz="1400" i="1">
                                      <a:solidFill>
                                        <a:srgbClr val="004479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s-ES" sz="1400" i="1">
                                          <a:solidFill>
                                            <a:srgbClr val="004479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s-ES" sz="1400" i="1">
                                          <a:solidFill>
                                            <a:srgbClr val="004479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𝜅𝜂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s-ES" sz="1400" b="0" i="1" smtClean="0">
                                      <a:solidFill>
                                        <a:srgbClr val="004479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sSubSup>
                                <m:sSubSupPr>
                                  <m:ctrlPr>
                                    <a:rPr lang="es-ES" sz="1400" i="1">
                                      <a:solidFill>
                                        <a:srgbClr val="004479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s-ES" sz="1400" i="1">
                                      <a:solidFill>
                                        <a:srgbClr val="004479"/>
                                      </a:solidFill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s-ES" sz="1400" i="1">
                                      <a:solidFill>
                                        <a:srgbClr val="004479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s-ES" sz="1400" i="1">
                                      <a:solidFill>
                                        <a:srgbClr val="004479"/>
                                      </a:solidFill>
                                      <a:latin typeface="Cambria Math" panose="02040503050406030204" pitchFamily="18" charset="0"/>
                                    </a:rPr>
                                    <m:t>0.</m:t>
                                  </m:r>
                                  <m:r>
                                    <a:rPr lang="es-ES" sz="1400" b="0" i="1" smtClean="0">
                                      <a:solidFill>
                                        <a:srgbClr val="004479"/>
                                      </a:solidFill>
                                      <a:latin typeface="Cambria Math" panose="02040503050406030204" pitchFamily="18" charset="0"/>
                                    </a:rPr>
                                    <m:t>96</m:t>
                                  </m:r>
                                </m:sup>
                              </m:sSubSup>
                            </m:e>
                          </m:d>
                        </m:e>
                      </m:d>
                    </m:oMath>
                  </m:oMathPara>
                </a14:m>
                <a:endParaRPr lang="es-ES" i="1" dirty="0"/>
              </a:p>
            </p:txBody>
          </p:sp>
        </mc:Choice>
        <mc:Fallback xmlns="">
          <p:sp>
            <p:nvSpPr>
              <p:cNvPr id="17" name="CuadroTexto 16">
                <a:extLst>
                  <a:ext uri="{FF2B5EF4-FFF2-40B4-BE49-F238E27FC236}">
                    <a16:creationId xmlns:a16="http://schemas.microsoft.com/office/drawing/2014/main" id="{71C88101-34BD-7B69-37FC-782FDF403C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0385" y="4154322"/>
                <a:ext cx="8784452" cy="47942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uadroTexto 18">
                <a:extLst>
                  <a:ext uri="{FF2B5EF4-FFF2-40B4-BE49-F238E27FC236}">
                    <a16:creationId xmlns:a16="http://schemas.microsoft.com/office/drawing/2014/main" id="{F78A5B2E-E393-F576-4C74-ED38F9E84F51}"/>
                  </a:ext>
                </a:extLst>
              </p:cNvPr>
              <p:cNvSpPr txBox="1"/>
              <p:nvPr/>
            </p:nvSpPr>
            <p:spPr>
              <a:xfrm>
                <a:off x="1278467" y="3429102"/>
                <a:ext cx="645160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40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Φ</m:t>
                          </m:r>
                        </m:e>
                        <m:sub>
                          <m:r>
                            <a:rPr lang="en-US" sz="1400" i="1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1400" i="1">
                          <a:solidFill>
                            <a:srgbClr val="004479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1400" i="1">
                          <a:solidFill>
                            <a:srgbClr val="004479"/>
                          </a:solidFill>
                          <a:latin typeface="Cambria Math" panose="02040503050406030204" pitchFamily="18" charset="0"/>
                        </a:rPr>
                        <m:t>𝑂𝑇𝑂𝑃𝑆</m:t>
                      </m:r>
                      <m:d>
                        <m:dPr>
                          <m:ctrlPr>
                            <a:rPr lang="es-ES" sz="1400" i="1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400" i="1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𝜅</m:t>
                          </m:r>
                        </m:e>
                      </m:d>
                      <m:r>
                        <a:rPr lang="en-US" sz="1400">
                          <a:solidFill>
                            <a:srgbClr val="004479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sSup>
                        <m:sSupPr>
                          <m:ctrlPr>
                            <a:rPr lang="en-US" sz="1400" i="1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i="1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en-US" sz="1400" i="1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sSub>
                        <m:sSubPr>
                          <m:ctrlPr>
                            <a:rPr lang="es-ES" sz="1400" i="1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Φ</m:t>
                          </m:r>
                        </m:e>
                        <m:sub>
                          <m:r>
                            <a:rPr lang="en-US" sz="1400" i="1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d>
                        <m:dPr>
                          <m:ctrlPr>
                            <a:rPr lang="es-ES" sz="1400" i="1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400" i="1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𝜅</m:t>
                          </m:r>
                        </m:e>
                      </m:d>
                      <m:r>
                        <a:rPr lang="en-US" sz="1400" i="1">
                          <a:solidFill>
                            <a:srgbClr val="004479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1400" i="1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i="1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p>
                          <m:r>
                            <a:rPr lang="en-US" sz="1400" i="1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sSub>
                        <m:sSubPr>
                          <m:ctrlPr>
                            <a:rPr lang="es-ES" sz="1400" i="1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Φ</m:t>
                          </m:r>
                        </m:e>
                        <m:sub>
                          <m:r>
                            <a:rPr lang="en-US" sz="1400" i="1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d>
                        <m:dPr>
                          <m:ctrlPr>
                            <a:rPr lang="es-ES" sz="1400" i="1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400" i="1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𝜅</m:t>
                          </m:r>
                        </m:e>
                      </m:d>
                      <m:r>
                        <a:rPr lang="en-US" sz="1400" i="1">
                          <a:solidFill>
                            <a:srgbClr val="004479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+2</m:t>
                      </m:r>
                      <m:r>
                        <a:rPr lang="en-US" sz="1400" i="1">
                          <a:solidFill>
                            <a:srgbClr val="004479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𝐴𝐵</m:t>
                      </m:r>
                      <m:sSub>
                        <m:sSubPr>
                          <m:ctrlPr>
                            <a:rPr lang="es-ES" sz="1400" i="1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Φ</m:t>
                          </m:r>
                        </m:e>
                        <m:sub>
                          <m:r>
                            <a:rPr lang="en-US" sz="1400" i="1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𝑇𝑆</m:t>
                          </m:r>
                        </m:sub>
                      </m:sSub>
                      <m:d>
                        <m:dPr>
                          <m:ctrlPr>
                            <a:rPr lang="es-ES" sz="1400" i="1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400" i="1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𝜅</m:t>
                          </m:r>
                        </m:e>
                      </m:d>
                    </m:oMath>
                  </m:oMathPara>
                </a14:m>
                <a:endParaRPr lang="es-ES" dirty="0"/>
              </a:p>
            </p:txBody>
          </p:sp>
        </mc:Choice>
        <mc:Fallback xmlns="">
          <p:sp>
            <p:nvSpPr>
              <p:cNvPr id="19" name="CuadroTexto 18">
                <a:extLst>
                  <a:ext uri="{FF2B5EF4-FFF2-40B4-BE49-F238E27FC236}">
                    <a16:creationId xmlns:a16="http://schemas.microsoft.com/office/drawing/2014/main" id="{F78A5B2E-E393-F576-4C74-ED38F9E84F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8467" y="3429102"/>
                <a:ext cx="6451600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60B8C88C-10C2-1ADB-7152-D8FBB6FB9C76}"/>
                  </a:ext>
                </a:extLst>
              </p:cNvPr>
              <p:cNvSpPr txBox="1"/>
              <p:nvPr/>
            </p:nvSpPr>
            <p:spPr>
              <a:xfrm>
                <a:off x="86963" y="1765031"/>
                <a:ext cx="636372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2" algn="just">
                  <a:lnSpc>
                    <a:spcPct val="2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sz="1400" b="0" i="1" smtClean="0">
                          <a:solidFill>
                            <a:srgbClr val="004479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s-ES" sz="1400" b="0" i="1" smtClean="0">
                          <a:solidFill>
                            <a:srgbClr val="004479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sSub>
                        <m:sSubPr>
                          <m:ctrlP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  <m:d>
                        <m:dPr>
                          <m:ctrlP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s-ES" sz="1400" b="0" i="1" smtClean="0">
                          <a:solidFill>
                            <a:srgbClr val="004479"/>
                          </a:solidFill>
                          <a:latin typeface="Cambria Math" panose="02040503050406030204" pitchFamily="18" charset="0"/>
                        </a:rPr>
                        <m:t> +</m:t>
                      </m:r>
                      <m:sSub>
                        <m:sSubPr>
                          <m:ctrlPr>
                            <a:rPr lang="es-ES" sz="1400" i="1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400" i="1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s-ES" sz="1400" i="1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  <m: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  <m:d>
                        <m:dPr>
                          <m:ctrlPr>
                            <a:rPr lang="es-ES" sz="1400" i="1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400" i="1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s-ES" sz="1400" i="1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s-ES" sz="1400" i="1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  <m: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</m:d>
                      <m:sSub>
                        <m:sSubPr>
                          <m:ctrlPr>
                            <a:rPr lang="es-ES" sz="1400" i="1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</a:rPr>
                            <m:t>+ </m:t>
                          </m:r>
                          <m:r>
                            <a:rPr lang="es-ES" sz="1400" i="1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s-ES" sz="1400" i="1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  <m: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</a:rPr>
                            <m:t>𝐼𝐼</m:t>
                          </m:r>
                        </m:sub>
                      </m:sSub>
                      <m:d>
                        <m:dPr>
                          <m:ctrlPr>
                            <a:rPr lang="es-ES" sz="1400" i="1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s-ES" sz="1400" i="1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s-ES" sz="1400" i="1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s-ES" sz="1400" i="1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sSub>
                        <m:sSubPr>
                          <m:ctrlPr>
                            <a:rPr lang="es-ES" sz="1400" i="1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</a:rPr>
                            <m:t> + </m:t>
                          </m:r>
                          <m:r>
                            <a:rPr lang="es-ES" sz="1400" i="1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s-ES" sz="1400" i="1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  <m: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sub>
                      </m:sSub>
                      <m:d>
                        <m:dPr>
                          <m:ctrlPr>
                            <a:rPr lang="es-ES" sz="1400" i="1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s-ES" sz="1400" b="0" i="1" smtClean="0">
                              <a:solidFill>
                                <a:srgbClr val="004479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</m:d>
                    </m:oMath>
                  </m:oMathPara>
                </a14:m>
                <a:endParaRPr lang="es-ES" sz="1600" dirty="0">
                  <a:solidFill>
                    <a:srgbClr val="004479"/>
                  </a:solidFill>
                  <a:latin typeface="Malacitana-Sans" pitchFamily="2" charset="77"/>
                </a:endParaRPr>
              </a:p>
            </p:txBody>
          </p:sp>
        </mc:Choice>
        <mc:Fallback xmlns=""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60B8C88C-10C2-1ADB-7152-D8FBB6FB9C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963" y="1765031"/>
                <a:ext cx="6363729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CuadroTexto 22">
            <a:extLst>
              <a:ext uri="{FF2B5EF4-FFF2-40B4-BE49-F238E27FC236}">
                <a16:creationId xmlns:a16="http://schemas.microsoft.com/office/drawing/2014/main" id="{EF4F9739-15D4-33DE-2193-03A6ED271C8E}"/>
              </a:ext>
            </a:extLst>
          </p:cNvPr>
          <p:cNvSpPr txBox="1"/>
          <p:nvPr/>
        </p:nvSpPr>
        <p:spPr>
          <a:xfrm>
            <a:off x="359548" y="1491258"/>
            <a:ext cx="53424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400" b="1" dirty="0">
                <a:solidFill>
                  <a:srgbClr val="004479"/>
                </a:solidFill>
              </a:rPr>
              <a:t>Formulación Millard &amp; Seaver para el índice de refracción del agua:</a:t>
            </a:r>
            <a:endParaRPr lang="es-ES" sz="1400" dirty="0"/>
          </a:p>
        </p:txBody>
      </p:sp>
      <p:cxnSp>
        <p:nvCxnSpPr>
          <p:cNvPr id="24" name="Conector recto de flecha 23">
            <a:extLst>
              <a:ext uri="{FF2B5EF4-FFF2-40B4-BE49-F238E27FC236}">
                <a16:creationId xmlns:a16="http://schemas.microsoft.com/office/drawing/2014/main" id="{9F867640-5C72-1382-884F-873014CF9C82}"/>
              </a:ext>
            </a:extLst>
          </p:cNvPr>
          <p:cNvCxnSpPr>
            <a:cxnSpLocks/>
          </p:cNvCxnSpPr>
          <p:nvPr/>
        </p:nvCxnSpPr>
        <p:spPr>
          <a:xfrm>
            <a:off x="3637620" y="2586988"/>
            <a:ext cx="651352" cy="0"/>
          </a:xfrm>
          <a:prstGeom prst="straightConnector1">
            <a:avLst/>
          </a:prstGeom>
          <a:ln>
            <a:solidFill>
              <a:srgbClr val="00AAD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CuadroTexto 27">
            <a:extLst>
              <a:ext uri="{FF2B5EF4-FFF2-40B4-BE49-F238E27FC236}">
                <a16:creationId xmlns:a16="http://schemas.microsoft.com/office/drawing/2014/main" id="{C36426BE-18BD-A4C6-5517-85E9E4C6FB3C}"/>
              </a:ext>
            </a:extLst>
          </p:cNvPr>
          <p:cNvSpPr txBox="1"/>
          <p:nvPr/>
        </p:nvSpPr>
        <p:spPr>
          <a:xfrm>
            <a:off x="327188" y="2918705"/>
            <a:ext cx="52705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400" b="1" dirty="0">
                <a:solidFill>
                  <a:srgbClr val="004479"/>
                </a:solidFill>
              </a:rPr>
              <a:t>Modelo espectral OTOPS:</a:t>
            </a:r>
            <a:endParaRPr lang="es-ES" sz="1400" dirty="0"/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F8C8853B-5A2E-D044-BC00-4D678D8A8A7A}"/>
              </a:ext>
            </a:extLst>
          </p:cNvPr>
          <p:cNvSpPr/>
          <p:nvPr/>
        </p:nvSpPr>
        <p:spPr>
          <a:xfrm>
            <a:off x="2420871" y="3342468"/>
            <a:ext cx="4216995" cy="508156"/>
          </a:xfrm>
          <a:prstGeom prst="rect">
            <a:avLst/>
          </a:prstGeom>
          <a:noFill/>
          <a:ln>
            <a:solidFill>
              <a:srgbClr val="00AAD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403346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ABD9A-06C1-DBEA-27C5-E2800E00C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82EF9C1C-BA21-9773-1787-3C8C476EE5F4}"/>
              </a:ext>
            </a:extLst>
          </p:cNvPr>
          <p:cNvSpPr txBox="1"/>
          <p:nvPr/>
        </p:nvSpPr>
        <p:spPr>
          <a:xfrm>
            <a:off x="327188" y="305396"/>
            <a:ext cx="675941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800" b="1" dirty="0">
                <a:solidFill>
                  <a:srgbClr val="004479"/>
                </a:solidFill>
              </a:rPr>
              <a:t>Simulaciones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F2A36F22-A956-474B-2B1F-FB152D6F1ACB}"/>
              </a:ext>
            </a:extLst>
          </p:cNvPr>
          <p:cNvSpPr txBox="1"/>
          <p:nvPr/>
        </p:nvSpPr>
        <p:spPr>
          <a:xfrm>
            <a:off x="478548" y="729875"/>
            <a:ext cx="67594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dirty="0">
                <a:solidFill>
                  <a:srgbClr val="00AAD6"/>
                </a:solidFill>
              </a:rPr>
              <a:t>Medio atmosférico</a:t>
            </a:r>
          </a:p>
        </p:txBody>
      </p: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1807CC15-9333-8609-FF5C-C9FDCAB8E5D9}"/>
              </a:ext>
            </a:extLst>
          </p:cNvPr>
          <p:cNvCxnSpPr>
            <a:cxnSpLocks/>
          </p:cNvCxnSpPr>
          <p:nvPr/>
        </p:nvCxnSpPr>
        <p:spPr>
          <a:xfrm>
            <a:off x="415773" y="1265941"/>
            <a:ext cx="3442481" cy="0"/>
          </a:xfrm>
          <a:prstGeom prst="line">
            <a:avLst/>
          </a:prstGeom>
          <a:ln>
            <a:solidFill>
              <a:srgbClr val="00AAD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C8F7385F-D48F-7EB8-2F2F-B30D528548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FE5F45-1FFF-D043-8DCE-2BE364C338E3}" type="slidenum">
              <a:rPr lang="es-ES" smtClean="0"/>
              <a:t>13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A548263C-9374-06C8-7765-D0EF9F1356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>
                <a:solidFill>
                  <a:schemeClr val="bg1"/>
                </a:solidFill>
              </a:rPr>
              <a:t>Dispersión y turbulencia en pulsos ultracortos: escenarios atmosférico y oceánico</a:t>
            </a:r>
          </a:p>
          <a:p>
            <a:endParaRPr lang="es-ES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A891497E-827A-D4B8-E7BC-4B0B482453AF}"/>
              </a:ext>
            </a:extLst>
          </p:cNvPr>
          <p:cNvSpPr txBox="1"/>
          <p:nvPr/>
        </p:nvSpPr>
        <p:spPr>
          <a:xfrm>
            <a:off x="-193062" y="961211"/>
            <a:ext cx="394024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es-ES" sz="2800" dirty="0">
              <a:solidFill>
                <a:srgbClr val="004479"/>
              </a:solidFill>
              <a:latin typeface="Malacitana-Sans" pitchFamily="2" charset="77"/>
            </a:endParaRPr>
          </a:p>
          <a:p>
            <a:pPr lvl="1"/>
            <a:r>
              <a:rPr lang="es-ES" sz="1400" b="1" dirty="0">
                <a:solidFill>
                  <a:srgbClr val="004479"/>
                </a:solidFill>
              </a:rPr>
              <a:t>Parámetros iniciales del pulso y del canal</a:t>
            </a:r>
          </a:p>
        </p:txBody>
      </p:sp>
      <p:pic>
        <p:nvPicPr>
          <p:cNvPr id="7" name="Imagen 6" descr="Gráfico, Histograma&#10;&#10;El contenido generado por IA puede ser incorrecto.">
            <a:extLst>
              <a:ext uri="{FF2B5EF4-FFF2-40B4-BE49-F238E27FC236}">
                <a16:creationId xmlns:a16="http://schemas.microsoft.com/office/drawing/2014/main" id="{CB5F918E-CDE5-BB13-D26B-674775D9B8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7627" y="1397296"/>
            <a:ext cx="3670602" cy="2141185"/>
          </a:xfrm>
          <a:prstGeom prst="rect">
            <a:avLst/>
          </a:prstGeom>
        </p:spPr>
      </p:pic>
      <p:pic>
        <p:nvPicPr>
          <p:cNvPr id="12" name="Imagen 11" descr="Gráfico, Histograma&#10;&#10;El contenido generado por IA puede ser incorrecto.">
            <a:extLst>
              <a:ext uri="{FF2B5EF4-FFF2-40B4-BE49-F238E27FC236}">
                <a16:creationId xmlns:a16="http://schemas.microsoft.com/office/drawing/2014/main" id="{3BC80DC5-7425-2005-7751-8E99F77F7A3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30" t="4418" r="7310"/>
          <a:stretch>
            <a:fillRect/>
          </a:stretch>
        </p:blipFill>
        <p:spPr>
          <a:xfrm>
            <a:off x="5079481" y="3659729"/>
            <a:ext cx="3648746" cy="2033974"/>
          </a:xfrm>
          <a:prstGeom prst="rect">
            <a:avLst/>
          </a:prstGeom>
        </p:spPr>
      </p:pic>
      <p:graphicFrame>
        <p:nvGraphicFramePr>
          <p:cNvPr id="15" name="Tabla 14">
            <a:extLst>
              <a:ext uri="{FF2B5EF4-FFF2-40B4-BE49-F238E27FC236}">
                <a16:creationId xmlns:a16="http://schemas.microsoft.com/office/drawing/2014/main" id="{7FA06896-2401-F66C-077C-00D67872FC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0959276"/>
              </p:ext>
            </p:extLst>
          </p:nvPr>
        </p:nvGraphicFramePr>
        <p:xfrm>
          <a:off x="415771" y="2782505"/>
          <a:ext cx="3441697" cy="137424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45762">
                  <a:extLst>
                    <a:ext uri="{9D8B030D-6E8A-4147-A177-3AD203B41FA5}">
                      <a16:colId xmlns:a16="http://schemas.microsoft.com/office/drawing/2014/main" val="2841126391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713796458"/>
                    </a:ext>
                  </a:extLst>
                </a:gridCol>
                <a:gridCol w="1241268">
                  <a:extLst>
                    <a:ext uri="{9D8B030D-6E8A-4147-A177-3AD203B41FA5}">
                      <a16:colId xmlns:a16="http://schemas.microsoft.com/office/drawing/2014/main" val="4019416719"/>
                    </a:ext>
                  </a:extLst>
                </a:gridCol>
              </a:tblGrid>
              <a:tr h="393238">
                <a:tc>
                  <a:txBody>
                    <a:bodyPr/>
                    <a:lstStyle/>
                    <a:p>
                      <a:r>
                        <a:rPr lang="es-ES" sz="1100" dirty="0">
                          <a:solidFill>
                            <a:srgbClr val="004479"/>
                          </a:solidFill>
                        </a:rPr>
                        <a:t>Distancia (km)</a:t>
                      </a:r>
                    </a:p>
                  </a:txBody>
                  <a:tcPr>
                    <a:lnL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100" dirty="0">
                          <a:solidFill>
                            <a:srgbClr val="004479"/>
                          </a:solidFill>
                        </a:rPr>
                        <a:t>Factor de ensanchamiento</a:t>
                      </a:r>
                    </a:p>
                  </a:txBody>
                  <a:tcPr>
                    <a:lnL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100" dirty="0">
                          <a:solidFill>
                            <a:srgbClr val="004479"/>
                          </a:solidFill>
                        </a:rPr>
                        <a:t>Duración final (</a:t>
                      </a:r>
                      <a:r>
                        <a:rPr lang="es-ES" sz="1100" dirty="0" err="1">
                          <a:solidFill>
                            <a:srgbClr val="004479"/>
                          </a:solidFill>
                        </a:rPr>
                        <a:t>ps</a:t>
                      </a:r>
                      <a:r>
                        <a:rPr lang="es-ES" sz="1100" dirty="0">
                          <a:solidFill>
                            <a:srgbClr val="004479"/>
                          </a:solidFill>
                        </a:rPr>
                        <a:t>)</a:t>
                      </a:r>
                    </a:p>
                  </a:txBody>
                  <a:tcPr>
                    <a:lnL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05571767"/>
                  </a:ext>
                </a:extLst>
              </a:tr>
              <a:tr h="267628">
                <a:tc>
                  <a:txBody>
                    <a:bodyPr/>
                    <a:lstStyle/>
                    <a:p>
                      <a:pPr algn="ctr"/>
                      <a:r>
                        <a:rPr lang="es-ES" sz="1200" i="0" dirty="0">
                          <a:solidFill>
                            <a:srgbClr val="004479"/>
                          </a:solidFill>
                        </a:rPr>
                        <a:t>0.5</a:t>
                      </a:r>
                    </a:p>
                  </a:txBody>
                  <a:tcPr>
                    <a:lnL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rgbClr val="004479"/>
                          </a:solidFill>
                        </a:rPr>
                        <a:t>1.98</a:t>
                      </a:r>
                    </a:p>
                  </a:txBody>
                  <a:tcPr>
                    <a:lnL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rgbClr val="004479"/>
                          </a:solidFill>
                        </a:rPr>
                        <a:t>0.40</a:t>
                      </a:r>
                    </a:p>
                  </a:txBody>
                  <a:tcPr>
                    <a:lnL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81670478"/>
                  </a:ext>
                </a:extLst>
              </a:tr>
              <a:tr h="235943">
                <a:tc>
                  <a:txBody>
                    <a:bodyPr/>
                    <a:lstStyle/>
                    <a:p>
                      <a:pPr algn="ctr"/>
                      <a:r>
                        <a:rPr lang="es-ES" sz="1200" i="0" dirty="0">
                          <a:solidFill>
                            <a:srgbClr val="004479"/>
                          </a:solidFill>
                        </a:rPr>
                        <a:t>5</a:t>
                      </a:r>
                    </a:p>
                  </a:txBody>
                  <a:tcPr>
                    <a:lnL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rgbClr val="004479"/>
                          </a:solidFill>
                        </a:rPr>
                        <a:t>11.33</a:t>
                      </a:r>
                    </a:p>
                  </a:txBody>
                  <a:tcPr>
                    <a:lnL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rgbClr val="004479"/>
                          </a:solidFill>
                        </a:rPr>
                        <a:t>2.26</a:t>
                      </a:r>
                    </a:p>
                  </a:txBody>
                  <a:tcPr>
                    <a:lnL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7416645"/>
                  </a:ext>
                </a:extLst>
              </a:tr>
              <a:tr h="398886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rgbClr val="004479"/>
                          </a:solidFill>
                        </a:rPr>
                        <a:t>10</a:t>
                      </a:r>
                    </a:p>
                  </a:txBody>
                  <a:tcPr>
                    <a:lnL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rgbClr val="004479"/>
                          </a:solidFill>
                        </a:rPr>
                        <a:t>21.78</a:t>
                      </a:r>
                    </a:p>
                  </a:txBody>
                  <a:tcPr>
                    <a:lnL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rgbClr val="004479"/>
                          </a:solidFill>
                        </a:rPr>
                        <a:t>4.35</a:t>
                      </a:r>
                    </a:p>
                  </a:txBody>
                  <a:tcPr>
                    <a:lnL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02833714"/>
                  </a:ext>
                </a:extLst>
              </a:tr>
            </a:tbl>
          </a:graphicData>
        </a:graphic>
      </p:graphicFrame>
      <p:graphicFrame>
        <p:nvGraphicFramePr>
          <p:cNvPr id="16" name="Tabla 15">
            <a:extLst>
              <a:ext uri="{FF2B5EF4-FFF2-40B4-BE49-F238E27FC236}">
                <a16:creationId xmlns:a16="http://schemas.microsoft.com/office/drawing/2014/main" id="{0B83C9B0-9592-2F67-D7C6-B10806B43A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898709"/>
              </p:ext>
            </p:extLst>
          </p:nvPr>
        </p:nvGraphicFramePr>
        <p:xfrm>
          <a:off x="415773" y="4687775"/>
          <a:ext cx="3442480" cy="137424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54227">
                  <a:extLst>
                    <a:ext uri="{9D8B030D-6E8A-4147-A177-3AD203B41FA5}">
                      <a16:colId xmlns:a16="http://schemas.microsoft.com/office/drawing/2014/main" val="2841126391"/>
                    </a:ext>
                  </a:extLst>
                </a:gridCol>
                <a:gridCol w="1349997">
                  <a:extLst>
                    <a:ext uri="{9D8B030D-6E8A-4147-A177-3AD203B41FA5}">
                      <a16:colId xmlns:a16="http://schemas.microsoft.com/office/drawing/2014/main" val="713796458"/>
                    </a:ext>
                  </a:extLst>
                </a:gridCol>
                <a:gridCol w="1238256">
                  <a:extLst>
                    <a:ext uri="{9D8B030D-6E8A-4147-A177-3AD203B41FA5}">
                      <a16:colId xmlns:a16="http://schemas.microsoft.com/office/drawing/2014/main" val="4019416719"/>
                    </a:ext>
                  </a:extLst>
                </a:gridCol>
              </a:tblGrid>
              <a:tr h="393238">
                <a:tc>
                  <a:txBody>
                    <a:bodyPr/>
                    <a:lstStyle/>
                    <a:p>
                      <a:r>
                        <a:rPr lang="es-ES" sz="1100" dirty="0">
                          <a:solidFill>
                            <a:srgbClr val="004479"/>
                          </a:solidFill>
                        </a:rPr>
                        <a:t>FWHM inicial (</a:t>
                      </a:r>
                      <a:r>
                        <a:rPr lang="es-ES" sz="1100" dirty="0" err="1">
                          <a:solidFill>
                            <a:srgbClr val="004479"/>
                          </a:solidFill>
                        </a:rPr>
                        <a:t>ps</a:t>
                      </a:r>
                      <a:r>
                        <a:rPr lang="es-ES" sz="1100" dirty="0">
                          <a:solidFill>
                            <a:srgbClr val="004479"/>
                          </a:solidFill>
                        </a:rPr>
                        <a:t>)</a:t>
                      </a:r>
                    </a:p>
                  </a:txBody>
                  <a:tcPr>
                    <a:lnL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100" dirty="0">
                          <a:solidFill>
                            <a:srgbClr val="004479"/>
                          </a:solidFill>
                        </a:rPr>
                        <a:t>Factor de ensanchamiento</a:t>
                      </a:r>
                    </a:p>
                  </a:txBody>
                  <a:tcPr>
                    <a:lnL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100" dirty="0">
                          <a:solidFill>
                            <a:srgbClr val="004479"/>
                          </a:solidFill>
                        </a:rPr>
                        <a:t>Duración final (</a:t>
                      </a:r>
                      <a:r>
                        <a:rPr lang="es-ES" sz="1100" dirty="0" err="1">
                          <a:solidFill>
                            <a:srgbClr val="004479"/>
                          </a:solidFill>
                        </a:rPr>
                        <a:t>ps</a:t>
                      </a:r>
                      <a:r>
                        <a:rPr lang="es-ES" sz="1100" dirty="0">
                          <a:solidFill>
                            <a:srgbClr val="004479"/>
                          </a:solidFill>
                        </a:rPr>
                        <a:t>)</a:t>
                      </a:r>
                    </a:p>
                  </a:txBody>
                  <a:tcPr>
                    <a:lnL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05571767"/>
                  </a:ext>
                </a:extLst>
              </a:tr>
              <a:tr h="267628">
                <a:tc>
                  <a:txBody>
                    <a:bodyPr/>
                    <a:lstStyle/>
                    <a:p>
                      <a:pPr algn="ctr"/>
                      <a:r>
                        <a:rPr lang="es-ES" sz="1200" i="0" dirty="0">
                          <a:solidFill>
                            <a:srgbClr val="004479"/>
                          </a:solidFill>
                        </a:rPr>
                        <a:t>0.05</a:t>
                      </a:r>
                    </a:p>
                  </a:txBody>
                  <a:tcPr>
                    <a:lnL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rgbClr val="004479"/>
                          </a:solidFill>
                        </a:rPr>
                        <a:t>15.64</a:t>
                      </a:r>
                    </a:p>
                  </a:txBody>
                  <a:tcPr>
                    <a:lnL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rgbClr val="004479"/>
                          </a:solidFill>
                        </a:rPr>
                        <a:t>0.78</a:t>
                      </a:r>
                    </a:p>
                  </a:txBody>
                  <a:tcPr>
                    <a:lnL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81670478"/>
                  </a:ext>
                </a:extLst>
              </a:tr>
              <a:tr h="235943">
                <a:tc>
                  <a:txBody>
                    <a:bodyPr/>
                    <a:lstStyle/>
                    <a:p>
                      <a:pPr algn="ctr"/>
                      <a:r>
                        <a:rPr lang="es-ES" sz="1200" i="0" dirty="0">
                          <a:solidFill>
                            <a:srgbClr val="004479"/>
                          </a:solidFill>
                        </a:rPr>
                        <a:t>0.10</a:t>
                      </a:r>
                    </a:p>
                  </a:txBody>
                  <a:tcPr>
                    <a:lnL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rgbClr val="004479"/>
                          </a:solidFill>
                        </a:rPr>
                        <a:t>26.84</a:t>
                      </a:r>
                    </a:p>
                  </a:txBody>
                  <a:tcPr>
                    <a:lnL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rgbClr val="004479"/>
                          </a:solidFill>
                        </a:rPr>
                        <a:t>2.68</a:t>
                      </a:r>
                    </a:p>
                  </a:txBody>
                  <a:tcPr>
                    <a:lnL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7416645"/>
                  </a:ext>
                </a:extLst>
              </a:tr>
              <a:tr h="398886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rgbClr val="004479"/>
                          </a:solidFill>
                        </a:rPr>
                        <a:t>0.50</a:t>
                      </a:r>
                    </a:p>
                  </a:txBody>
                  <a:tcPr>
                    <a:lnL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rgbClr val="004479"/>
                          </a:solidFill>
                        </a:rPr>
                        <a:t>1.95</a:t>
                      </a:r>
                    </a:p>
                  </a:txBody>
                  <a:tcPr>
                    <a:lnL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rgbClr val="004479"/>
                          </a:solidFill>
                        </a:rPr>
                        <a:t>0.97</a:t>
                      </a:r>
                    </a:p>
                  </a:txBody>
                  <a:tcPr>
                    <a:lnL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02833714"/>
                  </a:ext>
                </a:extLst>
              </a:tr>
            </a:tbl>
          </a:graphicData>
        </a:graphic>
      </p:graphicFrame>
      <p:sp>
        <p:nvSpPr>
          <p:cNvPr id="17" name="CuadroTexto 16">
            <a:extLst>
              <a:ext uri="{FF2B5EF4-FFF2-40B4-BE49-F238E27FC236}">
                <a16:creationId xmlns:a16="http://schemas.microsoft.com/office/drawing/2014/main" id="{E6B2ED6E-BBEC-3F62-E105-BE793F2FE1B8}"/>
              </a:ext>
            </a:extLst>
          </p:cNvPr>
          <p:cNvSpPr txBox="1"/>
          <p:nvPr/>
        </p:nvSpPr>
        <p:spPr>
          <a:xfrm>
            <a:off x="285146" y="4194368"/>
            <a:ext cx="370294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1200" dirty="0">
                <a:solidFill>
                  <a:srgbClr val="004479"/>
                </a:solidFill>
              </a:rPr>
              <a:t>Cambios en la longitud del enlace para </a:t>
            </a:r>
            <a:r>
              <a:rPr lang="es-ES" sz="1200" i="1" dirty="0" err="1">
                <a:solidFill>
                  <a:srgbClr val="004479"/>
                </a:solidFill>
              </a:rPr>
              <a:t>chirp</a:t>
            </a:r>
            <a:r>
              <a:rPr lang="es-ES" sz="1200" dirty="0">
                <a:solidFill>
                  <a:srgbClr val="004479"/>
                </a:solidFill>
              </a:rPr>
              <a:t> positivo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61B290B6-AE73-E0A8-2E7D-39BAB8F34121}"/>
              </a:ext>
            </a:extLst>
          </p:cNvPr>
          <p:cNvSpPr txBox="1"/>
          <p:nvPr/>
        </p:nvSpPr>
        <p:spPr>
          <a:xfrm>
            <a:off x="-353736" y="6094628"/>
            <a:ext cx="498070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1200" dirty="0">
                <a:solidFill>
                  <a:srgbClr val="004479"/>
                </a:solidFill>
              </a:rPr>
              <a:t>Cambios en la duración inicial del pulso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6CE2B7CE-8779-B697-D90D-0599C038E99C}"/>
              </a:ext>
            </a:extLst>
          </p:cNvPr>
          <p:cNvSpPr txBox="1"/>
          <p:nvPr/>
        </p:nvSpPr>
        <p:spPr>
          <a:xfrm>
            <a:off x="285148" y="1729225"/>
            <a:ext cx="2476960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Courier New" panose="02070309020205020404" pitchFamily="49" charset="0"/>
              <a:buChar char="o"/>
            </a:pPr>
            <a:r>
              <a:rPr lang="es-ES" sz="1400" dirty="0">
                <a:solidFill>
                  <a:srgbClr val="004479"/>
                </a:solidFill>
              </a:rPr>
              <a:t>Longitud de onda, 1550 nm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s-ES" sz="1400" dirty="0">
                <a:solidFill>
                  <a:srgbClr val="004479"/>
                </a:solidFill>
              </a:rPr>
              <a:t>Distancia del enlace, 3km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s-ES" sz="1400" dirty="0">
                <a:solidFill>
                  <a:srgbClr val="004479"/>
                </a:solidFill>
              </a:rPr>
              <a:t>Altura del enlace, 500 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uadroTexto 22">
                <a:extLst>
                  <a:ext uri="{FF2B5EF4-FFF2-40B4-BE49-F238E27FC236}">
                    <a16:creationId xmlns:a16="http://schemas.microsoft.com/office/drawing/2014/main" id="{A968877E-3F7F-23D7-B577-8639591BE460}"/>
                  </a:ext>
                </a:extLst>
              </p:cNvPr>
              <p:cNvSpPr txBox="1"/>
              <p:nvPr/>
            </p:nvSpPr>
            <p:spPr>
              <a:xfrm>
                <a:off x="4895715" y="5795495"/>
                <a:ext cx="4016277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s-ES" sz="1200" dirty="0">
                    <a:solidFill>
                      <a:srgbClr val="004479"/>
                    </a:solidFill>
                  </a:rPr>
                  <a:t>Cambios en el signo en el producto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200" i="1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200" i="1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s-ES" sz="1200" b="0" i="1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s-ES" sz="1200" b="0" i="1" smtClean="0">
                        <a:solidFill>
                          <a:srgbClr val="004479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endParaRPr lang="es-ES" sz="1200" i="1" dirty="0">
                  <a:solidFill>
                    <a:srgbClr val="004479"/>
                  </a:solidFill>
                </a:endParaRPr>
              </a:p>
            </p:txBody>
          </p:sp>
        </mc:Choice>
        <mc:Fallback xmlns="">
          <p:sp>
            <p:nvSpPr>
              <p:cNvPr id="23" name="CuadroTexto 22">
                <a:extLst>
                  <a:ext uri="{FF2B5EF4-FFF2-40B4-BE49-F238E27FC236}">
                    <a16:creationId xmlns:a16="http://schemas.microsoft.com/office/drawing/2014/main" id="{A968877E-3F7F-23D7-B577-8639591BE4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5715" y="5795495"/>
                <a:ext cx="4016277" cy="276999"/>
              </a:xfrm>
              <a:prstGeom prst="rect">
                <a:avLst/>
              </a:prstGeom>
              <a:blipFill>
                <a:blip r:embed="rId4"/>
                <a:stretch>
                  <a:fillRect t="-2222" b="-17778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581408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E1E76B-8481-9E5E-5B1C-BD1B1E8CF6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A72BACEA-8813-D671-084F-491D8DD20AD0}"/>
              </a:ext>
            </a:extLst>
          </p:cNvPr>
          <p:cNvSpPr txBox="1"/>
          <p:nvPr/>
        </p:nvSpPr>
        <p:spPr>
          <a:xfrm>
            <a:off x="327188" y="305396"/>
            <a:ext cx="675941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800" b="1" dirty="0">
                <a:solidFill>
                  <a:srgbClr val="004479"/>
                </a:solidFill>
              </a:rPr>
              <a:t>Simulaciones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A0B4BAA4-97FD-968D-122B-5FA959536456}"/>
              </a:ext>
            </a:extLst>
          </p:cNvPr>
          <p:cNvSpPr txBox="1"/>
          <p:nvPr/>
        </p:nvSpPr>
        <p:spPr>
          <a:xfrm>
            <a:off x="478548" y="729875"/>
            <a:ext cx="67594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dirty="0">
                <a:solidFill>
                  <a:srgbClr val="00AAD6"/>
                </a:solidFill>
              </a:rPr>
              <a:t>Medio oceánico</a:t>
            </a:r>
          </a:p>
        </p:txBody>
      </p: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F69C2547-E733-9199-A236-5F8CF7C0F4E5}"/>
              </a:ext>
            </a:extLst>
          </p:cNvPr>
          <p:cNvCxnSpPr>
            <a:cxnSpLocks/>
          </p:cNvCxnSpPr>
          <p:nvPr/>
        </p:nvCxnSpPr>
        <p:spPr>
          <a:xfrm>
            <a:off x="415773" y="1265941"/>
            <a:ext cx="3442481" cy="0"/>
          </a:xfrm>
          <a:prstGeom prst="line">
            <a:avLst/>
          </a:prstGeom>
          <a:ln>
            <a:solidFill>
              <a:srgbClr val="00AAD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F7AC223F-C095-90ED-E973-7F4EA86557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FE5F45-1FFF-D043-8DCE-2BE364C338E3}" type="slidenum">
              <a:rPr lang="es-ES" smtClean="0"/>
              <a:t>14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C649B3A4-F61F-14E0-835F-5963C1FE41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>
                <a:solidFill>
                  <a:schemeClr val="bg1"/>
                </a:solidFill>
              </a:rPr>
              <a:t>Dispersión y turbulencia en pulsos ultracortos: escenarios atmosférico y oceánico</a:t>
            </a:r>
          </a:p>
          <a:p>
            <a:endParaRPr lang="es-ES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4927092A-4AFF-A8B9-AE3C-517371BDA8BA}"/>
              </a:ext>
            </a:extLst>
          </p:cNvPr>
          <p:cNvSpPr txBox="1"/>
          <p:nvPr/>
        </p:nvSpPr>
        <p:spPr>
          <a:xfrm>
            <a:off x="-172279" y="905289"/>
            <a:ext cx="381066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s-ES" sz="2800" dirty="0">
              <a:solidFill>
                <a:srgbClr val="004479"/>
              </a:solidFill>
              <a:latin typeface="Malacitana-Sans" pitchFamily="2" charset="77"/>
            </a:endParaRPr>
          </a:p>
          <a:p>
            <a:pPr lvl="1"/>
            <a:r>
              <a:rPr lang="es-ES" sz="1400" b="1" dirty="0">
                <a:solidFill>
                  <a:srgbClr val="004479"/>
                </a:solidFill>
              </a:rPr>
              <a:t>Parámetros iniciales del pulso y del canal</a:t>
            </a:r>
          </a:p>
        </p:txBody>
      </p:sp>
      <p:pic>
        <p:nvPicPr>
          <p:cNvPr id="7" name="Imagen 6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C127D199-3F53-3AC8-4FED-D1CD188ED9F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97" r="11602"/>
          <a:stretch>
            <a:fillRect/>
          </a:stretch>
        </p:blipFill>
        <p:spPr>
          <a:xfrm>
            <a:off x="4320651" y="2541771"/>
            <a:ext cx="4491708" cy="2160502"/>
          </a:xfrm>
          <a:prstGeom prst="rect">
            <a:avLst/>
          </a:prstGeom>
        </p:spPr>
      </p:pic>
      <p:sp>
        <p:nvSpPr>
          <p:cNvPr id="13" name="CuadroTexto 12">
            <a:extLst>
              <a:ext uri="{FF2B5EF4-FFF2-40B4-BE49-F238E27FC236}">
                <a16:creationId xmlns:a16="http://schemas.microsoft.com/office/drawing/2014/main" id="{6986F87A-CA3E-C871-5BB6-E1DC536C07CA}"/>
              </a:ext>
            </a:extLst>
          </p:cNvPr>
          <p:cNvSpPr txBox="1"/>
          <p:nvPr/>
        </p:nvSpPr>
        <p:spPr>
          <a:xfrm>
            <a:off x="4711950" y="4734873"/>
            <a:ext cx="401627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1200" dirty="0">
                <a:solidFill>
                  <a:srgbClr val="004479"/>
                </a:solidFill>
              </a:rPr>
              <a:t>Comparación temporal del módulo normalizado de la envolvente del pulso gaussiano</a:t>
            </a:r>
          </a:p>
        </p:txBody>
      </p:sp>
      <p:graphicFrame>
        <p:nvGraphicFramePr>
          <p:cNvPr id="18" name="Tabla 17">
            <a:extLst>
              <a:ext uri="{FF2B5EF4-FFF2-40B4-BE49-F238E27FC236}">
                <a16:creationId xmlns:a16="http://schemas.microsoft.com/office/drawing/2014/main" id="{2C4BD3DA-F455-A4CB-3E47-E40CA8A971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1950332"/>
              </p:ext>
            </p:extLst>
          </p:nvPr>
        </p:nvGraphicFramePr>
        <p:xfrm>
          <a:off x="415773" y="2474497"/>
          <a:ext cx="3344646" cy="12801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37294">
                  <a:extLst>
                    <a:ext uri="{9D8B030D-6E8A-4147-A177-3AD203B41FA5}">
                      <a16:colId xmlns:a16="http://schemas.microsoft.com/office/drawing/2014/main" val="2841126391"/>
                    </a:ext>
                  </a:extLst>
                </a:gridCol>
                <a:gridCol w="1236133">
                  <a:extLst>
                    <a:ext uri="{9D8B030D-6E8A-4147-A177-3AD203B41FA5}">
                      <a16:colId xmlns:a16="http://schemas.microsoft.com/office/drawing/2014/main" val="713796458"/>
                    </a:ext>
                  </a:extLst>
                </a:gridCol>
                <a:gridCol w="1271219">
                  <a:extLst>
                    <a:ext uri="{9D8B030D-6E8A-4147-A177-3AD203B41FA5}">
                      <a16:colId xmlns:a16="http://schemas.microsoft.com/office/drawing/2014/main" val="4019416719"/>
                    </a:ext>
                  </a:extLst>
                </a:gridCol>
              </a:tblGrid>
              <a:tr h="393238">
                <a:tc>
                  <a:txBody>
                    <a:bodyPr/>
                    <a:lstStyle/>
                    <a:p>
                      <a:r>
                        <a:rPr lang="es-ES" sz="1200" dirty="0">
                          <a:solidFill>
                            <a:srgbClr val="004479"/>
                          </a:solidFill>
                        </a:rPr>
                        <a:t>Distancia (m)</a:t>
                      </a:r>
                    </a:p>
                  </a:txBody>
                  <a:tcPr>
                    <a:lnL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rgbClr val="004479"/>
                          </a:solidFill>
                        </a:rPr>
                        <a:t>Factor de ensanchamiento</a:t>
                      </a:r>
                    </a:p>
                  </a:txBody>
                  <a:tcPr>
                    <a:lnL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rgbClr val="004479"/>
                          </a:solidFill>
                        </a:rPr>
                        <a:t>Duración final (</a:t>
                      </a:r>
                      <a:r>
                        <a:rPr lang="es-ES" sz="1200" dirty="0" err="1">
                          <a:solidFill>
                            <a:srgbClr val="004479"/>
                          </a:solidFill>
                        </a:rPr>
                        <a:t>ps</a:t>
                      </a:r>
                      <a:r>
                        <a:rPr lang="es-ES" sz="1200" dirty="0">
                          <a:solidFill>
                            <a:srgbClr val="004479"/>
                          </a:solidFill>
                        </a:rPr>
                        <a:t>)</a:t>
                      </a:r>
                    </a:p>
                  </a:txBody>
                  <a:tcPr>
                    <a:lnL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05571767"/>
                  </a:ext>
                </a:extLst>
              </a:tr>
              <a:tr h="267628">
                <a:tc>
                  <a:txBody>
                    <a:bodyPr/>
                    <a:lstStyle/>
                    <a:p>
                      <a:pPr algn="ctr"/>
                      <a:r>
                        <a:rPr lang="es-ES" sz="1200" i="0" dirty="0">
                          <a:solidFill>
                            <a:srgbClr val="004479"/>
                          </a:solidFill>
                        </a:rPr>
                        <a:t>10</a:t>
                      </a:r>
                    </a:p>
                  </a:txBody>
                  <a:tcPr>
                    <a:lnL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rgbClr val="004479"/>
                          </a:solidFill>
                        </a:rPr>
                        <a:t>97.96</a:t>
                      </a:r>
                    </a:p>
                  </a:txBody>
                  <a:tcPr>
                    <a:lnL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rgbClr val="004479"/>
                          </a:solidFill>
                        </a:rPr>
                        <a:t>19.59</a:t>
                      </a:r>
                    </a:p>
                  </a:txBody>
                  <a:tcPr>
                    <a:lnL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81670478"/>
                  </a:ext>
                </a:extLst>
              </a:tr>
              <a:tr h="235943">
                <a:tc>
                  <a:txBody>
                    <a:bodyPr/>
                    <a:lstStyle/>
                    <a:p>
                      <a:pPr algn="ctr"/>
                      <a:r>
                        <a:rPr lang="es-ES" sz="1200" i="0" dirty="0">
                          <a:solidFill>
                            <a:srgbClr val="004479"/>
                          </a:solidFill>
                        </a:rPr>
                        <a:t>50</a:t>
                      </a:r>
                    </a:p>
                  </a:txBody>
                  <a:tcPr>
                    <a:lnL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rgbClr val="004479"/>
                          </a:solidFill>
                        </a:rPr>
                        <a:t>486.24</a:t>
                      </a:r>
                    </a:p>
                  </a:txBody>
                  <a:tcPr>
                    <a:lnL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rgbClr val="004479"/>
                          </a:solidFill>
                        </a:rPr>
                        <a:t>97.25</a:t>
                      </a:r>
                    </a:p>
                  </a:txBody>
                  <a:tcPr>
                    <a:lnL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7416645"/>
                  </a:ext>
                </a:extLst>
              </a:tr>
              <a:tr h="265756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rgbClr val="004479"/>
                          </a:solidFill>
                        </a:rPr>
                        <a:t>100</a:t>
                      </a:r>
                    </a:p>
                  </a:txBody>
                  <a:tcPr>
                    <a:lnL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rgbClr val="004479"/>
                          </a:solidFill>
                        </a:rPr>
                        <a:t>971.59</a:t>
                      </a:r>
                    </a:p>
                  </a:txBody>
                  <a:tcPr>
                    <a:lnL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rgbClr val="004479"/>
                          </a:solidFill>
                        </a:rPr>
                        <a:t>194.32</a:t>
                      </a:r>
                    </a:p>
                  </a:txBody>
                  <a:tcPr>
                    <a:lnL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02833714"/>
                  </a:ext>
                </a:extLst>
              </a:tr>
            </a:tbl>
          </a:graphicData>
        </a:graphic>
      </p:graphicFrame>
      <p:graphicFrame>
        <p:nvGraphicFramePr>
          <p:cNvPr id="19" name="Tabla 18">
            <a:extLst>
              <a:ext uri="{FF2B5EF4-FFF2-40B4-BE49-F238E27FC236}">
                <a16:creationId xmlns:a16="http://schemas.microsoft.com/office/drawing/2014/main" id="{036FAE34-E78A-7A12-997A-D79BF89461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797807"/>
              </p:ext>
            </p:extLst>
          </p:nvPr>
        </p:nvGraphicFramePr>
        <p:xfrm>
          <a:off x="415773" y="4311753"/>
          <a:ext cx="3344646" cy="130790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28827">
                  <a:extLst>
                    <a:ext uri="{9D8B030D-6E8A-4147-A177-3AD203B41FA5}">
                      <a16:colId xmlns:a16="http://schemas.microsoft.com/office/drawing/2014/main" val="2841126391"/>
                    </a:ext>
                  </a:extLst>
                </a:gridCol>
                <a:gridCol w="1246483">
                  <a:extLst>
                    <a:ext uri="{9D8B030D-6E8A-4147-A177-3AD203B41FA5}">
                      <a16:colId xmlns:a16="http://schemas.microsoft.com/office/drawing/2014/main" val="713796458"/>
                    </a:ext>
                  </a:extLst>
                </a:gridCol>
                <a:gridCol w="1269336">
                  <a:extLst>
                    <a:ext uri="{9D8B030D-6E8A-4147-A177-3AD203B41FA5}">
                      <a16:colId xmlns:a16="http://schemas.microsoft.com/office/drawing/2014/main" val="4019416719"/>
                    </a:ext>
                  </a:extLst>
                </a:gridCol>
              </a:tblGrid>
              <a:tr h="460662">
                <a:tc>
                  <a:txBody>
                    <a:bodyPr/>
                    <a:lstStyle/>
                    <a:p>
                      <a:r>
                        <a:rPr lang="es-ES" sz="1100" dirty="0">
                          <a:solidFill>
                            <a:srgbClr val="004479"/>
                          </a:solidFill>
                        </a:rPr>
                        <a:t>FWHM inicial (</a:t>
                      </a:r>
                      <a:r>
                        <a:rPr lang="es-ES" sz="1100" dirty="0" err="1">
                          <a:solidFill>
                            <a:srgbClr val="004479"/>
                          </a:solidFill>
                        </a:rPr>
                        <a:t>ps</a:t>
                      </a:r>
                      <a:r>
                        <a:rPr lang="es-ES" sz="1100" dirty="0">
                          <a:solidFill>
                            <a:srgbClr val="004479"/>
                          </a:solidFill>
                        </a:rPr>
                        <a:t>)</a:t>
                      </a:r>
                    </a:p>
                  </a:txBody>
                  <a:tcPr>
                    <a:lnL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100" dirty="0">
                          <a:solidFill>
                            <a:srgbClr val="004479"/>
                          </a:solidFill>
                        </a:rPr>
                        <a:t>Factor de ensanchamiento</a:t>
                      </a:r>
                    </a:p>
                  </a:txBody>
                  <a:tcPr>
                    <a:lnL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100" dirty="0">
                          <a:solidFill>
                            <a:srgbClr val="004479"/>
                          </a:solidFill>
                        </a:rPr>
                        <a:t>Duración final (</a:t>
                      </a:r>
                      <a:r>
                        <a:rPr lang="es-ES" sz="1100" dirty="0" err="1">
                          <a:solidFill>
                            <a:srgbClr val="004479"/>
                          </a:solidFill>
                        </a:rPr>
                        <a:t>ps</a:t>
                      </a:r>
                      <a:r>
                        <a:rPr lang="es-ES" sz="1100" dirty="0">
                          <a:solidFill>
                            <a:srgbClr val="004479"/>
                          </a:solidFill>
                        </a:rPr>
                        <a:t>)</a:t>
                      </a:r>
                    </a:p>
                  </a:txBody>
                  <a:tcPr>
                    <a:lnL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05571767"/>
                  </a:ext>
                </a:extLst>
              </a:tr>
              <a:tr h="267628">
                <a:tc>
                  <a:txBody>
                    <a:bodyPr/>
                    <a:lstStyle/>
                    <a:p>
                      <a:pPr algn="ctr"/>
                      <a:r>
                        <a:rPr lang="es-ES" sz="1200" i="0" dirty="0">
                          <a:solidFill>
                            <a:srgbClr val="004479"/>
                          </a:solidFill>
                        </a:rPr>
                        <a:t>0.05</a:t>
                      </a:r>
                    </a:p>
                  </a:txBody>
                  <a:tcPr>
                    <a:lnL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rgbClr val="004479"/>
                          </a:solidFill>
                        </a:rPr>
                        <a:t>15533.88</a:t>
                      </a:r>
                    </a:p>
                  </a:txBody>
                  <a:tcPr>
                    <a:lnL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rgbClr val="004479"/>
                          </a:solidFill>
                        </a:rPr>
                        <a:t>776.69</a:t>
                      </a:r>
                    </a:p>
                  </a:txBody>
                  <a:tcPr>
                    <a:lnL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81670478"/>
                  </a:ext>
                </a:extLst>
              </a:tr>
              <a:tr h="235943">
                <a:tc>
                  <a:txBody>
                    <a:bodyPr/>
                    <a:lstStyle/>
                    <a:p>
                      <a:pPr algn="ctr"/>
                      <a:r>
                        <a:rPr lang="es-ES" sz="1200" i="0" dirty="0">
                          <a:solidFill>
                            <a:srgbClr val="004479"/>
                          </a:solidFill>
                        </a:rPr>
                        <a:t>0.10</a:t>
                      </a:r>
                    </a:p>
                  </a:txBody>
                  <a:tcPr>
                    <a:lnL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rgbClr val="004479"/>
                          </a:solidFill>
                        </a:rPr>
                        <a:t>3883.77</a:t>
                      </a:r>
                    </a:p>
                  </a:txBody>
                  <a:tcPr>
                    <a:lnL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rgbClr val="004479"/>
                          </a:solidFill>
                        </a:rPr>
                        <a:t>388.38</a:t>
                      </a:r>
                    </a:p>
                  </a:txBody>
                  <a:tcPr>
                    <a:lnL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7416645"/>
                  </a:ext>
                </a:extLst>
              </a:tr>
              <a:tr h="298605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rgbClr val="004479"/>
                          </a:solidFill>
                        </a:rPr>
                        <a:t>0.50</a:t>
                      </a:r>
                    </a:p>
                  </a:txBody>
                  <a:tcPr>
                    <a:lnL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rgbClr val="004479"/>
                          </a:solidFill>
                        </a:rPr>
                        <a:t>156.21</a:t>
                      </a:r>
                    </a:p>
                  </a:txBody>
                  <a:tcPr>
                    <a:lnL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rgbClr val="004479"/>
                          </a:solidFill>
                        </a:rPr>
                        <a:t>78.10</a:t>
                      </a:r>
                    </a:p>
                  </a:txBody>
                  <a:tcPr>
                    <a:lnL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A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02833714"/>
                  </a:ext>
                </a:extLst>
              </a:tr>
            </a:tbl>
          </a:graphicData>
        </a:graphic>
      </p:graphicFrame>
      <p:sp>
        <p:nvSpPr>
          <p:cNvPr id="21" name="CuadroTexto 20">
            <a:extLst>
              <a:ext uri="{FF2B5EF4-FFF2-40B4-BE49-F238E27FC236}">
                <a16:creationId xmlns:a16="http://schemas.microsoft.com/office/drawing/2014/main" id="{E28DED4A-661D-32C1-5AB5-341798A2CF09}"/>
              </a:ext>
            </a:extLst>
          </p:cNvPr>
          <p:cNvSpPr txBox="1"/>
          <p:nvPr/>
        </p:nvSpPr>
        <p:spPr>
          <a:xfrm>
            <a:off x="327188" y="1626634"/>
            <a:ext cx="470746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Courier New" panose="02070309020205020404" pitchFamily="49" charset="0"/>
              <a:buChar char="o"/>
            </a:pPr>
            <a:r>
              <a:rPr lang="es-ES" sz="1400" dirty="0">
                <a:solidFill>
                  <a:srgbClr val="004479"/>
                </a:solidFill>
              </a:rPr>
              <a:t>Longitud de onda, 500 nm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s-ES" sz="1400" dirty="0">
                <a:solidFill>
                  <a:srgbClr val="004479"/>
                </a:solidFill>
              </a:rPr>
              <a:t>Distancia del enlace, 100 m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B0C86046-86CF-44CD-C9AF-0683E35A9E7C}"/>
              </a:ext>
            </a:extLst>
          </p:cNvPr>
          <p:cNvSpPr txBox="1"/>
          <p:nvPr/>
        </p:nvSpPr>
        <p:spPr>
          <a:xfrm>
            <a:off x="296334" y="3865660"/>
            <a:ext cx="370294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1200" dirty="0">
                <a:solidFill>
                  <a:srgbClr val="004479"/>
                </a:solidFill>
              </a:rPr>
              <a:t>Cambios en la longitud del enlace para </a:t>
            </a:r>
            <a:r>
              <a:rPr lang="es-ES" sz="1200" i="1" dirty="0" err="1">
                <a:solidFill>
                  <a:srgbClr val="004479"/>
                </a:solidFill>
              </a:rPr>
              <a:t>chirp</a:t>
            </a:r>
            <a:r>
              <a:rPr lang="es-ES" sz="1200" dirty="0">
                <a:solidFill>
                  <a:srgbClr val="004479"/>
                </a:solidFill>
              </a:rPr>
              <a:t> positivo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B312EF6B-CB8D-7DE3-C69E-B257BB74F51B}"/>
              </a:ext>
            </a:extLst>
          </p:cNvPr>
          <p:cNvSpPr txBox="1"/>
          <p:nvPr/>
        </p:nvSpPr>
        <p:spPr>
          <a:xfrm>
            <a:off x="-402258" y="5748443"/>
            <a:ext cx="498070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1200" dirty="0">
                <a:solidFill>
                  <a:srgbClr val="004479"/>
                </a:solidFill>
              </a:rPr>
              <a:t>Cambios en la duración inicial del pulso</a:t>
            </a:r>
          </a:p>
        </p:txBody>
      </p:sp>
    </p:spTree>
    <p:extLst>
      <p:ext uri="{BB962C8B-B14F-4D97-AF65-F5344CB8AC3E}">
        <p14:creationId xmlns:p14="http://schemas.microsoft.com/office/powerpoint/2010/main" val="40435074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FBF9BF-14A6-D274-D7F8-E421B5661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6448A3C6-D483-E69F-19FC-185FF70A51A3}"/>
              </a:ext>
            </a:extLst>
          </p:cNvPr>
          <p:cNvSpPr txBox="1"/>
          <p:nvPr/>
        </p:nvSpPr>
        <p:spPr>
          <a:xfrm>
            <a:off x="327188" y="305396"/>
            <a:ext cx="675941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800" b="1" dirty="0">
                <a:solidFill>
                  <a:srgbClr val="004479"/>
                </a:solidFill>
              </a:rPr>
              <a:t>Simulaciones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54A4EAA6-DCE6-0BED-5452-A7B70B978F9E}"/>
              </a:ext>
            </a:extLst>
          </p:cNvPr>
          <p:cNvSpPr txBox="1"/>
          <p:nvPr/>
        </p:nvSpPr>
        <p:spPr>
          <a:xfrm>
            <a:off x="478548" y="729875"/>
            <a:ext cx="67594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dirty="0">
                <a:solidFill>
                  <a:srgbClr val="00AAD6"/>
                </a:solidFill>
              </a:rPr>
              <a:t>Medio atmosférico</a:t>
            </a:r>
          </a:p>
        </p:txBody>
      </p: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A276EE69-79DF-B307-23E9-2E83F44046FE}"/>
              </a:ext>
            </a:extLst>
          </p:cNvPr>
          <p:cNvCxnSpPr>
            <a:cxnSpLocks/>
          </p:cNvCxnSpPr>
          <p:nvPr/>
        </p:nvCxnSpPr>
        <p:spPr>
          <a:xfrm>
            <a:off x="415773" y="1265941"/>
            <a:ext cx="3442481" cy="0"/>
          </a:xfrm>
          <a:prstGeom prst="line">
            <a:avLst/>
          </a:prstGeom>
          <a:ln>
            <a:solidFill>
              <a:srgbClr val="00AAD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CC1DBB8A-92A9-6802-DBB9-2AD53F04C5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FE5F45-1FFF-D043-8DCE-2BE364C338E3}" type="slidenum">
              <a:rPr lang="es-ES" smtClean="0"/>
              <a:t>15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7CFA9B9-D2D3-4608-5C71-26CEB69CFB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>
                <a:solidFill>
                  <a:schemeClr val="bg1"/>
                </a:solidFill>
              </a:rPr>
              <a:t>Dispersión y turbulencia en pulsos ultracortos: escenarios atmosférico y oceánico</a:t>
            </a:r>
          </a:p>
          <a:p>
            <a:endParaRPr lang="es-E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uadroTexto 11">
                <a:extLst>
                  <a:ext uri="{FF2B5EF4-FFF2-40B4-BE49-F238E27FC236}">
                    <a16:creationId xmlns:a16="http://schemas.microsoft.com/office/drawing/2014/main" id="{A824F51B-3DA7-D29B-7BA6-F92AFC661A90}"/>
                  </a:ext>
                </a:extLst>
              </p:cNvPr>
              <p:cNvSpPr txBox="1"/>
              <p:nvPr/>
            </p:nvSpPr>
            <p:spPr>
              <a:xfrm>
                <a:off x="1" y="5441611"/>
                <a:ext cx="5278973" cy="4453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s-ES" sz="1100" i="0" u="none" strike="noStrike" baseline="0" dirty="0">
                    <a:solidFill>
                      <a:srgbClr val="004479"/>
                    </a:solidFill>
                  </a:rPr>
                  <a:t>Barrido del factor de ensanchado considerando </a:t>
                </a:r>
              </a:p>
              <a:p>
                <a:pPr algn="ctr"/>
                <a:r>
                  <a:rPr lang="es-ES" sz="1100" i="0" u="none" strike="noStrike" baseline="0" dirty="0">
                    <a:solidFill>
                      <a:srgbClr val="004479"/>
                    </a:solidFill>
                  </a:rPr>
                  <a:t>dispersión cromática y turbulencia </a:t>
                </a:r>
                <a:r>
                  <a:rPr lang="es-ES" sz="1100" dirty="0">
                    <a:solidFill>
                      <a:srgbClr val="004479"/>
                    </a:solidFill>
                  </a:rPr>
                  <a:t>débil (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s-ES" sz="1100" i="1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s-ES" sz="1100" b="0" i="1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s-ES" sz="1100" b="0" i="1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es-ES" sz="1100" b="0" i="1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s-ES" sz="1100" b="0" i="1" smtClean="0">
                        <a:solidFill>
                          <a:srgbClr val="004479"/>
                        </a:solidFill>
                        <a:latin typeface="Cambria Math" panose="02040503050406030204" pitchFamily="18" charset="0"/>
                      </a:rPr>
                      <m:t>= </m:t>
                    </m:r>
                    <m:sSup>
                      <m:sSupPr>
                        <m:ctrlPr>
                          <a:rPr lang="es-ES" sz="1100" b="0" i="1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s-ES" sz="1100" b="0" i="1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s-ES" sz="1100" b="0" i="1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</a:rPr>
                          <m:t>−17</m:t>
                        </m:r>
                      </m:sup>
                    </m:sSup>
                    <m:sSup>
                      <m:sSupPr>
                        <m:ctrlPr>
                          <a:rPr lang="es-ES" sz="1100" b="0" i="1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s-ES" sz="1100" b="0" i="1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</a:rPr>
                          <m:t>m</m:t>
                        </m:r>
                      </m:e>
                      <m:sup>
                        <m:r>
                          <a:rPr lang="es-ES" sz="1100" b="0" i="1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</a:rPr>
                          <m:t>−2/3</m:t>
                        </m:r>
                      </m:sup>
                    </m:sSup>
                  </m:oMath>
                </a14:m>
                <a:r>
                  <a:rPr lang="es-ES" sz="1100" dirty="0">
                    <a:solidFill>
                      <a:srgbClr val="004479"/>
                    </a:solidFill>
                  </a:rPr>
                  <a:t>)</a:t>
                </a:r>
              </a:p>
            </p:txBody>
          </p:sp>
        </mc:Choice>
        <mc:Fallback xmlns="">
          <p:sp>
            <p:nvSpPr>
              <p:cNvPr id="12" name="CuadroTexto 11">
                <a:extLst>
                  <a:ext uri="{FF2B5EF4-FFF2-40B4-BE49-F238E27FC236}">
                    <a16:creationId xmlns:a16="http://schemas.microsoft.com/office/drawing/2014/main" id="{A824F51B-3DA7-D29B-7BA6-F92AFC661A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" y="5441611"/>
                <a:ext cx="5278973" cy="445378"/>
              </a:xfrm>
              <a:prstGeom prst="rect">
                <a:avLst/>
              </a:prstGeom>
              <a:blipFill>
                <a:blip r:embed="rId2"/>
                <a:stretch>
                  <a:fillRect t="-1370" b="-6849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uadroTexto 15">
                <a:extLst>
                  <a:ext uri="{FF2B5EF4-FFF2-40B4-BE49-F238E27FC236}">
                    <a16:creationId xmlns:a16="http://schemas.microsoft.com/office/drawing/2014/main" id="{5719F42B-88F1-EC5B-C82C-74B74E9407BA}"/>
                  </a:ext>
                </a:extLst>
              </p:cNvPr>
              <p:cNvSpPr txBox="1"/>
              <p:nvPr/>
            </p:nvSpPr>
            <p:spPr>
              <a:xfrm>
                <a:off x="4470043" y="5441611"/>
                <a:ext cx="4695444" cy="43723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s-ES" sz="1100" i="0" u="none" strike="noStrike" baseline="0" dirty="0">
                    <a:solidFill>
                      <a:srgbClr val="004479"/>
                    </a:solidFill>
                  </a:rPr>
                  <a:t>Barrido del factor de ensanchado considerando </a:t>
                </a:r>
              </a:p>
              <a:p>
                <a:pPr algn="ctr"/>
                <a:r>
                  <a:rPr lang="es-ES" sz="1100" i="0" u="none" strike="noStrike" baseline="0" dirty="0">
                    <a:solidFill>
                      <a:srgbClr val="004479"/>
                    </a:solidFill>
                  </a:rPr>
                  <a:t>dispersión cromática y fuerte (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s-ES" sz="1100" i="1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s-ES" sz="1100" i="1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s-ES" sz="1100" i="1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es-ES" sz="1100" i="1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s-ES" sz="1100" i="1">
                        <a:solidFill>
                          <a:srgbClr val="004479"/>
                        </a:solidFill>
                        <a:latin typeface="Cambria Math" panose="02040503050406030204" pitchFamily="18" charset="0"/>
                      </a:rPr>
                      <m:t>= </m:t>
                    </m:r>
                    <m:sSup>
                      <m:sSupPr>
                        <m:ctrlPr>
                          <a:rPr lang="es-ES" sz="1100" i="1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s-ES" sz="1100" i="1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s-ES" sz="1100" i="1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  <m:r>
                          <a:rPr lang="es-ES" sz="1100" b="0" i="1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sSup>
                      <m:sSupPr>
                        <m:ctrlPr>
                          <a:rPr lang="es-ES" sz="1100" i="1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s-ES" sz="1100" i="1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</a:rPr>
                          <m:t>m</m:t>
                        </m:r>
                      </m:e>
                      <m:sup>
                        <m:r>
                          <a:rPr lang="es-ES" sz="1100" i="1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</a:rPr>
                          <m:t>−2/3</m:t>
                        </m:r>
                      </m:sup>
                    </m:sSup>
                  </m:oMath>
                </a14:m>
                <a:r>
                  <a:rPr lang="es-ES" sz="1100" i="0" u="none" strike="noStrike" baseline="0" dirty="0">
                    <a:solidFill>
                      <a:srgbClr val="004479"/>
                    </a:solidFill>
                  </a:rPr>
                  <a:t>)</a:t>
                </a:r>
                <a:endParaRPr lang="es-ES" sz="1100" dirty="0">
                  <a:solidFill>
                    <a:srgbClr val="004479"/>
                  </a:solidFill>
                </a:endParaRPr>
              </a:p>
            </p:txBody>
          </p:sp>
        </mc:Choice>
        <mc:Fallback xmlns="">
          <p:sp>
            <p:nvSpPr>
              <p:cNvPr id="16" name="CuadroTexto 15">
                <a:extLst>
                  <a:ext uri="{FF2B5EF4-FFF2-40B4-BE49-F238E27FC236}">
                    <a16:creationId xmlns:a16="http://schemas.microsoft.com/office/drawing/2014/main" id="{5719F42B-88F1-EC5B-C82C-74B74E9407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0043" y="5441611"/>
                <a:ext cx="4695444" cy="437236"/>
              </a:xfrm>
              <a:prstGeom prst="rect">
                <a:avLst/>
              </a:prstGeom>
              <a:blipFill>
                <a:blip r:embed="rId3"/>
                <a:stretch>
                  <a:fillRect t="-1408" b="-9859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n 4" descr="Interfaz de usuario gráfica, Gráfico&#10;&#10;El contenido generado por IA puede ser incorrecto.">
            <a:extLst>
              <a:ext uri="{FF2B5EF4-FFF2-40B4-BE49-F238E27FC236}">
                <a16:creationId xmlns:a16="http://schemas.microsoft.com/office/drawing/2014/main" id="{6E1FA6D7-9F08-2D12-43BD-1993CF62B32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352" r="9050"/>
          <a:stretch>
            <a:fillRect/>
          </a:stretch>
        </p:blipFill>
        <p:spPr>
          <a:xfrm>
            <a:off x="504001" y="1646560"/>
            <a:ext cx="4067999" cy="3618260"/>
          </a:xfrm>
          <a:prstGeom prst="rect">
            <a:avLst/>
          </a:prstGeom>
        </p:spPr>
      </p:pic>
      <p:pic>
        <p:nvPicPr>
          <p:cNvPr id="10" name="Imagen 9" descr="Interfaz de usuario gráfica, Gráfico&#10;&#10;El contenido generado por IA puede ser incorrecto.">
            <a:extLst>
              <a:ext uri="{FF2B5EF4-FFF2-40B4-BE49-F238E27FC236}">
                <a16:creationId xmlns:a16="http://schemas.microsoft.com/office/drawing/2014/main" id="{812307F2-1B02-F117-A31A-5C35CE6302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5446" y="1522383"/>
            <a:ext cx="4046510" cy="3742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94338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588DB-81D8-5413-5744-EE65DD6EA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2ADBAA70-3F2F-41E3-200E-B8C399789C6C}"/>
              </a:ext>
            </a:extLst>
          </p:cNvPr>
          <p:cNvSpPr txBox="1"/>
          <p:nvPr/>
        </p:nvSpPr>
        <p:spPr>
          <a:xfrm>
            <a:off x="327188" y="305396"/>
            <a:ext cx="675941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800" b="1" dirty="0">
                <a:solidFill>
                  <a:srgbClr val="004479"/>
                </a:solidFill>
              </a:rPr>
              <a:t>Simulaciones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428A5384-5466-03AA-4271-0D46B9B6B3F9}"/>
              </a:ext>
            </a:extLst>
          </p:cNvPr>
          <p:cNvSpPr txBox="1"/>
          <p:nvPr/>
        </p:nvSpPr>
        <p:spPr>
          <a:xfrm>
            <a:off x="478548" y="729875"/>
            <a:ext cx="67594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dirty="0">
                <a:solidFill>
                  <a:srgbClr val="00AAD6"/>
                </a:solidFill>
              </a:rPr>
              <a:t>Medio oceánico</a:t>
            </a:r>
          </a:p>
        </p:txBody>
      </p: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6EC74236-345A-02F0-F7EB-681EDE3FF6D2}"/>
              </a:ext>
            </a:extLst>
          </p:cNvPr>
          <p:cNvCxnSpPr>
            <a:cxnSpLocks/>
          </p:cNvCxnSpPr>
          <p:nvPr/>
        </p:nvCxnSpPr>
        <p:spPr>
          <a:xfrm>
            <a:off x="415773" y="1265941"/>
            <a:ext cx="3442481" cy="0"/>
          </a:xfrm>
          <a:prstGeom prst="line">
            <a:avLst/>
          </a:prstGeom>
          <a:ln>
            <a:solidFill>
              <a:srgbClr val="00AAD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232C8173-1F2C-B825-E167-CD99841356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FE5F45-1FFF-D043-8DCE-2BE364C338E3}" type="slidenum">
              <a:rPr lang="es-ES" smtClean="0"/>
              <a:t>16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79E6BF6-8204-FA6F-A3C4-F56580B951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>
                <a:solidFill>
                  <a:schemeClr val="bg1"/>
                </a:solidFill>
              </a:rPr>
              <a:t>Dispersión y turbulencia en pulsos ultracortos: escenarios atmosférico y oceánico</a:t>
            </a:r>
          </a:p>
          <a:p>
            <a:endParaRPr lang="es-E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uadroTexto 11">
                <a:extLst>
                  <a:ext uri="{FF2B5EF4-FFF2-40B4-BE49-F238E27FC236}">
                    <a16:creationId xmlns:a16="http://schemas.microsoft.com/office/drawing/2014/main" id="{89689224-606D-864C-1A9C-12AD0416284A}"/>
                  </a:ext>
                </a:extLst>
              </p:cNvPr>
              <p:cNvSpPr txBox="1"/>
              <p:nvPr/>
            </p:nvSpPr>
            <p:spPr>
              <a:xfrm>
                <a:off x="327188" y="5912681"/>
                <a:ext cx="4293303" cy="4154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s-ES" sz="1050" i="0" u="none" strike="noStrike" baseline="0" dirty="0">
                    <a:solidFill>
                      <a:srgbClr val="004479"/>
                    </a:solidFill>
                  </a:rPr>
                  <a:t>Barrido del factor de ensanchado considerando </a:t>
                </a:r>
              </a:p>
              <a:p>
                <a:pPr algn="ctr"/>
                <a:r>
                  <a:rPr lang="es-ES" sz="1050" i="0" u="none" strike="noStrike" baseline="0" dirty="0">
                    <a:solidFill>
                      <a:srgbClr val="004479"/>
                    </a:solidFill>
                  </a:rPr>
                  <a:t>dispersión cromática y turbulencia </a:t>
                </a:r>
                <a:r>
                  <a:rPr lang="es-ES" sz="1050" dirty="0">
                    <a:solidFill>
                      <a:srgbClr val="004479"/>
                    </a:solidFill>
                  </a:rPr>
                  <a:t>débil (</a:t>
                </a:r>
                <a14:m>
                  <m:oMath xmlns:m="http://schemas.openxmlformats.org/officeDocument/2006/math">
                    <m:r>
                      <a:rPr lang="es-ES" sz="1050" i="1" smtClean="0">
                        <a:solidFill>
                          <a:srgbClr val="004479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  <m:r>
                      <a:rPr lang="es-ES" sz="1050" b="0" i="1" smtClean="0">
                        <a:solidFill>
                          <a:srgbClr val="004479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s-ES" sz="1050" b="0" i="1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s-ES" sz="1050" b="0" i="1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s-ES" sz="1050" b="0" i="1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−8</m:t>
                        </m:r>
                      </m:sup>
                    </m:sSup>
                    <m:sSup>
                      <m:sSupPr>
                        <m:ctrlPr>
                          <a:rPr lang="es-ES" sz="1050" b="0" i="1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s-ES" sz="1050" b="0" i="1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</m:t>
                        </m:r>
                      </m:e>
                      <m:sup>
                        <m:r>
                          <a:rPr lang="es-ES" sz="1050" b="0" i="1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s-ES" sz="1050" b="0" i="1" smtClean="0">
                        <a:solidFill>
                          <a:srgbClr val="004479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es-ES" sz="1050" b="0" i="1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s-ES" sz="1050" b="0" i="1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</m:e>
                      <m:sup>
                        <m:r>
                          <a:rPr lang="es-ES" sz="1050" b="0" i="1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lang="es-ES" sz="1050" dirty="0">
                    <a:solidFill>
                      <a:srgbClr val="004479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050" i="1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050" i="1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s-ES" sz="1050" b="0" i="1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s-ES" sz="1050" b="0" i="1" smtClean="0">
                        <a:solidFill>
                          <a:srgbClr val="004479"/>
                        </a:solidFill>
                        <a:latin typeface="Cambria Math" panose="02040503050406030204" pitchFamily="18" charset="0"/>
                      </a:rPr>
                      <m:t>= </m:t>
                    </m:r>
                    <m:sSup>
                      <m:sSupPr>
                        <m:ctrlPr>
                          <a:rPr lang="es-ES" sz="1050" b="0" i="1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s-ES" sz="1050" b="0" i="1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s-ES" sz="1050" b="0" i="1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</a:rPr>
                          <m:t>−10</m:t>
                        </m:r>
                      </m:sup>
                    </m:sSup>
                    <m:sSup>
                      <m:sSupPr>
                        <m:ctrlPr>
                          <a:rPr lang="es-ES" sz="1050" b="0" i="1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s-ES" sz="1050" b="0" i="1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p>
                        <m:r>
                          <a:rPr lang="es-ES" sz="1050" b="0" i="1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s-ES" sz="1050" b="0" i="1" smtClean="0">
                        <a:solidFill>
                          <a:srgbClr val="004479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m:rPr>
                        <m:sty m:val="p"/>
                      </m:rPr>
                      <a:rPr lang="es-ES" sz="1050" b="0" i="1" smtClean="0">
                        <a:solidFill>
                          <a:srgbClr val="004479"/>
                        </a:solidFill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es-ES" sz="1050" dirty="0">
                    <a:solidFill>
                      <a:srgbClr val="004479"/>
                    </a:solidFill>
                  </a:rPr>
                  <a:t>)</a:t>
                </a:r>
              </a:p>
            </p:txBody>
          </p:sp>
        </mc:Choice>
        <mc:Fallback xmlns="">
          <p:sp>
            <p:nvSpPr>
              <p:cNvPr id="12" name="CuadroTexto 11">
                <a:extLst>
                  <a:ext uri="{FF2B5EF4-FFF2-40B4-BE49-F238E27FC236}">
                    <a16:creationId xmlns:a16="http://schemas.microsoft.com/office/drawing/2014/main" id="{89689224-606D-864C-1A9C-12AD041628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188" y="5912681"/>
                <a:ext cx="4293303" cy="415498"/>
              </a:xfrm>
              <a:prstGeom prst="rect">
                <a:avLst/>
              </a:prstGeom>
              <a:blipFill>
                <a:blip r:embed="rId2"/>
                <a:stretch>
                  <a:fillRect b="-8824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Imagen 6" descr="Gráfico&#10;&#10;El contenido generado por IA puede ser incorrecto.">
            <a:extLst>
              <a:ext uri="{FF2B5EF4-FFF2-40B4-BE49-F238E27FC236}">
                <a16:creationId xmlns:a16="http://schemas.microsoft.com/office/drawing/2014/main" id="{B03A820B-1FD6-4AC9-B562-87DEB4350B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752" y="1344160"/>
            <a:ext cx="3909220" cy="4468480"/>
          </a:xfrm>
          <a:prstGeom prst="rect">
            <a:avLst/>
          </a:prstGeom>
        </p:spPr>
      </p:pic>
      <p:pic>
        <p:nvPicPr>
          <p:cNvPr id="13" name="Imagen 12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7F1F9554-B000-7470-9058-F7AB333F64D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461"/>
          <a:stretch>
            <a:fillRect/>
          </a:stretch>
        </p:blipFill>
        <p:spPr>
          <a:xfrm>
            <a:off x="4756234" y="1346540"/>
            <a:ext cx="3792799" cy="446609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uadroTexto 15">
                <a:extLst>
                  <a:ext uri="{FF2B5EF4-FFF2-40B4-BE49-F238E27FC236}">
                    <a16:creationId xmlns:a16="http://schemas.microsoft.com/office/drawing/2014/main" id="{3FB7E178-00B8-C135-9BD7-DDD8D88F46E0}"/>
                  </a:ext>
                </a:extLst>
              </p:cNvPr>
              <p:cNvSpPr txBox="1"/>
              <p:nvPr/>
            </p:nvSpPr>
            <p:spPr>
              <a:xfrm>
                <a:off x="4530436" y="5912681"/>
                <a:ext cx="4695444" cy="43088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s-ES" sz="1050" i="0" u="none" strike="noStrike" baseline="0" dirty="0">
                    <a:solidFill>
                      <a:srgbClr val="004479"/>
                    </a:solidFill>
                  </a:rPr>
                  <a:t>Barrido del factor de ensanchado considerando </a:t>
                </a:r>
              </a:p>
              <a:p>
                <a:pPr algn="ctr"/>
                <a:r>
                  <a:rPr lang="es-ES" sz="1050" i="0" u="none" strike="noStrike" baseline="0" dirty="0">
                    <a:solidFill>
                      <a:srgbClr val="004479"/>
                    </a:solidFill>
                  </a:rPr>
                  <a:t>dispersión cromática y turbulencia</a:t>
                </a:r>
                <a:r>
                  <a:rPr lang="es-ES" sz="1050" i="0" u="none" strike="noStrike" dirty="0">
                    <a:solidFill>
                      <a:srgbClr val="004479"/>
                    </a:solidFill>
                  </a:rPr>
                  <a:t> </a:t>
                </a:r>
                <a:r>
                  <a:rPr lang="es-ES" sz="1050" i="0" u="none" strike="noStrike" baseline="0" dirty="0">
                    <a:solidFill>
                      <a:srgbClr val="004479"/>
                    </a:solidFill>
                  </a:rPr>
                  <a:t>fuerte </a:t>
                </a:r>
                <a14:m>
                  <m:oMath xmlns:m="http://schemas.openxmlformats.org/officeDocument/2006/math">
                    <m:r>
                      <a:rPr lang="es-ES" sz="1050" b="0" i="0" smtClean="0">
                        <a:solidFill>
                          <a:srgbClr val="004479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s-ES" sz="1050" i="1">
                        <a:solidFill>
                          <a:srgbClr val="004479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  <m:r>
                      <a:rPr lang="es-ES" sz="1050" i="1">
                        <a:solidFill>
                          <a:srgbClr val="004479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s-ES" sz="1050" i="1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s-ES" sz="1050" i="1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s-ES" sz="1050" i="1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es-ES" sz="1050" b="0" i="1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sup>
                    </m:sSup>
                    <m:sSup>
                      <m:sSupPr>
                        <m:ctrlPr>
                          <a:rPr lang="es-ES" sz="1050" i="1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s-ES" sz="1050" i="1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</m:t>
                        </m:r>
                      </m:e>
                      <m:sup>
                        <m:r>
                          <a:rPr lang="es-ES" sz="1050" i="1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s-ES" sz="1050" i="1">
                        <a:solidFill>
                          <a:srgbClr val="004479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es-ES" sz="1050" i="1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s-ES" sz="1050" i="1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</m:e>
                      <m:sup>
                        <m:r>
                          <a:rPr lang="es-ES" sz="1050" i="1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lang="es-ES" sz="1050" dirty="0">
                    <a:solidFill>
                      <a:srgbClr val="004479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050" i="1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050" i="1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s-ES" sz="1050" i="1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s-ES" sz="1050" i="1">
                        <a:solidFill>
                          <a:srgbClr val="004479"/>
                        </a:solidFill>
                        <a:latin typeface="Cambria Math" panose="02040503050406030204" pitchFamily="18" charset="0"/>
                      </a:rPr>
                      <m:t>= </m:t>
                    </m:r>
                    <m:sSup>
                      <m:sSupPr>
                        <m:ctrlPr>
                          <a:rPr lang="es-ES" sz="1050" i="1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s-ES" sz="1050" i="1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s-ES" sz="1050" i="1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s-ES" sz="1050" b="0" i="1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sup>
                    </m:sSup>
                    <m:sSup>
                      <m:sSupPr>
                        <m:ctrlPr>
                          <a:rPr lang="es-ES" sz="1050" i="1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s-ES" sz="1050" i="1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p>
                        <m:r>
                          <a:rPr lang="es-ES" sz="1050" i="1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s-ES" sz="1050" i="1">
                        <a:solidFill>
                          <a:srgbClr val="004479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m:rPr>
                        <m:sty m:val="p"/>
                      </m:rPr>
                      <a:rPr lang="es-ES" sz="1050" i="1">
                        <a:solidFill>
                          <a:srgbClr val="004479"/>
                        </a:solidFill>
                        <a:latin typeface="Cambria Math" panose="02040503050406030204" pitchFamily="18" charset="0"/>
                      </a:rPr>
                      <m:t>s</m:t>
                    </m:r>
                    <m:r>
                      <a:rPr lang="es-ES" sz="1050" b="0" i="1" smtClean="0">
                        <a:solidFill>
                          <a:srgbClr val="004479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s-ES" sz="1050" dirty="0">
                  <a:solidFill>
                    <a:srgbClr val="004479"/>
                  </a:solidFill>
                </a:endParaRPr>
              </a:p>
            </p:txBody>
          </p:sp>
        </mc:Choice>
        <mc:Fallback xmlns="">
          <p:sp>
            <p:nvSpPr>
              <p:cNvPr id="16" name="CuadroTexto 15">
                <a:extLst>
                  <a:ext uri="{FF2B5EF4-FFF2-40B4-BE49-F238E27FC236}">
                    <a16:creationId xmlns:a16="http://schemas.microsoft.com/office/drawing/2014/main" id="{3FB7E178-00B8-C135-9BD7-DDD8D88F46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0436" y="5912681"/>
                <a:ext cx="4695444" cy="430887"/>
              </a:xfrm>
              <a:prstGeom prst="rect">
                <a:avLst/>
              </a:prstGeom>
              <a:blipFill>
                <a:blip r:embed="rId5"/>
                <a:stretch>
                  <a:fillRect b="-4225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213152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AADC73-E03C-32C5-FE76-6A193108A7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2DEB72C6-CF88-B958-C90B-E97ADB1FC244}"/>
              </a:ext>
            </a:extLst>
          </p:cNvPr>
          <p:cNvSpPr txBox="1"/>
          <p:nvPr/>
        </p:nvSpPr>
        <p:spPr>
          <a:xfrm>
            <a:off x="327188" y="305396"/>
            <a:ext cx="675941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800" b="1" dirty="0">
                <a:solidFill>
                  <a:srgbClr val="004479"/>
                </a:solidFill>
              </a:rPr>
              <a:t>Conclusiones y líneas futuras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EC6DCE1C-70F9-5C33-C326-90A188492E6D}"/>
              </a:ext>
            </a:extLst>
          </p:cNvPr>
          <p:cNvSpPr txBox="1"/>
          <p:nvPr/>
        </p:nvSpPr>
        <p:spPr>
          <a:xfrm>
            <a:off x="478548" y="729875"/>
            <a:ext cx="67594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dirty="0">
                <a:solidFill>
                  <a:srgbClr val="00AAD6"/>
                </a:solidFill>
              </a:rPr>
              <a:t>Conclusiones</a:t>
            </a:r>
          </a:p>
        </p:txBody>
      </p: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5BB26763-F597-233C-9E10-EB3BFCDD9783}"/>
              </a:ext>
            </a:extLst>
          </p:cNvPr>
          <p:cNvCxnSpPr>
            <a:cxnSpLocks/>
          </p:cNvCxnSpPr>
          <p:nvPr/>
        </p:nvCxnSpPr>
        <p:spPr>
          <a:xfrm>
            <a:off x="415773" y="1265941"/>
            <a:ext cx="3442481" cy="0"/>
          </a:xfrm>
          <a:prstGeom prst="line">
            <a:avLst/>
          </a:prstGeom>
          <a:ln>
            <a:solidFill>
              <a:srgbClr val="00AAD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2F0115DF-F63C-B2D6-4333-7FC6F81B4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FE5F45-1FFF-D043-8DCE-2BE364C338E3}" type="slidenum">
              <a:rPr lang="es-ES" smtClean="0"/>
              <a:t>17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0938CE1-54CE-54CB-0788-37D6A1D247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>
                <a:solidFill>
                  <a:schemeClr val="bg1"/>
                </a:solidFill>
              </a:rPr>
              <a:t>Dispersión y turbulencia en pulsos ultracortos: escenarios atmosférico y oceánico</a:t>
            </a:r>
          </a:p>
          <a:p>
            <a:endParaRPr lang="es-E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uadroTexto 3">
                <a:extLst>
                  <a:ext uri="{FF2B5EF4-FFF2-40B4-BE49-F238E27FC236}">
                    <a16:creationId xmlns:a16="http://schemas.microsoft.com/office/drawing/2014/main" id="{EFFB793A-B52E-6E8A-4359-8F991B8C5406}"/>
                  </a:ext>
                </a:extLst>
              </p:cNvPr>
              <p:cNvSpPr txBox="1"/>
              <p:nvPr/>
            </p:nvSpPr>
            <p:spPr>
              <a:xfrm>
                <a:off x="478548" y="1185733"/>
                <a:ext cx="8831472" cy="43150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lnSpc>
                    <a:spcPct val="200000"/>
                  </a:lnSpc>
                </a:pPr>
                <a:endParaRPr lang="es-ES" sz="2000" dirty="0">
                  <a:solidFill>
                    <a:srgbClr val="004479"/>
                  </a:solidFill>
                  <a:latin typeface="Malacitana-Sans" pitchFamily="2" charset="77"/>
                </a:endParaRPr>
              </a:p>
              <a:p>
                <a:pPr marL="800100" lvl="1" indent="-342900" algn="just">
                  <a:lnSpc>
                    <a:spcPct val="200000"/>
                  </a:lnSpc>
                  <a:buFont typeface="Courier New" panose="02070309020205020404" pitchFamily="49" charset="0"/>
                  <a:buChar char="o"/>
                </a:pPr>
                <a:r>
                  <a:rPr lang="es-ES" sz="2000" dirty="0">
                    <a:solidFill>
                      <a:srgbClr val="004479"/>
                    </a:solidFill>
                  </a:rPr>
                  <a:t>Predominio de la dispersión cromática</a:t>
                </a:r>
              </a:p>
              <a:p>
                <a:pPr marL="800100" lvl="1" indent="-342900" algn="just">
                  <a:lnSpc>
                    <a:spcPct val="200000"/>
                  </a:lnSpc>
                  <a:buFont typeface="Courier New" panose="02070309020205020404" pitchFamily="49" charset="0"/>
                  <a:buChar char="o"/>
                </a:pPr>
                <a:r>
                  <a:rPr lang="es-ES" sz="2000" dirty="0">
                    <a:solidFill>
                      <a:srgbClr val="004479"/>
                    </a:solidFill>
                  </a:rPr>
                  <a:t>Influencia del </a:t>
                </a:r>
                <a:r>
                  <a:rPr lang="es-ES" sz="2000" i="1" dirty="0">
                    <a:solidFill>
                      <a:srgbClr val="004479"/>
                    </a:solidFill>
                  </a:rPr>
                  <a:t>chirp</a:t>
                </a:r>
                <a:r>
                  <a:rPr lang="es-ES" sz="2000" dirty="0">
                    <a:solidFill>
                      <a:srgbClr val="004479"/>
                    </a:solidFill>
                  </a:rPr>
                  <a:t> y del signo del producto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2000" i="1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2000" i="1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s-ES" sz="2000" b="0" i="1" smtClean="0">
                            <a:solidFill>
                              <a:srgbClr val="004479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s-ES" sz="2000" b="0" i="1" smtClean="0">
                        <a:solidFill>
                          <a:srgbClr val="004479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endParaRPr lang="es-ES" sz="2000" dirty="0">
                  <a:solidFill>
                    <a:srgbClr val="004479"/>
                  </a:solidFill>
                </a:endParaRPr>
              </a:p>
              <a:p>
                <a:pPr marL="800100" lvl="1" indent="-342900" algn="just">
                  <a:lnSpc>
                    <a:spcPct val="200000"/>
                  </a:lnSpc>
                  <a:buFont typeface="Courier New" panose="02070309020205020404" pitchFamily="49" charset="0"/>
                  <a:buChar char="o"/>
                </a:pPr>
                <a:r>
                  <a:rPr lang="es-ES" sz="2000" dirty="0">
                    <a:solidFill>
                      <a:srgbClr val="004479"/>
                    </a:solidFill>
                  </a:rPr>
                  <a:t>Dependencia con la distancia de propagación</a:t>
                </a:r>
              </a:p>
              <a:p>
                <a:pPr marL="800100" lvl="1" indent="-342900" algn="just">
                  <a:lnSpc>
                    <a:spcPct val="200000"/>
                  </a:lnSpc>
                  <a:buFont typeface="Courier New" panose="02070309020205020404" pitchFamily="49" charset="0"/>
                  <a:buChar char="o"/>
                </a:pPr>
                <a:r>
                  <a:rPr lang="es-ES" sz="2000" dirty="0">
                    <a:solidFill>
                      <a:srgbClr val="004479"/>
                    </a:solidFill>
                  </a:rPr>
                  <a:t>Efecto de la turbulencia</a:t>
                </a:r>
              </a:p>
              <a:p>
                <a:pPr marL="800100" lvl="1" indent="-342900" algn="just">
                  <a:lnSpc>
                    <a:spcPct val="200000"/>
                  </a:lnSpc>
                  <a:buFont typeface="Courier New" panose="02070309020205020404" pitchFamily="49" charset="0"/>
                  <a:buChar char="o"/>
                </a:pPr>
                <a:r>
                  <a:rPr lang="es-ES" sz="2000" dirty="0">
                    <a:solidFill>
                      <a:srgbClr val="004479"/>
                    </a:solidFill>
                  </a:rPr>
                  <a:t>Efecto de la dispersión de tercer orden</a:t>
                </a:r>
              </a:p>
              <a:p>
                <a:pPr marL="800100" lvl="1" indent="-342900" algn="just">
                  <a:lnSpc>
                    <a:spcPct val="200000"/>
                  </a:lnSpc>
                  <a:buFont typeface="Courier New" panose="02070309020205020404" pitchFamily="49" charset="0"/>
                  <a:buChar char="o"/>
                </a:pPr>
                <a:r>
                  <a:rPr lang="es-ES" sz="2000" dirty="0">
                    <a:solidFill>
                      <a:srgbClr val="004479"/>
                    </a:solidFill>
                  </a:rPr>
                  <a:t>Dependencia con la anchura temporal inicial</a:t>
                </a:r>
              </a:p>
            </p:txBody>
          </p:sp>
        </mc:Choice>
        <mc:Fallback xmlns="">
          <p:sp>
            <p:nvSpPr>
              <p:cNvPr id="5" name="CuadroTexto 3">
                <a:extLst>
                  <a:ext uri="{FF2B5EF4-FFF2-40B4-BE49-F238E27FC236}">
                    <a16:creationId xmlns:a16="http://schemas.microsoft.com/office/drawing/2014/main" id="{EFFB793A-B52E-6E8A-4359-8F991B8C54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8548" y="1185733"/>
                <a:ext cx="8831472" cy="4315027"/>
              </a:xfrm>
              <a:prstGeom prst="rect">
                <a:avLst/>
              </a:prstGeom>
              <a:blipFill>
                <a:blip r:embed="rId2"/>
                <a:stretch>
                  <a:fillRect b="-1839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007145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333C14-A657-CAD0-0034-9C3C560E6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CBF473B4-A739-87BA-5EF8-054E68C54BA1}"/>
              </a:ext>
            </a:extLst>
          </p:cNvPr>
          <p:cNvSpPr txBox="1"/>
          <p:nvPr/>
        </p:nvSpPr>
        <p:spPr>
          <a:xfrm>
            <a:off x="327188" y="305396"/>
            <a:ext cx="675941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800" b="1" dirty="0">
                <a:solidFill>
                  <a:srgbClr val="004479"/>
                </a:solidFill>
              </a:rPr>
              <a:t>Conclusiones y líneas futuras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2D17166B-284E-6F33-4B05-E1D36B4C931F}"/>
              </a:ext>
            </a:extLst>
          </p:cNvPr>
          <p:cNvSpPr txBox="1"/>
          <p:nvPr/>
        </p:nvSpPr>
        <p:spPr>
          <a:xfrm>
            <a:off x="478548" y="729875"/>
            <a:ext cx="67594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dirty="0">
                <a:solidFill>
                  <a:srgbClr val="00AAD6"/>
                </a:solidFill>
              </a:rPr>
              <a:t>Líneas futuras</a:t>
            </a:r>
          </a:p>
        </p:txBody>
      </p: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D881BE04-4883-38C5-725F-BC1BE1E5B110}"/>
              </a:ext>
            </a:extLst>
          </p:cNvPr>
          <p:cNvCxnSpPr>
            <a:cxnSpLocks/>
          </p:cNvCxnSpPr>
          <p:nvPr/>
        </p:nvCxnSpPr>
        <p:spPr>
          <a:xfrm>
            <a:off x="415773" y="1265941"/>
            <a:ext cx="3442481" cy="0"/>
          </a:xfrm>
          <a:prstGeom prst="line">
            <a:avLst/>
          </a:prstGeom>
          <a:ln>
            <a:solidFill>
              <a:srgbClr val="00AAD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0FD9E08-B49B-3E8A-DAE2-FC19F4A13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FE5F45-1FFF-D043-8DCE-2BE364C338E3}" type="slidenum">
              <a:rPr lang="es-ES" smtClean="0"/>
              <a:t>18</a:t>
            </a:fld>
            <a:endParaRPr lang="es-ES" dirty="0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2554A128-6686-DAAD-84E0-19443649C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>
                <a:solidFill>
                  <a:schemeClr val="bg1"/>
                </a:solidFill>
              </a:rPr>
              <a:t>Dispersión y turbulencia en pulsos ultracortos: escenarios atmosférico y oceánico</a:t>
            </a:r>
          </a:p>
          <a:p>
            <a:endParaRPr lang="es-ES" dirty="0"/>
          </a:p>
        </p:txBody>
      </p:sp>
      <p:sp>
        <p:nvSpPr>
          <p:cNvPr id="5" name="CuadroTexto 3">
            <a:extLst>
              <a:ext uri="{FF2B5EF4-FFF2-40B4-BE49-F238E27FC236}">
                <a16:creationId xmlns:a16="http://schemas.microsoft.com/office/drawing/2014/main" id="{2AFDC31C-6975-7B63-7B30-1EE11853047F}"/>
              </a:ext>
            </a:extLst>
          </p:cNvPr>
          <p:cNvSpPr txBox="1"/>
          <p:nvPr/>
        </p:nvSpPr>
        <p:spPr>
          <a:xfrm>
            <a:off x="415773" y="1703267"/>
            <a:ext cx="7698433" cy="2899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es-ES" sz="2800" dirty="0">
              <a:solidFill>
                <a:srgbClr val="004479"/>
              </a:solidFill>
              <a:latin typeface="Malacitana-Sans" pitchFamily="2" charset="77"/>
            </a:endParaRPr>
          </a:p>
          <a:p>
            <a:pPr marL="800100" lvl="1" indent="-342900" algn="just">
              <a:lnSpc>
                <a:spcPct val="200000"/>
              </a:lnSpc>
              <a:buFont typeface="Courier New" panose="02070309020205020404" pitchFamily="49" charset="0"/>
              <a:buChar char="o"/>
            </a:pPr>
            <a:r>
              <a:rPr lang="es-ES" sz="2000" dirty="0">
                <a:solidFill>
                  <a:srgbClr val="004479"/>
                </a:solidFill>
              </a:rPr>
              <a:t>Modelos más realistas para turbulencia oceánica</a:t>
            </a:r>
          </a:p>
          <a:p>
            <a:pPr marL="800100" lvl="1" indent="-342900" algn="just">
              <a:lnSpc>
                <a:spcPct val="200000"/>
              </a:lnSpc>
              <a:buFont typeface="Courier New" panose="02070309020205020404" pitchFamily="49" charset="0"/>
              <a:buChar char="o"/>
            </a:pPr>
            <a:r>
              <a:rPr lang="es-ES" sz="2000" dirty="0">
                <a:solidFill>
                  <a:srgbClr val="004479"/>
                </a:solidFill>
              </a:rPr>
              <a:t>Optimización de enlaces ópticos en condiciones cambiantes</a:t>
            </a:r>
          </a:p>
          <a:p>
            <a:pPr marL="800100" lvl="1" indent="-342900" algn="just">
              <a:lnSpc>
                <a:spcPct val="200000"/>
              </a:lnSpc>
              <a:buFont typeface="Courier New" panose="02070309020205020404" pitchFamily="49" charset="0"/>
              <a:buChar char="o"/>
            </a:pPr>
            <a:r>
              <a:rPr lang="es-ES" sz="2000" dirty="0">
                <a:solidFill>
                  <a:srgbClr val="004479"/>
                </a:solidFill>
              </a:rPr>
              <a:t>Sistemas híbridos de comunicación</a:t>
            </a:r>
          </a:p>
          <a:p>
            <a:pPr marL="800100" lvl="1" indent="-342900" algn="just">
              <a:lnSpc>
                <a:spcPct val="200000"/>
              </a:lnSpc>
              <a:buFont typeface="Courier New" panose="02070309020205020404" pitchFamily="49" charset="0"/>
              <a:buChar char="o"/>
            </a:pPr>
            <a:r>
              <a:rPr lang="es-ES" sz="2000" dirty="0">
                <a:solidFill>
                  <a:srgbClr val="004479"/>
                </a:solidFill>
              </a:rPr>
              <a:t>Comunicaciones FSO como plataforma para enlaces cuánticos</a:t>
            </a:r>
          </a:p>
        </p:txBody>
      </p:sp>
    </p:spTree>
    <p:extLst>
      <p:ext uri="{BB962C8B-B14F-4D97-AF65-F5344CB8AC3E}">
        <p14:creationId xmlns:p14="http://schemas.microsoft.com/office/powerpoint/2010/main" val="14714326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ie de página 1">
            <a:extLst>
              <a:ext uri="{FF2B5EF4-FFF2-40B4-BE49-F238E27FC236}">
                <a16:creationId xmlns:a16="http://schemas.microsoft.com/office/drawing/2014/main" id="{C11CB00D-1911-B4CB-2C42-5E3463FBAD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Dispersión y turbulencia en pulsos ultracortos: escenarios atmosférico y oceánico 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B5100C1B-763E-44FC-4F6F-5E067E350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FE5F45-1FFF-D043-8DCE-2BE364C338E3}" type="slidenum">
              <a:rPr lang="es-ES" smtClean="0"/>
              <a:pPr/>
              <a:t>19</a:t>
            </a:fld>
            <a:endParaRPr lang="es-ES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747EA68D-6323-C5EF-156E-8AAFCE2335D2}"/>
              </a:ext>
            </a:extLst>
          </p:cNvPr>
          <p:cNvSpPr txBox="1"/>
          <p:nvPr/>
        </p:nvSpPr>
        <p:spPr>
          <a:xfrm>
            <a:off x="1163192" y="2265282"/>
            <a:ext cx="7713727" cy="22191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ES" sz="4000" dirty="0">
                <a:solidFill>
                  <a:srgbClr val="004479"/>
                </a:solidFill>
              </a:rPr>
              <a:t>Gracias por su atención </a:t>
            </a:r>
            <a:endParaRPr lang="es-ES" dirty="0">
              <a:solidFill>
                <a:srgbClr val="00AAD6"/>
              </a:solidFill>
            </a:endParaRPr>
          </a:p>
          <a:p>
            <a:pPr>
              <a:lnSpc>
                <a:spcPct val="150000"/>
              </a:lnSpc>
            </a:pPr>
            <a:endParaRPr lang="es-ES" dirty="0">
              <a:solidFill>
                <a:srgbClr val="00AAD6"/>
              </a:solidFill>
            </a:endParaRPr>
          </a:p>
          <a:p>
            <a:pPr>
              <a:lnSpc>
                <a:spcPct val="150000"/>
              </a:lnSpc>
            </a:pPr>
            <a:r>
              <a:rPr lang="es-ES" dirty="0">
                <a:solidFill>
                  <a:srgbClr val="00AAD6"/>
                </a:solidFill>
              </a:rPr>
              <a:t>Noelia Damas Vílchez</a:t>
            </a:r>
          </a:p>
          <a:p>
            <a:pPr>
              <a:lnSpc>
                <a:spcPct val="150000"/>
              </a:lnSpc>
            </a:pPr>
            <a:r>
              <a:rPr lang="es-ES" sz="1600" dirty="0">
                <a:solidFill>
                  <a:srgbClr val="00AAD6"/>
                </a:solidFill>
              </a:rPr>
              <a:t>noeliadamas@uma.es</a:t>
            </a:r>
            <a:endParaRPr lang="es-ES" sz="3600" dirty="0">
              <a:solidFill>
                <a:srgbClr val="004479"/>
              </a:solidFill>
            </a:endParaRPr>
          </a:p>
        </p:txBody>
      </p:sp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F63D6BCD-5C7D-E6ED-BAA1-DF47303337AB}"/>
              </a:ext>
            </a:extLst>
          </p:cNvPr>
          <p:cNvCxnSpPr>
            <a:cxnSpLocks/>
          </p:cNvCxnSpPr>
          <p:nvPr/>
        </p:nvCxnSpPr>
        <p:spPr>
          <a:xfrm>
            <a:off x="1266678" y="3401950"/>
            <a:ext cx="3442481" cy="0"/>
          </a:xfrm>
          <a:prstGeom prst="line">
            <a:avLst/>
          </a:prstGeom>
          <a:ln w="38100">
            <a:solidFill>
              <a:srgbClr val="00AAD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9769676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DENTIDAD WEB POWER POINT" id="{39D243A9-8FAE-5A41-90A7-5A5B874E736E}" vid="{E7D63287-D7CD-7742-85FC-41BD0F791CC3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2651</TotalTime>
  <Words>1740</Words>
  <Application>Microsoft Office PowerPoint</Application>
  <PresentationFormat>On-screen Show (4:3)</PresentationFormat>
  <Paragraphs>272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6" baseType="lpstr">
      <vt:lpstr>Arial</vt:lpstr>
      <vt:lpstr>Calibri</vt:lpstr>
      <vt:lpstr>Cambria Math</vt:lpstr>
      <vt:lpstr>Courier New</vt:lpstr>
      <vt:lpstr>Malacitana</vt:lpstr>
      <vt:lpstr>Malacitana-Sans</vt:lpstr>
      <vt:lpstr>Tema de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Noelia</dc:creator>
  <cp:lastModifiedBy>Noelia Damas (Nokia)</cp:lastModifiedBy>
  <cp:revision>90</cp:revision>
  <dcterms:created xsi:type="dcterms:W3CDTF">2019-06-10T11:00:10Z</dcterms:created>
  <dcterms:modified xsi:type="dcterms:W3CDTF">2026-02-16T11:04:05Z</dcterms:modified>
</cp:coreProperties>
</file>