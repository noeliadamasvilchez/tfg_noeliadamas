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3" r:id="rId7"/>
    <p:sldId id="269" r:id="rId8"/>
    <p:sldId id="271" r:id="rId9"/>
    <p:sldId id="270" r:id="rId10"/>
    <p:sldId id="273" r:id="rId11"/>
    <p:sldId id="275" r:id="rId12"/>
    <p:sldId id="274" r:id="rId13"/>
    <p:sldId id="279" r:id="rId14"/>
    <p:sldId id="280" r:id="rId15"/>
    <p:sldId id="276" r:id="rId16"/>
    <p:sldId id="277" r:id="rId17"/>
    <p:sldId id="28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D6"/>
    <a:srgbClr val="0044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84" d="100"/>
          <a:sy n="84" d="100"/>
        </p:scale>
        <p:origin x="14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AF38C-8449-4683-974E-1A1AC51FBE8E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5F68A-C1E1-49F0-B6A0-815759A1071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27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" y="6492875"/>
            <a:ext cx="8577942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s-ES"/>
              <a:t>Dispersión y turbulencia en pulsos ultracortos: escenarios atmosférico y oceánico 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FCFE5F45-1FFF-D043-8DCE-2BE364C338E3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715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FCFE5F45-1FFF-D043-8DCE-2BE364C338E3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339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89B0FDF-3662-524B-9C65-9051F9B74522}"/>
              </a:ext>
            </a:extLst>
          </p:cNvPr>
          <p:cNvSpPr txBox="1"/>
          <p:nvPr/>
        </p:nvSpPr>
        <p:spPr>
          <a:xfrm>
            <a:off x="1955972" y="3550638"/>
            <a:ext cx="6429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9028F85-7003-8F4F-BB66-F2F24CD19A38}"/>
              </a:ext>
            </a:extLst>
          </p:cNvPr>
          <p:cNvCxnSpPr>
            <a:cxnSpLocks/>
          </p:cNvCxnSpPr>
          <p:nvPr/>
        </p:nvCxnSpPr>
        <p:spPr>
          <a:xfrm>
            <a:off x="1974580" y="4364804"/>
            <a:ext cx="41674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E4FABE-B117-3644-AAD3-E54937705EDC}"/>
              </a:ext>
            </a:extLst>
          </p:cNvPr>
          <p:cNvSpPr txBox="1"/>
          <p:nvPr/>
        </p:nvSpPr>
        <p:spPr>
          <a:xfrm>
            <a:off x="1955974" y="4471085"/>
            <a:ext cx="527703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Noelia Damas Vílchez</a:t>
            </a:r>
          </a:p>
          <a:p>
            <a:r>
              <a:rPr lang="es-ES" dirty="0">
                <a:solidFill>
                  <a:schemeClr val="bg1"/>
                </a:solidFill>
              </a:rPr>
              <a:t>Tutor/a/es: Rubén Boluda Ruiz</a:t>
            </a:r>
          </a:p>
          <a:p>
            <a:r>
              <a:rPr lang="es-ES" dirty="0">
                <a:solidFill>
                  <a:srgbClr val="00AAD6"/>
                </a:solidFill>
              </a:rPr>
              <a:t>Grado en Ingeniería Telemática</a:t>
            </a:r>
          </a:p>
          <a:p>
            <a:r>
              <a:rPr lang="es-ES" sz="1400" dirty="0">
                <a:solidFill>
                  <a:schemeClr val="bg1"/>
                </a:solidFill>
              </a:rPr>
              <a:t>Málaga, 24 de 01 de 2026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Dispersión y turbulencia en pulsos ultracortos: escenarios atmosférico y oceánico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681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DF0C0A6-3121-D549-85A2-CC9A3E8FC545}"/>
              </a:ext>
            </a:extLst>
          </p:cNvPr>
          <p:cNvSpPr txBox="1"/>
          <p:nvPr/>
        </p:nvSpPr>
        <p:spPr>
          <a:xfrm>
            <a:off x="327189" y="121719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rgbClr val="004479"/>
                </a:solidFill>
                <a:latin typeface="Malacitana" pitchFamily="2" charset="77"/>
              </a:rPr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A85736-3E70-7946-A4A9-796CBF974F42}"/>
              </a:ext>
            </a:extLst>
          </p:cNvPr>
          <p:cNvSpPr txBox="1"/>
          <p:nvPr/>
        </p:nvSpPr>
        <p:spPr>
          <a:xfrm>
            <a:off x="715136" y="1608914"/>
            <a:ext cx="7713727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1. Overview of the work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2. Motivación y contexto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3. Fundamentos teóricos 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4. Modelos teóricos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6. Simulaciones</a:t>
            </a:r>
          </a:p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004479"/>
                </a:solidFill>
              </a:rPr>
              <a:t>7. Conclusiones y líneas futuras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8318C8C-91B9-4A4C-9060-C2411328EE6E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5" name="CuadroTexto 7">
            <a:extLst>
              <a:ext uri="{FF2B5EF4-FFF2-40B4-BE49-F238E27FC236}">
                <a16:creationId xmlns:a16="http://schemas.microsoft.com/office/drawing/2014/main" id="{FE4DC5AC-B513-67D3-C2A7-447D6B493FB9}"/>
              </a:ext>
            </a:extLst>
          </p:cNvPr>
          <p:cNvSpPr txBox="1"/>
          <p:nvPr/>
        </p:nvSpPr>
        <p:spPr>
          <a:xfrm>
            <a:off x="327189" y="465871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Índice de contenidos </a:t>
            </a:r>
          </a:p>
        </p:txBody>
      </p:sp>
    </p:spTree>
    <p:extLst>
      <p:ext uri="{BB962C8B-B14F-4D97-AF65-F5344CB8AC3E}">
        <p14:creationId xmlns:p14="http://schemas.microsoft.com/office/powerpoint/2010/main" val="73666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DF0C0A6-3121-D549-85A2-CC9A3E8FC545}"/>
              </a:ext>
            </a:extLst>
          </p:cNvPr>
          <p:cNvSpPr txBox="1"/>
          <p:nvPr/>
        </p:nvSpPr>
        <p:spPr>
          <a:xfrm>
            <a:off x="327189" y="465871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Overview</a:t>
            </a:r>
            <a:r>
              <a:rPr lang="es-ES" sz="2800" b="1" dirty="0">
                <a:solidFill>
                  <a:srgbClr val="004479"/>
                </a:solidFill>
                <a:latin typeface="Malacitana" pitchFamily="2" charset="77"/>
              </a:rPr>
              <a:t> of the work</a:t>
            </a:r>
            <a:endParaRPr lang="es-ES" sz="2800" dirty="0">
              <a:solidFill>
                <a:srgbClr val="004479"/>
              </a:solidFill>
              <a:latin typeface="Malacitana" pitchFamily="2" charset="77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A85736-3E70-7946-A4A9-796CBF974F42}"/>
              </a:ext>
            </a:extLst>
          </p:cNvPr>
          <p:cNvSpPr txBox="1"/>
          <p:nvPr/>
        </p:nvSpPr>
        <p:spPr>
          <a:xfrm>
            <a:off x="240840" y="1556029"/>
            <a:ext cx="8337103" cy="474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b="1" dirty="0">
                <a:solidFill>
                  <a:srgbClr val="004479"/>
                </a:solidFill>
              </a:rPr>
              <a:t>Chromatic dispersion and turbulence </a:t>
            </a:r>
          </a:p>
          <a:p>
            <a:pPr lvl="1">
              <a:lnSpc>
                <a:spcPct val="150000"/>
              </a:lnSpc>
            </a:pPr>
            <a:r>
              <a:rPr lang="es-ES" sz="2000" b="1" dirty="0">
                <a:solidFill>
                  <a:srgbClr val="004479"/>
                </a:solidFill>
              </a:rPr>
              <a:t>     	</a:t>
            </a:r>
            <a:r>
              <a:rPr lang="es-ES" sz="2000" dirty="0">
                <a:solidFill>
                  <a:srgbClr val="004479"/>
                </a:solidFill>
              </a:rPr>
              <a:t>in ultrashort optical pulse propagation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b="1" dirty="0">
                <a:solidFill>
                  <a:srgbClr val="004479"/>
                </a:solidFill>
              </a:rPr>
              <a:t>Unguided optical channels </a:t>
            </a:r>
          </a:p>
          <a:p>
            <a:pPr lvl="1">
              <a:lnSpc>
                <a:spcPct val="150000"/>
              </a:lnSpc>
            </a:pPr>
            <a:r>
              <a:rPr lang="es-ES" sz="2000" b="1" dirty="0">
                <a:solidFill>
                  <a:srgbClr val="004479"/>
                </a:solidFill>
              </a:rPr>
              <a:t>     	</a:t>
            </a:r>
            <a:r>
              <a:rPr lang="es-ES" sz="2000" dirty="0">
                <a:solidFill>
                  <a:srgbClr val="004479"/>
                </a:solidFill>
              </a:rPr>
              <a:t>atmospheric and oceanic environments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b="1" dirty="0">
                <a:solidFill>
                  <a:srgbClr val="004479"/>
                </a:solidFill>
              </a:rPr>
              <a:t>Limitation of high data-rate </a:t>
            </a:r>
            <a:r>
              <a:rPr lang="en-US" sz="2000" b="1" dirty="0">
                <a:solidFill>
                  <a:srgbClr val="004479"/>
                </a:solidFill>
              </a:rPr>
              <a:t>optical systems 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4479"/>
                </a:solidFill>
              </a:rPr>
              <a:t>     	</a:t>
            </a:r>
            <a:r>
              <a:rPr lang="en-US" sz="2000" dirty="0">
                <a:solidFill>
                  <a:srgbClr val="004479"/>
                </a:solidFill>
              </a:rPr>
              <a:t>due to propagation impairments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rgbClr val="004479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4479"/>
                </a:solidFill>
              </a:rPr>
              <a:t>Approach: </a:t>
            </a:r>
            <a:r>
              <a:rPr lang="en-US" sz="2000" dirty="0">
                <a:solidFill>
                  <a:srgbClr val="004479"/>
                </a:solidFill>
              </a:rPr>
              <a:t>theoretical modeling and MATLAB simulations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4479"/>
                </a:solidFill>
              </a:rPr>
              <a:t>Objective:</a:t>
            </a:r>
            <a:r>
              <a:rPr lang="en-US" sz="2000" dirty="0">
                <a:solidFill>
                  <a:srgbClr val="004479"/>
                </a:solidFill>
              </a:rPr>
              <a:t> analyze pulse broadening and signal distortion</a:t>
            </a:r>
            <a:endParaRPr lang="es-ES" sz="2000" dirty="0">
              <a:solidFill>
                <a:srgbClr val="004479"/>
              </a:solidFill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004479"/>
              </a:solidFill>
              <a:latin typeface="Malacitana-Sans" pitchFamily="2" charset="77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8318C8C-91B9-4A4C-9060-C2411328EE6E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Dispersion and turbulence in ultrashort pulses: atmospheric and oceanic </a:t>
            </a:r>
            <a:r>
              <a:rPr lang="es-ES" dirty="0" err="1">
                <a:solidFill>
                  <a:schemeClr val="bg1"/>
                </a:solidFill>
              </a:rPr>
              <a:t>scenarios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830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D6D7-C057-A115-47C2-51E7B496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5EC755A-4601-FF1C-6E20-EB4EAAB3A39C}"/>
              </a:ext>
            </a:extLst>
          </p:cNvPr>
          <p:cNvSpPr txBox="1"/>
          <p:nvPr/>
        </p:nvSpPr>
        <p:spPr>
          <a:xfrm>
            <a:off x="327188" y="478818"/>
            <a:ext cx="6759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Motivación y contexto </a:t>
            </a:r>
          </a:p>
          <a:p>
            <a:endParaRPr lang="es-ES" sz="2800" dirty="0">
              <a:solidFill>
                <a:srgbClr val="004479"/>
              </a:solidFill>
              <a:latin typeface="Malacitana" pitchFamily="2" charset="77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0B08B8E-9042-BA47-D240-B08F7454B4A0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8A70B8C-0502-4164-E772-49B0BF70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3BB5F3-A153-D2AD-6923-8BFFEEEB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4DF0B7-E885-93D4-9382-0C9BAF6E4DB3}"/>
              </a:ext>
            </a:extLst>
          </p:cNvPr>
          <p:cNvSpPr txBox="1"/>
          <p:nvPr/>
        </p:nvSpPr>
        <p:spPr>
          <a:xfrm>
            <a:off x="465614" y="1265941"/>
            <a:ext cx="8212772" cy="3891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004479"/>
              </a:solidFill>
            </a:endParaRP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Crecimiento exponencial de la demanda de datos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Limitaciones de las comunicaciones RF y acústicas 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Comunicaciones ópticas inalámbricas: mejores prestaciones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Interés creciente en enlaces FSO y UOWC y sus aplicaciones:</a:t>
            </a:r>
          </a:p>
          <a:p>
            <a:pPr lvl="2" algn="just">
              <a:lnSpc>
                <a:spcPct val="150000"/>
              </a:lnSpc>
            </a:pPr>
            <a:r>
              <a:rPr lang="es-ES" sz="2000" b="1" dirty="0">
                <a:solidFill>
                  <a:srgbClr val="004479"/>
                </a:solidFill>
              </a:rPr>
              <a:t>Atmósfera:</a:t>
            </a:r>
            <a:r>
              <a:rPr lang="es-ES" sz="2000" dirty="0">
                <a:solidFill>
                  <a:srgbClr val="004479"/>
                </a:solidFill>
              </a:rPr>
              <a:t> última milla, respaldo de fibra en 5G/6G, QKD…</a:t>
            </a:r>
          </a:p>
          <a:p>
            <a:pPr lvl="2" algn="just">
              <a:lnSpc>
                <a:spcPct val="150000"/>
              </a:lnSpc>
            </a:pPr>
            <a:r>
              <a:rPr lang="es-ES" sz="2000" b="1" dirty="0">
                <a:solidFill>
                  <a:srgbClr val="004479"/>
                </a:solidFill>
              </a:rPr>
              <a:t>Océano:</a:t>
            </a:r>
            <a:r>
              <a:rPr lang="es-ES" sz="2000" dirty="0">
                <a:solidFill>
                  <a:srgbClr val="004479"/>
                </a:solidFill>
              </a:rPr>
              <a:t> monitorización ambiental, comunicación entre AUV…</a:t>
            </a:r>
          </a:p>
        </p:txBody>
      </p:sp>
    </p:spTree>
    <p:extLst>
      <p:ext uri="{BB962C8B-B14F-4D97-AF65-F5344CB8AC3E}">
        <p14:creationId xmlns:p14="http://schemas.microsoft.com/office/powerpoint/2010/main" val="4282437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82F5D-2532-254A-4EA4-6BD9E304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7B97EE6-8CC6-B439-5C7C-9917E914AB31}"/>
              </a:ext>
            </a:extLst>
          </p:cNvPr>
          <p:cNvSpPr txBox="1"/>
          <p:nvPr/>
        </p:nvSpPr>
        <p:spPr>
          <a:xfrm>
            <a:off x="327188" y="478818"/>
            <a:ext cx="6759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Motivación y contexto </a:t>
            </a:r>
          </a:p>
          <a:p>
            <a:endParaRPr lang="es-ES" sz="2800" dirty="0">
              <a:solidFill>
                <a:srgbClr val="004479"/>
              </a:solidFill>
              <a:latin typeface="Malacitana" pitchFamily="2" charset="77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AD26DAB-198D-CAFA-F57C-070E4837CCD3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E862DCE-FB8B-31B0-750A-72DB2CF4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2B2E53-F572-3471-1F72-A0A5F544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7CB91DA-6982-BBE7-0CB1-AAF5FE5F31BB}"/>
              </a:ext>
            </a:extLst>
          </p:cNvPr>
          <p:cNvSpPr txBox="1"/>
          <p:nvPr/>
        </p:nvSpPr>
        <p:spPr>
          <a:xfrm>
            <a:off x="415774" y="1756114"/>
            <a:ext cx="8162169" cy="179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solidFill>
                  <a:srgbClr val="004479"/>
                </a:solidFill>
              </a:rPr>
              <a:t>Limitaciones físicas de las comunicaciones ópticas inalámbricas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Atenuación (dispersión por partículas, niebla, turbidez del agua…)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Turbulencia atmosférica y oceánica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Dispersión cromática (pulsos ultracortos)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0357A5-AA87-2B63-49E7-8F07F4E0B9C7}"/>
              </a:ext>
            </a:extLst>
          </p:cNvPr>
          <p:cNvSpPr txBox="1"/>
          <p:nvPr/>
        </p:nvSpPr>
        <p:spPr>
          <a:xfrm>
            <a:off x="415773" y="3900899"/>
            <a:ext cx="7987563" cy="152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dirty="0">
                <a:solidFill>
                  <a:srgbClr val="004479"/>
                </a:solidFill>
              </a:rPr>
              <a:t>USPL como tecnología prometedora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Mayor robustez frente a fenómenos degradantes 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Posible activación de fenómenos no lineales</a:t>
            </a:r>
          </a:p>
        </p:txBody>
      </p:sp>
    </p:spTree>
    <p:extLst>
      <p:ext uri="{BB962C8B-B14F-4D97-AF65-F5344CB8AC3E}">
        <p14:creationId xmlns:p14="http://schemas.microsoft.com/office/powerpoint/2010/main" val="3932561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8F5A-2A84-59F8-5EFD-285B5D11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CC5C24A-B8AB-C32E-59D0-C63E9198CE9B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Fundamentos teóricos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2C0079-CC1F-ED83-F5E2-189A3773948F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Conceptos básicos de óptica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79795FF-6F8B-9A5C-5C23-A2625065BA57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7812579-C8C9-ED55-3E39-E10140AB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A2E90B-8123-4B35-D1BF-9A0A9288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051404-CC5C-CEB4-31A0-DC0A8DAD4AA1}"/>
              </a:ext>
            </a:extLst>
          </p:cNvPr>
          <p:cNvSpPr txBox="1"/>
          <p:nvPr/>
        </p:nvSpPr>
        <p:spPr>
          <a:xfrm>
            <a:off x="260143" y="2146727"/>
            <a:ext cx="4796924" cy="278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b="1" dirty="0">
                <a:solidFill>
                  <a:srgbClr val="004479"/>
                </a:solidFill>
              </a:rPr>
              <a:t>Parámetros de onda</a:t>
            </a:r>
          </a:p>
          <a:p>
            <a:pPr lvl="1" algn="just"/>
            <a:endParaRPr lang="es-ES" sz="2400" b="1" dirty="0">
              <a:solidFill>
                <a:srgbClr val="004479"/>
              </a:solidFill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Longitud de onda (</a:t>
            </a:r>
            <a:r>
              <a:rPr lang="el-GR" sz="2000" dirty="0">
                <a:solidFill>
                  <a:srgbClr val="004479"/>
                </a:solidFill>
              </a:rPr>
              <a:t>λ</a:t>
            </a:r>
            <a:r>
              <a:rPr lang="en-US" sz="2000" dirty="0">
                <a:solidFill>
                  <a:srgbClr val="004479"/>
                </a:solidFill>
              </a:rPr>
              <a:t>)</a:t>
            </a:r>
            <a:endParaRPr lang="es-ES" sz="2000" dirty="0">
              <a:solidFill>
                <a:srgbClr val="004479"/>
              </a:solidFill>
            </a:endParaRPr>
          </a:p>
          <a:p>
            <a:pPr lvl="1" algn="just"/>
            <a:endParaRPr lang="es-ES" sz="2000" dirty="0">
              <a:solidFill>
                <a:srgbClr val="004479"/>
              </a:solidFill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Índice de refracción (</a:t>
            </a:r>
            <a:r>
              <a:rPr lang="en-US" sz="2000" dirty="0">
                <a:solidFill>
                  <a:srgbClr val="004479"/>
                </a:solidFill>
              </a:rPr>
              <a:t>n)</a:t>
            </a:r>
            <a:endParaRPr lang="es-ES" sz="2000" dirty="0">
              <a:solidFill>
                <a:srgbClr val="004479"/>
              </a:solidFill>
            </a:endParaRPr>
          </a:p>
          <a:p>
            <a:pPr lvl="1" algn="just"/>
            <a:endParaRPr lang="es-ES" sz="2000" dirty="0">
              <a:solidFill>
                <a:srgbClr val="004479"/>
              </a:solidFill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Constante de propagación (</a:t>
            </a:r>
            <a:r>
              <a:rPr lang="el-GR" sz="2000" dirty="0">
                <a:solidFill>
                  <a:srgbClr val="004479"/>
                </a:solidFill>
              </a:rPr>
              <a:t>γ</a:t>
            </a:r>
            <a:r>
              <a:rPr lang="es-ES" sz="2000" dirty="0">
                <a:solidFill>
                  <a:srgbClr val="004479"/>
                </a:solidFill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DE3C2F-BB81-6769-937B-50C005A506CF}"/>
              </a:ext>
            </a:extLst>
          </p:cNvPr>
          <p:cNvSpPr txBox="1"/>
          <p:nvPr/>
        </p:nvSpPr>
        <p:spPr>
          <a:xfrm>
            <a:off x="5057067" y="2146727"/>
            <a:ext cx="4059064" cy="275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solidFill>
                  <a:srgbClr val="004479"/>
                </a:solidFill>
              </a:rPr>
              <a:t>Propagación en el medio</a:t>
            </a:r>
          </a:p>
          <a:p>
            <a:pPr algn="just"/>
            <a:endParaRPr lang="es-ES" sz="2400" b="1" dirty="0">
              <a:solidFill>
                <a:srgbClr val="004479"/>
              </a:solidFill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Medio dispersivo </a:t>
            </a:r>
          </a:p>
          <a:p>
            <a:pPr algn="just"/>
            <a:endParaRPr lang="es-ES" sz="2000" dirty="0">
              <a:solidFill>
                <a:srgbClr val="004479"/>
              </a:solidFill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Ventanas de transmisión</a:t>
            </a:r>
            <a:endParaRPr lang="es-ES" sz="2000" b="1" dirty="0">
              <a:solidFill>
                <a:srgbClr val="004479"/>
              </a:solidFill>
            </a:endParaRPr>
          </a:p>
          <a:p>
            <a:pPr algn="just"/>
            <a:r>
              <a:rPr lang="es-ES" sz="2000" b="1" dirty="0">
                <a:solidFill>
                  <a:srgbClr val="004479"/>
                </a:solidFill>
              </a:rPr>
              <a:t>	</a:t>
            </a:r>
            <a:r>
              <a:rPr lang="es-ES" b="1" dirty="0">
                <a:solidFill>
                  <a:srgbClr val="004479"/>
                </a:solidFill>
              </a:rPr>
              <a:t>Atmósfera:</a:t>
            </a:r>
            <a:r>
              <a:rPr lang="es-ES" dirty="0">
                <a:solidFill>
                  <a:srgbClr val="004479"/>
                </a:solidFill>
              </a:rPr>
              <a:t> 850-1310-1550 nm</a:t>
            </a:r>
          </a:p>
          <a:p>
            <a:pPr algn="just"/>
            <a:r>
              <a:rPr lang="es-ES" b="1" dirty="0">
                <a:solidFill>
                  <a:srgbClr val="004479"/>
                </a:solidFill>
              </a:rPr>
              <a:t>	Océano:</a:t>
            </a:r>
            <a:r>
              <a:rPr lang="es-ES" dirty="0">
                <a:solidFill>
                  <a:srgbClr val="004479"/>
                </a:solidFill>
              </a:rPr>
              <a:t> 440-550 nm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250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49596-E674-DE86-4311-2689A318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97FF407-A733-2D7C-CF07-7449D3C1F775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Fundamentos teóricos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7166E5A-FE75-7472-CF54-B37965466A98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Propagación y dispersión de pulsos ultracortos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7242749-8681-97BA-ED9B-C77195B34C73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01F292B-6EE8-0521-8E7C-DD062C14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8FCCDD5-2752-9225-3B3E-1AF3C818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7172034C-6AD5-7759-6284-583AE03F4BB0}"/>
              </a:ext>
            </a:extLst>
          </p:cNvPr>
          <p:cNvSpPr txBox="1"/>
          <p:nvPr/>
        </p:nvSpPr>
        <p:spPr>
          <a:xfrm>
            <a:off x="1" y="1441535"/>
            <a:ext cx="385825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s-ES" sz="2400" b="1" dirty="0">
                <a:solidFill>
                  <a:srgbClr val="004479"/>
                </a:solidFill>
              </a:rPr>
              <a:t>Pulsos ultracortos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Alta coherencia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Amplio ancho espectral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Gaussiano, supergaussiano, hiperbólico-secante…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endParaRPr lang="es-ES" sz="2000" dirty="0">
              <a:solidFill>
                <a:srgbClr val="004479"/>
              </a:solidFill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endParaRPr lang="es-ES" dirty="0">
              <a:solidFill>
                <a:srgbClr val="004479"/>
              </a:solidFill>
            </a:endParaRPr>
          </a:p>
          <a:p>
            <a:pPr lvl="1" algn="just"/>
            <a:r>
              <a:rPr lang="es-ES" sz="2000" b="1" i="1" dirty="0">
                <a:solidFill>
                  <a:srgbClr val="004479"/>
                </a:solidFill>
              </a:rPr>
              <a:t>Chirp</a:t>
            </a:r>
          </a:p>
          <a:p>
            <a:pPr lvl="1" algn="just"/>
            <a:r>
              <a:rPr lang="es-ES" sz="2000" dirty="0">
                <a:solidFill>
                  <a:srgbClr val="004479"/>
                </a:solidFill>
                <a:latin typeface="Malacitana-Sans" pitchFamily="2" charset="77"/>
              </a:rPr>
              <a:t>Variación temporal de la frecuencia instantánea</a:t>
            </a:r>
          </a:p>
        </p:txBody>
      </p:sp>
      <p:pic>
        <p:nvPicPr>
          <p:cNvPr id="12" name="Imagen 1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AF0D15E-B22A-41C5-7B16-97B62380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0" r="15270" b="11631"/>
          <a:stretch>
            <a:fillRect/>
          </a:stretch>
        </p:blipFill>
        <p:spPr>
          <a:xfrm>
            <a:off x="4762400" y="1368299"/>
            <a:ext cx="3352900" cy="1936631"/>
          </a:xfrm>
          <a:prstGeom prst="rect">
            <a:avLst/>
          </a:prstGeom>
        </p:spPr>
      </p:pic>
      <p:pic>
        <p:nvPicPr>
          <p:cNvPr id="13" name="Imagen 15" descr="Gráfico&#10;&#10;El contenido generado por IA puede ser incorrecto.">
            <a:extLst>
              <a:ext uri="{FF2B5EF4-FFF2-40B4-BE49-F238E27FC236}">
                <a16:creationId xmlns:a16="http://schemas.microsoft.com/office/drawing/2014/main" id="{F2F420A1-0EA6-19BC-61BB-75D06774ED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3" r="13845" b="9519"/>
          <a:stretch>
            <a:fillRect/>
          </a:stretch>
        </p:blipFill>
        <p:spPr>
          <a:xfrm>
            <a:off x="4814263" y="3525815"/>
            <a:ext cx="3314808" cy="2019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2501CB-207C-CA17-B606-22C987BE17BF}"/>
              </a:ext>
            </a:extLst>
          </p:cNvPr>
          <p:cNvSpPr txBox="1"/>
          <p:nvPr/>
        </p:nvSpPr>
        <p:spPr>
          <a:xfrm>
            <a:off x="2232660" y="56921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293502-11F4-9D7E-A746-96C6CA2DCEE2}"/>
              </a:ext>
            </a:extLst>
          </p:cNvPr>
          <p:cNvSpPr txBox="1"/>
          <p:nvPr/>
        </p:nvSpPr>
        <p:spPr>
          <a:xfrm>
            <a:off x="4439381" y="3304930"/>
            <a:ext cx="4259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</a:rPr>
              <a:t>Representación esquemática de un pulso con </a:t>
            </a:r>
            <a:r>
              <a:rPr lang="es-ES" sz="1100" i="1" dirty="0">
                <a:solidFill>
                  <a:srgbClr val="004479"/>
                </a:solidFill>
              </a:rPr>
              <a:t>chirp</a:t>
            </a:r>
            <a:r>
              <a:rPr lang="es-ES" sz="1100" dirty="0">
                <a:solidFill>
                  <a:srgbClr val="004479"/>
                </a:solidFill>
              </a:rPr>
              <a:t> positivo. Fuente </a:t>
            </a:r>
            <a:r>
              <a:rPr lang="en-US" sz="1100" dirty="0">
                <a:solidFill>
                  <a:srgbClr val="004479"/>
                </a:solidFill>
              </a:rPr>
              <a:t>[1]</a:t>
            </a:r>
            <a:r>
              <a:rPr lang="es-ES" sz="1100" dirty="0">
                <a:solidFill>
                  <a:srgbClr val="004479"/>
                </a:solidFill>
              </a:rPr>
              <a:t> </a:t>
            </a:r>
            <a:endParaRPr lang="en-US" sz="1100" dirty="0">
              <a:solidFill>
                <a:srgbClr val="004479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10E03-7016-8317-B5E2-ADE1B2FEFD13}"/>
              </a:ext>
            </a:extLst>
          </p:cNvPr>
          <p:cNvSpPr txBox="1"/>
          <p:nvPr/>
        </p:nvSpPr>
        <p:spPr>
          <a:xfrm>
            <a:off x="4439381" y="5504523"/>
            <a:ext cx="46101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</a:rPr>
              <a:t>Representación esquemática de un pulso con </a:t>
            </a:r>
            <a:r>
              <a:rPr lang="es-ES" sz="1100" i="1" dirty="0">
                <a:solidFill>
                  <a:srgbClr val="004479"/>
                </a:solidFill>
              </a:rPr>
              <a:t>chirp</a:t>
            </a:r>
            <a:r>
              <a:rPr lang="es-ES" sz="1100" dirty="0">
                <a:solidFill>
                  <a:srgbClr val="004479"/>
                </a:solidFill>
              </a:rPr>
              <a:t> negativo. Fuente </a:t>
            </a:r>
            <a:r>
              <a:rPr lang="en-US" sz="1100" dirty="0">
                <a:solidFill>
                  <a:srgbClr val="004479"/>
                </a:solidFill>
              </a:rPr>
              <a:t>[1]</a:t>
            </a:r>
            <a:r>
              <a:rPr lang="es-ES" sz="1100" dirty="0">
                <a:solidFill>
                  <a:srgbClr val="004479"/>
                </a:solidFill>
              </a:rPr>
              <a:t> </a:t>
            </a:r>
            <a:endParaRPr lang="en-US" sz="1100" dirty="0">
              <a:solidFill>
                <a:srgbClr val="004479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E277DF-7501-09C1-643C-651972ED5CAB}"/>
              </a:ext>
            </a:extLst>
          </p:cNvPr>
          <p:cNvSpPr txBox="1"/>
          <p:nvPr/>
        </p:nvSpPr>
        <p:spPr>
          <a:xfrm>
            <a:off x="327188" y="5874033"/>
            <a:ext cx="7838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00AAD6"/>
                </a:solidFill>
              </a:rPr>
              <a:t>[1] R. Trebino, “Ultrashort Laser Pulses I - Lecture Notes”, 2025, accesible en: </a:t>
            </a:r>
            <a:r>
              <a:rPr lang="es-ES" sz="1200" i="1" dirty="0">
                <a:solidFill>
                  <a:srgbClr val="00AAD6"/>
                </a:solidFill>
              </a:rPr>
              <a:t>http://www.frog.gatech.edu </a:t>
            </a:r>
            <a:r>
              <a:rPr lang="es-ES" sz="1200" dirty="0">
                <a:solidFill>
                  <a:srgbClr val="00AAD6"/>
                </a:solidFill>
              </a:rPr>
              <a:t>(consultado el 3 de septiembre de 2025)</a:t>
            </a:r>
          </a:p>
        </p:txBody>
      </p:sp>
    </p:spTree>
    <p:extLst>
      <p:ext uri="{BB962C8B-B14F-4D97-AF65-F5344CB8AC3E}">
        <p14:creationId xmlns:p14="http://schemas.microsoft.com/office/powerpoint/2010/main" val="43324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B8B32-62A2-D146-20F5-49002560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B0CB4F6-5A37-2224-21EA-B60FCA806866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Fundamentos teóricos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6CC8A2-DEB0-E24B-8CBD-6A0235045796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Propagación y dispersión de pulsos ultracortos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2C51726-3419-1E63-1462-32B36F4EF612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1443424-41C1-76A0-69A9-99967B0A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943477-25DB-7EA5-155B-8482321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3A117B-F8BD-2B86-4B2E-0A3F2DD50229}"/>
              </a:ext>
            </a:extLst>
          </p:cNvPr>
          <p:cNvSpPr txBox="1"/>
          <p:nvPr/>
        </p:nvSpPr>
        <p:spPr>
          <a:xfrm>
            <a:off x="2232660" y="56921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856917A-2DC1-B48B-30FF-770A48E039F3}"/>
              </a:ext>
            </a:extLst>
          </p:cNvPr>
          <p:cNvSpPr txBox="1"/>
          <p:nvPr/>
        </p:nvSpPr>
        <p:spPr>
          <a:xfrm>
            <a:off x="201041" y="1265059"/>
            <a:ext cx="83769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  <a:p>
            <a:pPr lvl="1" algn="just"/>
            <a:r>
              <a:rPr lang="es-ES" sz="2400" b="1" dirty="0">
                <a:solidFill>
                  <a:srgbClr val="004479"/>
                </a:solidFill>
              </a:rPr>
              <a:t>Dispersión cromática</a:t>
            </a:r>
          </a:p>
          <a:p>
            <a:pPr lvl="1" algn="just"/>
            <a:endParaRPr lang="es-ES" sz="2400" b="1" dirty="0">
              <a:solidFill>
                <a:srgbClr val="004479"/>
              </a:solidFill>
              <a:latin typeface="Malacitana-Sans" pitchFamily="2" charset="77"/>
            </a:endParaRPr>
          </a:p>
          <a:p>
            <a:pPr lvl="2" algn="just"/>
            <a:r>
              <a:rPr lang="es-ES" sz="2000" dirty="0">
                <a:solidFill>
                  <a:srgbClr val="004479"/>
                </a:solidFill>
              </a:rPr>
              <a:t>Provoca que las distintas frecuencias de un pulso viajen a diferentes velocidades, provocando su ensanchamiento temporal</a:t>
            </a:r>
          </a:p>
          <a:p>
            <a:pPr lvl="2" algn="just"/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18">
                <a:extLst>
                  <a:ext uri="{FF2B5EF4-FFF2-40B4-BE49-F238E27FC236}">
                    <a16:creationId xmlns:a16="http://schemas.microsoft.com/office/drawing/2014/main" id="{95A630FF-6A0D-0306-18B7-32336A5CCA75}"/>
                  </a:ext>
                </a:extLst>
              </p:cNvPr>
              <p:cNvSpPr txBox="1"/>
              <p:nvPr/>
            </p:nvSpPr>
            <p:spPr>
              <a:xfrm>
                <a:off x="1088136" y="3246939"/>
                <a:ext cx="696772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s-ES" dirty="0">
                  <a:solidFill>
                    <a:srgbClr val="004479"/>
                  </a:solidFill>
                </a:endParaRPr>
              </a:p>
            </p:txBody>
          </p:sp>
        </mc:Choice>
        <mc:Fallback>
          <p:sp>
            <p:nvSpPr>
              <p:cNvPr id="5" name="CuadroTexto 18">
                <a:extLst>
                  <a:ext uri="{FF2B5EF4-FFF2-40B4-BE49-F238E27FC236}">
                    <a16:creationId xmlns:a16="http://schemas.microsoft.com/office/drawing/2014/main" id="{95A630FF-6A0D-0306-18B7-32336A5CC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36" y="3246939"/>
                <a:ext cx="6967728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19">
                <a:extLst>
                  <a:ext uri="{FF2B5EF4-FFF2-40B4-BE49-F238E27FC236}">
                    <a16:creationId xmlns:a16="http://schemas.microsoft.com/office/drawing/2014/main" id="{8CDF0984-987A-7927-F57E-F27440E748B3}"/>
                  </a:ext>
                </a:extLst>
              </p:cNvPr>
              <p:cNvSpPr txBox="1"/>
              <p:nvPr/>
            </p:nvSpPr>
            <p:spPr>
              <a:xfrm>
                <a:off x="201041" y="3616658"/>
                <a:ext cx="7845552" cy="2168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s-ES" sz="28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: constante de propagación</a:t>
                </a:r>
              </a:p>
              <a:p>
                <a:pPr lvl="1" algn="just"/>
                <a:r>
                  <a:rPr lang="es-ES" sz="2000" dirty="0">
                    <a:solidFill>
                      <a:srgbClr val="004479"/>
                    </a:solidFill>
                  </a:rPr>
                  <a:t>	</a:t>
                </a:r>
                <a:r>
                  <a:rPr lang="es-ES" sz="2000" dirty="0">
                    <a:solidFill>
                      <a:srgbClr val="004479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: retardo de la envolvente</a:t>
                </a:r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: dispersión cromática (GVD)</a:t>
                </a:r>
              </a:p>
              <a:p>
                <a:pPr lvl="2" algn="just"/>
                <a:r>
                  <a:rPr lang="es-ES" sz="2000" dirty="0">
                    <a:solidFill>
                      <a:srgbClr val="004479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: dispersión de tercer orden (TOD)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</p:txBody>
          </p:sp>
        </mc:Choice>
        <mc:Fallback>
          <p:sp>
            <p:nvSpPr>
              <p:cNvPr id="7" name="CuadroTexto 19">
                <a:extLst>
                  <a:ext uri="{FF2B5EF4-FFF2-40B4-BE49-F238E27FC236}">
                    <a16:creationId xmlns:a16="http://schemas.microsoft.com/office/drawing/2014/main" id="{8CDF0984-987A-7927-F57E-F27440E74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41" y="3616658"/>
                <a:ext cx="7845552" cy="21682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adroTexto 12">
            <a:extLst>
              <a:ext uri="{FF2B5EF4-FFF2-40B4-BE49-F238E27FC236}">
                <a16:creationId xmlns:a16="http://schemas.microsoft.com/office/drawing/2014/main" id="{3DD56034-F206-F1C8-FD10-8739897840D0}"/>
              </a:ext>
            </a:extLst>
          </p:cNvPr>
          <p:cNvSpPr txBox="1"/>
          <p:nvPr/>
        </p:nvSpPr>
        <p:spPr>
          <a:xfrm>
            <a:off x="327188" y="5885874"/>
            <a:ext cx="85779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u="none" strike="noStrike" baseline="0" dirty="0">
                <a:solidFill>
                  <a:srgbClr val="00AAD6"/>
                </a:solidFill>
              </a:rPr>
              <a:t>[2] M. C. España Boquera, </a:t>
            </a:r>
            <a:r>
              <a:rPr lang="es-ES" sz="1200" b="0" i="1" u="none" strike="noStrike" baseline="0" dirty="0">
                <a:solidFill>
                  <a:srgbClr val="00AAD6"/>
                </a:solidFill>
              </a:rPr>
              <a:t>Comunicaciones Ópticas: Conceptos esenciales y resoluci</a:t>
            </a:r>
            <a:r>
              <a:rPr lang="es-ES" sz="1200" i="1" dirty="0">
                <a:solidFill>
                  <a:srgbClr val="00AAD6"/>
                </a:solidFill>
              </a:rPr>
              <a:t>ó</a:t>
            </a:r>
            <a:r>
              <a:rPr lang="es-ES" sz="1200" b="0" i="1" u="none" strike="noStrike" baseline="0" dirty="0">
                <a:solidFill>
                  <a:srgbClr val="00AAD6"/>
                </a:solidFill>
              </a:rPr>
              <a:t>n de ejercicios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. Madrid: Ediciones Diaz de Santos, 2005.</a:t>
            </a:r>
            <a:endParaRPr lang="es-ES" sz="1200" dirty="0">
              <a:solidFill>
                <a:srgbClr val="00AA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79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DFB8-F7B7-B809-2683-277A0BB5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97ECE84-F744-83BC-5EA1-3D75348253BE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Fundamentos teóricos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322724-3F39-FC36-61CF-197D6818A0A2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Turbulencia óptica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AE2D645-F726-3AF7-5730-E3175CCA64F8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50DB588-91D1-1A34-E8FA-85E7C0D8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8634E7-1A67-8459-EC37-A37228F6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CAEB62D2-4B2E-D166-21A3-20EE2CF7D46F}"/>
              </a:ext>
            </a:extLst>
          </p:cNvPr>
          <p:cNvSpPr txBox="1"/>
          <p:nvPr/>
        </p:nvSpPr>
        <p:spPr>
          <a:xfrm>
            <a:off x="187452" y="1537362"/>
            <a:ext cx="7927848" cy="87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solidFill>
                  <a:srgbClr val="004479"/>
                </a:solidFill>
                <a:latin typeface="Malacitana-Sans" pitchFamily="2" charset="77"/>
              </a:rPr>
              <a:t>	</a:t>
            </a:r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004479"/>
              </a:solidFill>
              <a:latin typeface="Malacitana-Sans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13B5DE3-7A70-3FA5-1721-488667C93D01}"/>
                  </a:ext>
                </a:extLst>
              </p:cNvPr>
              <p:cNvSpPr txBox="1"/>
              <p:nvPr/>
            </p:nvSpPr>
            <p:spPr>
              <a:xfrm>
                <a:off x="568173" y="3968269"/>
                <a:ext cx="8162169" cy="1798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2400" b="1" dirty="0">
                    <a:solidFill>
                      <a:srgbClr val="004479"/>
                    </a:solidFill>
                  </a:rPr>
                  <a:t>Turbulencia oceánica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Gradientes de temperatura, salinidad, presión y burbujas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Modelos espectrales: OTOPS, Hill, Nikishov-Nikishov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Factores dominantes: T, 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solidFill>
                          <a:srgbClr val="004479"/>
                        </a:solidFill>
                        <a:ea typeface="Cambria Math" panose="02040503050406030204" pitchFamily="18" charset="0"/>
                      </a:rPr>
                      <m:t>ε</m:t>
                    </m:r>
                    <m:r>
                      <a:rPr lang="es-ES" sz="2000" b="0" i="1" smtClean="0">
                        <a:solidFill>
                          <a:srgbClr val="004479"/>
                        </a:solidFill>
                        <a:ea typeface="Cambria Math" panose="02040503050406030204" pitchFamily="18" charset="0"/>
                      </a:rPr>
                      <m:t>, </m:t>
                    </m:r>
                    <m:r>
                      <a:rPr lang="el-GR" sz="2000" b="0" i="1" smtClean="0">
                        <a:solidFill>
                          <a:srgbClr val="004479"/>
                        </a:solidFill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endParaRPr lang="es-ES" sz="2000" dirty="0">
                  <a:solidFill>
                    <a:srgbClr val="004479"/>
                  </a:solidFill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13B5DE3-7A70-3FA5-1721-488667C93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73" y="3968269"/>
                <a:ext cx="8162169" cy="1798954"/>
              </a:xfrm>
              <a:prstGeom prst="rect">
                <a:avLst/>
              </a:prstGeom>
              <a:blipFill>
                <a:blip r:embed="rId2"/>
                <a:stretch>
                  <a:fillRect l="-1120" t="-2712" b="-542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4B14A9C-1958-5920-D6FB-0947AADFD1BE}"/>
                  </a:ext>
                </a:extLst>
              </p:cNvPr>
              <p:cNvSpPr txBox="1"/>
              <p:nvPr/>
            </p:nvSpPr>
            <p:spPr>
              <a:xfrm>
                <a:off x="568172" y="1700685"/>
                <a:ext cx="8162169" cy="1801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2400" b="1" dirty="0">
                    <a:solidFill>
                      <a:srgbClr val="004479"/>
                    </a:solidFill>
                  </a:rPr>
                  <a:t>Turbulencia atmosférica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Variaciones aleatorias de temperatura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Modelos espectrales: Kolmogorov, von Kármán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Parámetro de intensidad: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</a:rPr>
                        </m:ctrlPr>
                      </m:sSubSup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</a:rPr>
                          <m:t>𝑅</m:t>
                        </m:r>
                      </m:sub>
                      <m:sup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</a:rPr>
                          <m:t>2</m:t>
                        </m:r>
                      </m:sup>
                    </m:sSubSup>
                  </m:oMath>
                </a14:m>
                <a:endParaRPr lang="es-ES" sz="2000" dirty="0">
                  <a:solidFill>
                    <a:srgbClr val="004479"/>
                  </a:solidFill>
                </a:endParaRP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4B14A9C-1958-5920-D6FB-0947AADF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72" y="1700685"/>
                <a:ext cx="8162169" cy="1801647"/>
              </a:xfrm>
              <a:prstGeom prst="rect">
                <a:avLst/>
              </a:prstGeom>
              <a:blipFill>
                <a:blip r:embed="rId3"/>
                <a:stretch>
                  <a:fillRect l="-1120" t="-2703" b="-641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09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4112A-3FE8-A0F9-74EE-D5173D5C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F72B4DE-AD77-C2C6-569B-D4A8CDC07F8D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Modelos teóricos empleados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BA927D-CE2F-5890-4800-0AA558366CFB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atmosférico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A677BF3-571B-58C7-B8A6-95339D03F679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AD665FF-22E9-754B-973A-B57E8C63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B43DD6-ABFE-D955-AAA5-19C5661B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BA3E25C-9077-B5D5-C782-C8912B6D9078}"/>
                  </a:ext>
                </a:extLst>
              </p:cNvPr>
              <p:cNvSpPr txBox="1"/>
              <p:nvPr/>
            </p:nvSpPr>
            <p:spPr>
              <a:xfrm>
                <a:off x="-97472" y="1033778"/>
                <a:ext cx="8212772" cy="1506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endParaRPr lang="es-ES" sz="2000" dirty="0">
                  <a:solidFill>
                    <a:srgbClr val="004479"/>
                  </a:solidFill>
                </a:endParaRPr>
              </a:p>
              <a:p>
                <a:pPr marL="800100" lvl="1" indent="-342900" algn="just"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Medio lineal dispersivo: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ES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ES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s-ES" sz="2000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s-E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es-ES" sz="2000" i="1" dirty="0">
                  <a:solidFill>
                    <a:srgbClr val="00447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 algn="just"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Desarrollo en serie de Taylor alrededor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" sz="2000" dirty="0">
                  <a:solidFill>
                    <a:srgbClr val="00447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 algn="just"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Parámetro clave: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" sz="2000" dirty="0">
                  <a:solidFill>
                    <a:srgbClr val="00447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BA3E25C-9077-B5D5-C782-C8912B6D9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7472" y="1033778"/>
                <a:ext cx="8212772" cy="1506887"/>
              </a:xfrm>
              <a:prstGeom prst="rect">
                <a:avLst/>
              </a:prstGeom>
              <a:blipFill>
                <a:blip r:embed="rId2"/>
                <a:stretch>
                  <a:fillRect b="-688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18">
                <a:extLst>
                  <a:ext uri="{FF2B5EF4-FFF2-40B4-BE49-F238E27FC236}">
                    <a16:creationId xmlns:a16="http://schemas.microsoft.com/office/drawing/2014/main" id="{AAC3B30A-BE2F-B8F7-B6F1-4A4C166FB87D}"/>
                  </a:ext>
                </a:extLst>
              </p:cNvPr>
              <p:cNvSpPr txBox="1"/>
              <p:nvPr/>
            </p:nvSpPr>
            <p:spPr>
              <a:xfrm>
                <a:off x="1215154" y="3934748"/>
                <a:ext cx="696772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b="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s-ES" b="0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s-ES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s-ES" b="0" i="1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s-ES" b="0" i="1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s-ES" dirty="0">
                  <a:solidFill>
                    <a:srgbClr val="004479"/>
                  </a:solidFill>
                </a:endParaRPr>
              </a:p>
            </p:txBody>
          </p:sp>
        </mc:Choice>
        <mc:Fallback>
          <p:sp>
            <p:nvSpPr>
              <p:cNvPr id="10" name="CuadroTexto 18">
                <a:extLst>
                  <a:ext uri="{FF2B5EF4-FFF2-40B4-BE49-F238E27FC236}">
                    <a16:creationId xmlns:a16="http://schemas.microsoft.com/office/drawing/2014/main" id="{AAC3B30A-BE2F-B8F7-B6F1-4A4C166FB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154" y="3934748"/>
                <a:ext cx="6967728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206B142-29A7-78A6-EF72-D0880AC0091B}"/>
                  </a:ext>
                </a:extLst>
              </p:cNvPr>
              <p:cNvSpPr txBox="1"/>
              <p:nvPr/>
            </p:nvSpPr>
            <p:spPr>
              <a:xfrm>
                <a:off x="2818240" y="3102757"/>
                <a:ext cx="3507519" cy="6524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ES" i="1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i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s-ES" b="0" i="0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aP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S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s-ES" b="0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0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ES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sSup>
                                <m:sSupPr>
                                  <m:ctrlP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b="0" i="1" smtClean="0">
                                  <a:solidFill>
                                    <a:srgbClr val="0044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solidFill>
                                        <a:srgbClr val="00447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dirty="0">
                  <a:solidFill>
                    <a:srgbClr val="00447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206B142-29A7-78A6-EF72-D0880AC0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40" y="3102757"/>
                <a:ext cx="3507519" cy="6524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0486D667-3025-6ED0-F0FB-50F49AEEB239}"/>
              </a:ext>
            </a:extLst>
          </p:cNvPr>
          <p:cNvSpPr txBox="1"/>
          <p:nvPr/>
        </p:nvSpPr>
        <p:spPr>
          <a:xfrm>
            <a:off x="290612" y="5316390"/>
            <a:ext cx="8816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00AAD6"/>
                </a:solidFill>
              </a:rPr>
              <a:t>[2] M. C. España Boquera, </a:t>
            </a:r>
            <a:r>
              <a:rPr lang="es-ES" sz="1200" i="1" dirty="0">
                <a:solidFill>
                  <a:srgbClr val="00AAD6"/>
                </a:solidFill>
              </a:rPr>
              <a:t>Comunicaciones Ópticas: Conceptos esenciales y resolución de ejercicios</a:t>
            </a:r>
            <a:r>
              <a:rPr lang="es-ES" sz="1200" dirty="0">
                <a:solidFill>
                  <a:srgbClr val="00AAD6"/>
                </a:solidFill>
              </a:rPr>
              <a:t>. Madrid: Ediciones Diaz de Santos, 2005.</a:t>
            </a:r>
            <a:endParaRPr lang="en-US" sz="1200" b="0" i="0" u="none" strike="noStrike" baseline="0" dirty="0">
              <a:solidFill>
                <a:srgbClr val="00AAD6"/>
              </a:solidFill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n-US" sz="1200" dirty="0">
                <a:solidFill>
                  <a:srgbClr val="00AAD6"/>
                </a:solidFill>
              </a:rPr>
              <a:t>3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] J. C. Owens, “Optical refractive index of air: Dependence on pressure, temperature and composition”, Applied Optics, Vol.6, </a:t>
            </a:r>
            <a:r>
              <a:rPr lang="en-US" sz="1200" dirty="0">
                <a:solidFill>
                  <a:srgbClr val="00AAD6"/>
                </a:solidFill>
              </a:rPr>
              <a:t>N</a:t>
            </a:r>
            <a:r>
              <a:rPr lang="es-ES" sz="1200" dirty="0">
                <a:solidFill>
                  <a:srgbClr val="00AAD6"/>
                </a:solidFill>
              </a:rPr>
              <a:t>º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 1, Enero, 1967, pp. 51-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59.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n-US" sz="1200" dirty="0">
                <a:solidFill>
                  <a:srgbClr val="00AAD6"/>
                </a:solidFill>
              </a:rPr>
              <a:t>4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] L. C. Andrews, “Aperture-averaging factor for optical scintillations of plane and spherical waves in the atmosphere”, Journal of the Optical Society of 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America A, Vol.9,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Nº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4, Abril, 1992, pp. 597-600.</a:t>
            </a:r>
          </a:p>
        </p:txBody>
      </p:sp>
    </p:spTree>
    <p:extLst>
      <p:ext uri="{BB962C8B-B14F-4D97-AF65-F5344CB8AC3E}">
        <p14:creationId xmlns:p14="http://schemas.microsoft.com/office/powerpoint/2010/main" val="1670429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CA67-2CAF-53F3-83B0-2C310DCF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92188C0-5550-0D1F-44C3-27FEB7ECB627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Modelos teóricos empleados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5314D9-C349-DD87-932A-748C971FD38F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atmosférico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7AC488B-E39D-A518-ADAE-AD84E744071F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10A1933-1870-A955-7F8D-596AA27C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1ADAE3-C8EA-579A-0C8E-BFEB79EB1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3">
                <a:extLst>
                  <a:ext uri="{FF2B5EF4-FFF2-40B4-BE49-F238E27FC236}">
                    <a16:creationId xmlns:a16="http://schemas.microsoft.com/office/drawing/2014/main" id="{20474023-86AE-E1B2-10BA-2CB4A613E897}"/>
                  </a:ext>
                </a:extLst>
              </p:cNvPr>
              <p:cNvSpPr txBox="1"/>
              <p:nvPr/>
            </p:nvSpPr>
            <p:spPr>
              <a:xfrm>
                <a:off x="1" y="1045859"/>
                <a:ext cx="7927848" cy="4117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s-ES" sz="28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es-ES" sz="2400" b="1" dirty="0">
                    <a:solidFill>
                      <a:srgbClr val="004479"/>
                    </a:solidFill>
                  </a:rPr>
                  <a:t>Modelo de turbulencia atmosférica</a:t>
                </a:r>
              </a:p>
              <a:p>
                <a:pPr lvl="1" algn="just"/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2" algn="just"/>
                <a:r>
                  <a:rPr lang="es-ES" sz="2000" dirty="0">
                    <a:solidFill>
                      <a:srgbClr val="004479"/>
                    </a:solidFill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s-ES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b="0" i="0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=0.0333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0044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44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004479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rgbClr val="004479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−11/6</m:t>
                        </m:r>
                      </m:sup>
                    </m:sSup>
                  </m:oMath>
                </a14:m>
                <a:endParaRPr lang="es-ES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1" algn="just"/>
                <a:endParaRPr lang="es-ES" sz="24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es-ES" sz="2400" b="1" dirty="0">
                    <a:solidFill>
                      <a:srgbClr val="004479"/>
                    </a:solidFill>
                  </a:rPr>
                  <a:t>Caracterización de dispersión cromática y turbulencia</a:t>
                </a:r>
              </a:p>
              <a:p>
                <a:pPr marL="1257300" lvl="2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Empleo de la irradiancia promedio</a:t>
                </a:r>
              </a:p>
              <a:p>
                <a:pPr marL="1257300" lvl="2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Extensión del modelo de Andrews: inclusión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000" dirty="0">
                    <a:solidFill>
                      <a:srgbClr val="004479"/>
                    </a:solidFill>
                  </a:rPr>
                  <a:t>en la MCF		</a:t>
                </a:r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</p:txBody>
          </p:sp>
        </mc:Choice>
        <mc:Fallback>
          <p:sp>
            <p:nvSpPr>
              <p:cNvPr id="6" name="CuadroTexto 3">
                <a:extLst>
                  <a:ext uri="{FF2B5EF4-FFF2-40B4-BE49-F238E27FC236}">
                    <a16:creationId xmlns:a16="http://schemas.microsoft.com/office/drawing/2014/main" id="{20474023-86AE-E1B2-10BA-2CB4A613E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045859"/>
                <a:ext cx="7927848" cy="4117217"/>
              </a:xfrm>
              <a:prstGeom prst="rect">
                <a:avLst/>
              </a:prstGeom>
              <a:blipFill>
                <a:blip r:embed="rId2"/>
                <a:stretch>
                  <a:fillRect r="-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4303C7B5-BDB4-3899-EF73-AF03B92C9BDC}"/>
              </a:ext>
            </a:extLst>
          </p:cNvPr>
          <p:cNvSpPr txBox="1"/>
          <p:nvPr/>
        </p:nvSpPr>
        <p:spPr>
          <a:xfrm>
            <a:off x="327188" y="5841985"/>
            <a:ext cx="8364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b="0" i="0" u="none" strike="noStrike" baseline="0" dirty="0">
                <a:solidFill>
                  <a:srgbClr val="00AAD6"/>
                </a:solidFill>
              </a:rPr>
              <a:t>[5] 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A. Trichili, M. A. Cox, B. S. Ooi y M.-S. </a:t>
            </a:r>
            <a:r>
              <a:rPr lang="en-US" sz="1200" b="0" i="0" u="none" strike="noStrike" baseline="0" dirty="0" err="1">
                <a:solidFill>
                  <a:srgbClr val="00AAD6"/>
                </a:solidFill>
              </a:rPr>
              <a:t>Alouini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, “Roadmap to free space optics”, Journal of the Optical Society of America B, Vol.37, Nº 11, </a:t>
            </a:r>
            <a:r>
              <a:rPr lang="en-US" sz="1200" b="0" i="0" u="none" strike="noStrike" baseline="0" dirty="0" err="1">
                <a:solidFill>
                  <a:srgbClr val="00AAD6"/>
                </a:solidFill>
              </a:rPr>
              <a:t>Noviembre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, 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2020, pp. A184-A201.</a:t>
            </a:r>
            <a:endParaRPr lang="es-ES" sz="1200" dirty="0">
              <a:solidFill>
                <a:srgbClr val="00AA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603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21002-D89F-2CBA-3235-6525B718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2E648D5-43FF-54BC-5750-9FCF78B4678F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Modelos teóricos empleados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99106C-EEE2-94E8-6127-628593C6F83B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oceánico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567F2CD-D0AC-FAB1-2203-F340DC05A795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7EA3B5-E12E-CC62-283D-1801D113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B3B546-8E66-93A8-596E-F53B6DB2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0489C3B-8680-7961-4260-055AAB3175D4}"/>
                  </a:ext>
                </a:extLst>
              </p:cNvPr>
              <p:cNvSpPr txBox="1"/>
              <p:nvPr/>
            </p:nvSpPr>
            <p:spPr>
              <a:xfrm>
                <a:off x="240385" y="1491503"/>
                <a:ext cx="8577942" cy="271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200000"/>
                  </a:lnSpc>
                </a:pPr>
                <a:r>
                  <a:rPr lang="es-ES" sz="2400" b="1" dirty="0">
                    <a:solidFill>
                      <a:srgbClr val="004479"/>
                    </a:solidFill>
                  </a:rPr>
                  <a:t>Índice de refracción</a:t>
                </a:r>
              </a:p>
              <a:p>
                <a:pPr lvl="2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rgbClr val="004479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sSub>
                        <m:sSub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b>
                        <m:sSub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000" b="0" i="1" smtClean="0">
                              <a:solidFill>
                                <a:srgbClr val="00447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" sz="24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lvl="1" algn="just">
                  <a:lnSpc>
                    <a:spcPct val="200000"/>
                  </a:lnSpc>
                </a:pPr>
                <a:r>
                  <a:rPr lang="es-ES" sz="2400" b="1" dirty="0">
                    <a:solidFill>
                      <a:srgbClr val="004479"/>
                    </a:solidFill>
                  </a:rPr>
                  <a:t>Modelo de turbulencia oceánica</a:t>
                </a:r>
              </a:p>
              <a:p>
                <a:pPr lvl="2" algn="just">
                  <a:lnSpc>
                    <a:spcPct val="200000"/>
                  </a:lnSpc>
                </a:pPr>
                <a:r>
                  <a:rPr lang="es-ES" sz="2000" dirty="0">
                    <a:solidFill>
                      <a:srgbClr val="004479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𝑂𝑇𝑂𝑃𝑆</m:t>
                    </m:r>
                    <m:d>
                      <m:d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sz="200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solidFill>
                          <a:srgbClr val="004479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000" i="1">
                        <a:solidFill>
                          <a:srgbClr val="00447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</m:t>
                    </m:r>
                    <m:sSub>
                      <m:sSub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0044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</m:d>
                  </m:oMath>
                </a14:m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0489C3B-8680-7961-4260-055AAB317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" y="1491503"/>
                <a:ext cx="8577942" cy="27124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01AFC424-2478-BA3D-03D8-F5794A118ECB}"/>
              </a:ext>
            </a:extLst>
          </p:cNvPr>
          <p:cNvSpPr txBox="1"/>
          <p:nvPr/>
        </p:nvSpPr>
        <p:spPr>
          <a:xfrm>
            <a:off x="240385" y="4807229"/>
            <a:ext cx="89183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AAD6"/>
                </a:solidFill>
              </a:rPr>
              <a:t>[6] R. C. Millard y G. Seaver, “An index of refraction algorithm for seawater over temperature, pressure, salinity, density, and wavelength”, Deep-Sea </a:t>
            </a:r>
            <a:r>
              <a:rPr lang="es-ES" sz="1200" dirty="0" err="1">
                <a:solidFill>
                  <a:srgbClr val="00AAD6"/>
                </a:solidFill>
              </a:rPr>
              <a:t>Research</a:t>
            </a:r>
            <a:r>
              <a:rPr lang="es-ES" sz="1200" dirty="0">
                <a:solidFill>
                  <a:srgbClr val="00AAD6"/>
                </a:solidFill>
              </a:rPr>
              <a:t>, Vol.37, </a:t>
            </a:r>
            <a:r>
              <a:rPr lang="es-ES" sz="1200" dirty="0" err="1">
                <a:solidFill>
                  <a:srgbClr val="00AAD6"/>
                </a:solidFill>
              </a:rPr>
              <a:t>Nº</a:t>
            </a:r>
            <a:r>
              <a:rPr lang="es-ES" sz="1200" dirty="0">
                <a:solidFill>
                  <a:srgbClr val="00AAD6"/>
                </a:solidFill>
              </a:rPr>
              <a:t> 12, Diciembre, 1990, pp. 1909-1926.</a:t>
            </a:r>
            <a:endParaRPr lang="en-US" sz="1200" b="0" i="0" u="none" strike="noStrike" baseline="0" dirty="0">
              <a:solidFill>
                <a:srgbClr val="00AAD6"/>
              </a:solidFill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[7] J. Yao, M. </a:t>
            </a:r>
            <a:r>
              <a:rPr lang="en-US" sz="1200" b="0" i="0" u="none" strike="noStrike" baseline="0" dirty="0" err="1">
                <a:solidFill>
                  <a:srgbClr val="00AAD6"/>
                </a:solidFill>
              </a:rPr>
              <a:t>Elamassie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 y O. Korotkova, “Spatial power spectrum of natural water turbulence with any average temperature, salinity concentration and light wavelength”, Journal of the Optical Society of America A, Vol. 37,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Nº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10, Octubre, 2020, pp. 1614-1621.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n-US" sz="1200" dirty="0">
                <a:solidFill>
                  <a:srgbClr val="00AAD6"/>
                </a:solidFill>
              </a:rPr>
              <a:t>8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] S. A. Thorpe, The Turbulent Ocean. Cambridge: Cambridge University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Press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, 2005.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n-US" sz="1200" dirty="0">
                <a:solidFill>
                  <a:srgbClr val="00AAD6"/>
                </a:solidFill>
              </a:rPr>
              <a:t>9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] S. A. Thorpe, An Introduction to Ocean Turbulence. Cambridge: Cambridge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University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Press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, 2007.</a:t>
            </a:r>
          </a:p>
          <a:p>
            <a:pPr algn="l"/>
            <a:r>
              <a:rPr lang="es-ES" sz="1200" b="0" i="0" u="none" strike="noStrike" baseline="0" dirty="0">
                <a:solidFill>
                  <a:srgbClr val="00AAD6"/>
                </a:solidFill>
              </a:rPr>
              <a:t>[</a:t>
            </a:r>
            <a:r>
              <a:rPr lang="es-ES" sz="1200" dirty="0">
                <a:solidFill>
                  <a:srgbClr val="00AAD6"/>
                </a:solidFill>
              </a:rPr>
              <a:t>10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] J.-R. Yao, H.-T. Wang, H.-J. Zhang, J.-D.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Cai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, M.-Y. Ren, Y. Zhang y O.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Korotkova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, </a:t>
            </a:r>
            <a:r>
              <a:rPr lang="en-US" sz="1200" b="0" i="0" u="none" strike="noStrike" baseline="0" dirty="0">
                <a:solidFill>
                  <a:srgbClr val="00AAD6"/>
                </a:solidFill>
              </a:rPr>
              <a:t>“Oceanic non-Kolmogorov optical turbulence and spherical wave 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propagation”,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Optics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Express, Vol.29, </a:t>
            </a:r>
            <a:r>
              <a:rPr lang="es-ES" sz="1200" b="0" i="0" u="none" strike="noStrike" baseline="0" dirty="0" err="1">
                <a:solidFill>
                  <a:srgbClr val="00AAD6"/>
                </a:solidFill>
              </a:rPr>
              <a:t>Nº</a:t>
            </a:r>
            <a:r>
              <a:rPr lang="es-ES" sz="1200" b="0" i="0" u="none" strike="noStrike" baseline="0" dirty="0">
                <a:solidFill>
                  <a:srgbClr val="00AAD6"/>
                </a:solidFill>
              </a:rPr>
              <a:t> 2, Enero, 2021, pp. 1340-1357.</a:t>
            </a:r>
            <a:endParaRPr lang="es-ES" sz="1200" dirty="0">
              <a:solidFill>
                <a:srgbClr val="00AA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334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ABD9A-06C1-DBEA-27C5-E2800E00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2EF9C1C-BA21-9773-1787-3C8C476EE5F4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Simulaciones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A36F22-A956-474B-2B1F-FB152D6F1ACB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atmosférico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807CC15-9333-8609-FF5C-C9FDCAB8E5D9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8F7385F-D48F-7EB8-2F2F-B30D5285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48263C-9374-06C8-7765-D0EF9F13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91497E-827A-D4B8-E7BC-4B0B482453AF}"/>
              </a:ext>
            </a:extLst>
          </p:cNvPr>
          <p:cNvSpPr txBox="1"/>
          <p:nvPr/>
        </p:nvSpPr>
        <p:spPr>
          <a:xfrm>
            <a:off x="-137643" y="1253095"/>
            <a:ext cx="329232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2800" dirty="0">
              <a:solidFill>
                <a:srgbClr val="004479"/>
              </a:solidFill>
              <a:latin typeface="Malacitana-Sans" pitchFamily="2" charset="77"/>
            </a:endParaRPr>
          </a:p>
          <a:p>
            <a:pPr lvl="1" algn="ctr"/>
            <a:r>
              <a:rPr lang="es-ES" sz="2400" b="1" dirty="0">
                <a:solidFill>
                  <a:srgbClr val="004479"/>
                </a:solidFill>
              </a:rPr>
              <a:t>Parámetros iniciales del pulso y del canal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AE45193-8834-FBA4-D6B3-D2E454FE9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40271"/>
              </p:ext>
            </p:extLst>
          </p:nvPr>
        </p:nvGraphicFramePr>
        <p:xfrm>
          <a:off x="478548" y="2640584"/>
          <a:ext cx="3115044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7522">
                  <a:extLst>
                    <a:ext uri="{9D8B030D-6E8A-4147-A177-3AD203B41FA5}">
                      <a16:colId xmlns:a16="http://schemas.microsoft.com/office/drawing/2014/main" val="2841126391"/>
                    </a:ext>
                  </a:extLst>
                </a:gridCol>
                <a:gridCol w="1557522">
                  <a:extLst>
                    <a:ext uri="{9D8B030D-6E8A-4147-A177-3AD203B41FA5}">
                      <a16:colId xmlns:a16="http://schemas.microsoft.com/office/drawing/2014/main" val="71379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Longitud de onda central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1550 nm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57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FWHM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0.2 </a:t>
                      </a:r>
                      <a:r>
                        <a:rPr lang="es-ES" sz="2000" dirty="0" err="1">
                          <a:solidFill>
                            <a:srgbClr val="004479"/>
                          </a:solidFill>
                        </a:rPr>
                        <a:t>ps</a:t>
                      </a:r>
                      <a:endParaRPr lang="es-ES" sz="2000" dirty="0">
                        <a:solidFill>
                          <a:srgbClr val="004479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67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i="1" dirty="0">
                          <a:solidFill>
                            <a:srgbClr val="004479"/>
                          </a:solidFill>
                        </a:rPr>
                        <a:t>Chirp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41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Distancia de propagación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3 km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Altura del enlace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500 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504025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AEFFBA6C-32F3-0676-83AC-75B69A54736D}"/>
              </a:ext>
            </a:extLst>
          </p:cNvPr>
          <p:cNvSpPr txBox="1"/>
          <p:nvPr/>
        </p:nvSpPr>
        <p:spPr>
          <a:xfrm>
            <a:off x="4423410" y="5782860"/>
            <a:ext cx="4812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i="0" u="none" strike="noStrike" baseline="0" dirty="0">
                <a:solidFill>
                  <a:srgbClr val="004479"/>
                </a:solidFill>
              </a:rPr>
              <a:t>Barrido del factor de ensanchado considerando dispersión cromática y turbulencia fuerte</a:t>
            </a:r>
            <a:endParaRPr lang="es-ES" sz="1100" dirty="0">
              <a:solidFill>
                <a:srgbClr val="004479"/>
              </a:solidFill>
            </a:endParaRPr>
          </a:p>
        </p:txBody>
      </p:sp>
      <p:pic>
        <p:nvPicPr>
          <p:cNvPr id="14" name="Imagen 13" descr="Gráfico&#10;&#10;El contenido generado por IA puede ser incorrecto.">
            <a:extLst>
              <a:ext uri="{FF2B5EF4-FFF2-40B4-BE49-F238E27FC236}">
                <a16:creationId xmlns:a16="http://schemas.microsoft.com/office/drawing/2014/main" id="{C595C956-5FC5-9E5E-1F3D-7A791D5BD2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8" r="4622"/>
          <a:stretch>
            <a:fillRect/>
          </a:stretch>
        </p:blipFill>
        <p:spPr>
          <a:xfrm>
            <a:off x="4423410" y="1615552"/>
            <a:ext cx="4523220" cy="397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40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E76B-8481-9E5E-5B1C-BD1B1E8C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72BACEA-8813-D671-084F-491D8DD20AD0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Simulaciones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B4BAA4-97FD-968D-122B-5FA959536456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Medio oceánico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69C2547-E733-9199-A236-5F8CF7C0F4E5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AC223F-C095-90ED-E973-7F4EA865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49B3A4-F61F-14E0-835F-5963C1FE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27092A-4AFF-A8B9-AE3C-517371BDA8BA}"/>
              </a:ext>
            </a:extLst>
          </p:cNvPr>
          <p:cNvSpPr txBox="1"/>
          <p:nvPr/>
        </p:nvSpPr>
        <p:spPr>
          <a:xfrm>
            <a:off x="-137643" y="1253095"/>
            <a:ext cx="336547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2800" dirty="0">
              <a:solidFill>
                <a:srgbClr val="004479"/>
              </a:solidFill>
              <a:latin typeface="Malacitana-Sans" pitchFamily="2" charset="77"/>
            </a:endParaRPr>
          </a:p>
          <a:p>
            <a:pPr lvl="1" algn="ctr"/>
            <a:r>
              <a:rPr lang="es-ES" sz="2400" b="1" dirty="0">
                <a:solidFill>
                  <a:srgbClr val="004479"/>
                </a:solidFill>
              </a:rPr>
              <a:t>Parámetros iniciales del pulso y del canal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580F76D-3D69-5CB0-5BCB-B9B96A54B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952214"/>
              </p:ext>
            </p:extLst>
          </p:nvPr>
        </p:nvGraphicFramePr>
        <p:xfrm>
          <a:off x="478548" y="2640584"/>
          <a:ext cx="2996172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8086">
                  <a:extLst>
                    <a:ext uri="{9D8B030D-6E8A-4147-A177-3AD203B41FA5}">
                      <a16:colId xmlns:a16="http://schemas.microsoft.com/office/drawing/2014/main" val="2841126391"/>
                    </a:ext>
                  </a:extLst>
                </a:gridCol>
                <a:gridCol w="1498086">
                  <a:extLst>
                    <a:ext uri="{9D8B030D-6E8A-4147-A177-3AD203B41FA5}">
                      <a16:colId xmlns:a16="http://schemas.microsoft.com/office/drawing/2014/main" val="71379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Longitud de onda central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500 nm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571767"/>
                  </a:ext>
                </a:extLst>
              </a:tr>
              <a:tr h="382016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FWHM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0.2 </a:t>
                      </a:r>
                      <a:r>
                        <a:rPr lang="es-ES" sz="2000" dirty="0" err="1">
                          <a:solidFill>
                            <a:srgbClr val="004479"/>
                          </a:solidFill>
                        </a:rPr>
                        <a:t>ps</a:t>
                      </a:r>
                      <a:endParaRPr lang="es-ES" sz="2000" dirty="0">
                        <a:solidFill>
                          <a:srgbClr val="004479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67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i="1" dirty="0">
                          <a:solidFill>
                            <a:srgbClr val="004479"/>
                          </a:solidFill>
                        </a:rPr>
                        <a:t>Chirp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41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Distancia de propagación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004479"/>
                          </a:solidFill>
                        </a:rPr>
                        <a:t>100 m</a:t>
                      </a:r>
                    </a:p>
                  </a:txBody>
                  <a:tcPr>
                    <a:lnL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3714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516B1059-FFB1-2AB9-23CB-7A88DA123A16}"/>
              </a:ext>
            </a:extLst>
          </p:cNvPr>
          <p:cNvSpPr txBox="1"/>
          <p:nvPr/>
        </p:nvSpPr>
        <p:spPr>
          <a:xfrm>
            <a:off x="3706893" y="6055549"/>
            <a:ext cx="5278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i="0" u="none" strike="noStrike" baseline="0" dirty="0">
                <a:solidFill>
                  <a:srgbClr val="004479"/>
                </a:solidFill>
              </a:rPr>
              <a:t>Barrido del factor de ensanchado considerando dispersión cromática y turbulencia fuerte</a:t>
            </a:r>
            <a:endParaRPr lang="es-ES" sz="1100" dirty="0">
              <a:solidFill>
                <a:srgbClr val="004479"/>
              </a:solidFill>
            </a:endParaRPr>
          </a:p>
        </p:txBody>
      </p:sp>
      <p:pic>
        <p:nvPicPr>
          <p:cNvPr id="14" name="Imagen 13" descr="Gráfico&#10;&#10;El contenido generado por IA puede ser incorrecto.">
            <a:extLst>
              <a:ext uri="{FF2B5EF4-FFF2-40B4-BE49-F238E27FC236}">
                <a16:creationId xmlns:a16="http://schemas.microsoft.com/office/drawing/2014/main" id="{9D7CCDCF-C699-1B3E-8A87-8878F655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4" r="4648"/>
          <a:stretch>
            <a:fillRect/>
          </a:stretch>
        </p:blipFill>
        <p:spPr>
          <a:xfrm>
            <a:off x="4014216" y="1423766"/>
            <a:ext cx="4651236" cy="456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07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ADC73-E03C-32C5-FE76-6A193108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DEB72C6-CF88-B958-C90B-E97ADB1FC244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Conclusiones y 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6DCE1C-70F9-5C33-C326-90A188492E6D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Conclusiones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BB26763-F597-233C-9E10-EB3BFCDD9783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F0115DF-F63C-B2D6-4333-7FC6F81B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938CE1-54CE-54CB-0788-37D6A1D2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3">
                <a:extLst>
                  <a:ext uri="{FF2B5EF4-FFF2-40B4-BE49-F238E27FC236}">
                    <a16:creationId xmlns:a16="http://schemas.microsoft.com/office/drawing/2014/main" id="{EFFB793A-B52E-6E8A-4359-8F991B8C5406}"/>
                  </a:ext>
                </a:extLst>
              </p:cNvPr>
              <p:cNvSpPr txBox="1"/>
              <p:nvPr/>
            </p:nvSpPr>
            <p:spPr>
              <a:xfrm>
                <a:off x="478548" y="1185733"/>
                <a:ext cx="8831472" cy="431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</a:pPr>
                <a:endParaRPr lang="es-ES" sz="2000" dirty="0">
                  <a:solidFill>
                    <a:srgbClr val="004479"/>
                  </a:solidFill>
                  <a:latin typeface="Malacitana-Sans" pitchFamily="2" charset="77"/>
                </a:endParaRP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Predominio de la dispersión cromática</a:t>
                </a: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Influencia del </a:t>
                </a:r>
                <a:r>
                  <a:rPr lang="es-ES" sz="2000" i="1" dirty="0">
                    <a:solidFill>
                      <a:srgbClr val="004479"/>
                    </a:solidFill>
                  </a:rPr>
                  <a:t>chirp</a:t>
                </a:r>
                <a:r>
                  <a:rPr lang="es-ES" sz="2000" dirty="0">
                    <a:solidFill>
                      <a:srgbClr val="004479"/>
                    </a:solidFill>
                  </a:rPr>
                  <a:t> y del signo del producto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solidFill>
                              <a:srgbClr val="004479"/>
                            </a:solidFill>
                          </a:rPr>
                        </m:ctrlPr>
                      </m:sSubPr>
                      <m:e>
                        <m:r>
                          <a:rPr lang="es-ES" sz="2000" i="1" smtClean="0">
                            <a:solidFill>
                              <a:srgbClr val="004479"/>
                            </a:solidFill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2000" b="0" i="1" smtClean="0">
                            <a:solidFill>
                              <a:srgbClr val="004479"/>
                            </a:solidFill>
                          </a:rPr>
                          <m:t>2</m:t>
                        </m:r>
                      </m:sub>
                    </m:sSub>
                    <m:r>
                      <a:rPr lang="es-ES" sz="2000" b="0" i="1" smtClean="0">
                        <a:solidFill>
                          <a:srgbClr val="004479"/>
                        </a:solidFill>
                      </a:rPr>
                      <m:t>𝐶</m:t>
                    </m:r>
                  </m:oMath>
                </a14:m>
                <a:endParaRPr lang="es-ES" sz="2000" dirty="0">
                  <a:solidFill>
                    <a:srgbClr val="004479"/>
                  </a:solidFill>
                </a:endParaRP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Dependencia con la distancia de propagación</a:t>
                </a: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Efecto de la turbulencia</a:t>
                </a: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Efecto de la dispersión de tercer orden</a:t>
                </a:r>
              </a:p>
              <a:p>
                <a:pPr marL="800100" lvl="1" indent="-342900" algn="just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s-ES" sz="2000" dirty="0">
                    <a:solidFill>
                      <a:srgbClr val="004479"/>
                    </a:solidFill>
                  </a:rPr>
                  <a:t>Dependencia con la anchura temporal inicial</a:t>
                </a:r>
              </a:p>
            </p:txBody>
          </p:sp>
        </mc:Choice>
        <mc:Fallback>
          <p:sp>
            <p:nvSpPr>
              <p:cNvPr id="5" name="CuadroTexto 3">
                <a:extLst>
                  <a:ext uri="{FF2B5EF4-FFF2-40B4-BE49-F238E27FC236}">
                    <a16:creationId xmlns:a16="http://schemas.microsoft.com/office/drawing/2014/main" id="{EFFB793A-B52E-6E8A-4359-8F991B8C5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48" y="1185733"/>
                <a:ext cx="8831472" cy="4315027"/>
              </a:xfrm>
              <a:prstGeom prst="rect">
                <a:avLst/>
              </a:prstGeom>
              <a:blipFill>
                <a:blip r:embed="rId2"/>
                <a:stretch>
                  <a:fillRect b="-18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714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33C14-A657-CAD0-0034-9C3C560E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CBF473B4-A739-87BA-5EF8-054E68C54BA1}"/>
              </a:ext>
            </a:extLst>
          </p:cNvPr>
          <p:cNvSpPr txBox="1"/>
          <p:nvPr/>
        </p:nvSpPr>
        <p:spPr>
          <a:xfrm>
            <a:off x="327188" y="305396"/>
            <a:ext cx="675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004479"/>
                </a:solidFill>
              </a:rPr>
              <a:t>Conclusiones y 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D17166B-284E-6F33-4B05-E1D36B4C931F}"/>
              </a:ext>
            </a:extLst>
          </p:cNvPr>
          <p:cNvSpPr txBox="1"/>
          <p:nvPr/>
        </p:nvSpPr>
        <p:spPr>
          <a:xfrm>
            <a:off x="478548" y="729875"/>
            <a:ext cx="6759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AAD6"/>
                </a:solidFill>
              </a:rPr>
              <a:t>Líneas futuras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881BE04-4883-38C5-725F-BC1BE1E5B110}"/>
              </a:ext>
            </a:extLst>
          </p:cNvPr>
          <p:cNvCxnSpPr>
            <a:cxnSpLocks/>
          </p:cNvCxnSpPr>
          <p:nvPr/>
        </p:nvCxnSpPr>
        <p:spPr>
          <a:xfrm>
            <a:off x="415773" y="1265941"/>
            <a:ext cx="3442481" cy="0"/>
          </a:xfrm>
          <a:prstGeom prst="line">
            <a:avLst/>
          </a:prstGeom>
          <a:ln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0FD9E08-B49B-3E8A-DAE2-FC19F4A1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t>16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54A128-6686-DAAD-84E0-19443649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u="sng" dirty="0">
                <a:solidFill>
                  <a:schemeClr val="bg1"/>
                </a:solidFill>
              </a:rPr>
              <a:t>Dispersión y turbulencia en pulsos ultracortos: escenarios atmosférico y oceánico</a:t>
            </a:r>
          </a:p>
          <a:p>
            <a:endParaRPr lang="es-ES" dirty="0"/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2AFDC31C-6975-7B63-7B30-1EE11853047F}"/>
              </a:ext>
            </a:extLst>
          </p:cNvPr>
          <p:cNvSpPr txBox="1"/>
          <p:nvPr/>
        </p:nvSpPr>
        <p:spPr>
          <a:xfrm>
            <a:off x="415773" y="1703267"/>
            <a:ext cx="7698433" cy="289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2800" dirty="0">
              <a:solidFill>
                <a:srgbClr val="004479"/>
              </a:solidFill>
              <a:latin typeface="Malacitana-Sans" pitchFamily="2" charset="77"/>
            </a:endParaRP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Modelos más realistas para turbulencia oceánica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Optimización de enlaces ópticos en condiciones cambiantes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Sistemas híbridos de comunicación</a:t>
            </a:r>
          </a:p>
          <a:p>
            <a:pPr marL="800100" lvl="1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solidFill>
                  <a:srgbClr val="004479"/>
                </a:solidFill>
              </a:rPr>
              <a:t>Comunicaciones FSO como plataforma para enlaces cuánticos</a:t>
            </a:r>
          </a:p>
        </p:txBody>
      </p:sp>
    </p:spTree>
    <p:extLst>
      <p:ext uri="{BB962C8B-B14F-4D97-AF65-F5344CB8AC3E}">
        <p14:creationId xmlns:p14="http://schemas.microsoft.com/office/powerpoint/2010/main" val="1471432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11CB00D-1911-B4CB-2C42-5E3463FB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Dispersión y turbulencia en pulsos ultracortos: escenarios atmosférico y oceánico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5100C1B-763E-44FC-4F6F-5E067E35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5F45-1FFF-D043-8DCE-2BE364C338E3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7EA68D-6323-C5EF-156E-8AAFCE2335D2}"/>
              </a:ext>
            </a:extLst>
          </p:cNvPr>
          <p:cNvSpPr txBox="1"/>
          <p:nvPr/>
        </p:nvSpPr>
        <p:spPr>
          <a:xfrm>
            <a:off x="1163192" y="2265282"/>
            <a:ext cx="7713727" cy="2219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4000" dirty="0">
                <a:solidFill>
                  <a:srgbClr val="004479"/>
                </a:solidFill>
              </a:rPr>
              <a:t>Gracias por su atención </a:t>
            </a:r>
            <a:endParaRPr lang="es-ES" dirty="0">
              <a:solidFill>
                <a:srgbClr val="00AAD6"/>
              </a:solidFill>
            </a:endParaRPr>
          </a:p>
          <a:p>
            <a:pPr>
              <a:lnSpc>
                <a:spcPct val="150000"/>
              </a:lnSpc>
            </a:pPr>
            <a:endParaRPr lang="es-ES" dirty="0">
              <a:solidFill>
                <a:srgbClr val="00AAD6"/>
              </a:solidFill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AAD6"/>
                </a:solidFill>
              </a:rPr>
              <a:t>Noelia Damas Vílchez</a:t>
            </a:r>
          </a:p>
          <a:p>
            <a:pPr>
              <a:lnSpc>
                <a:spcPct val="150000"/>
              </a:lnSpc>
            </a:pPr>
            <a:r>
              <a:rPr lang="es-ES" sz="1600" dirty="0">
                <a:solidFill>
                  <a:srgbClr val="00AAD6"/>
                </a:solidFill>
              </a:rPr>
              <a:t>noeliadamas@uma.es</a:t>
            </a:r>
            <a:endParaRPr lang="es-ES" sz="3600" dirty="0">
              <a:solidFill>
                <a:srgbClr val="004479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63D6BCD-5C7D-E6ED-BAA1-DF47303337AB}"/>
              </a:ext>
            </a:extLst>
          </p:cNvPr>
          <p:cNvCxnSpPr>
            <a:cxnSpLocks/>
          </p:cNvCxnSpPr>
          <p:nvPr/>
        </p:nvCxnSpPr>
        <p:spPr>
          <a:xfrm>
            <a:off x="1266678" y="3401950"/>
            <a:ext cx="3442481" cy="0"/>
          </a:xfrm>
          <a:prstGeom prst="line">
            <a:avLst/>
          </a:prstGeom>
          <a:ln w="38100"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6967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DENTIDAD WEB POWER POINT" id="{39D243A9-8FAE-5A41-90A7-5A5B874E736E}" vid="{E7D63287-D7CD-7742-85FC-41BD0F791CC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2449</TotalTime>
  <Words>1419</Words>
  <Application>Microsoft Office PowerPoint</Application>
  <PresentationFormat>Presentación en pantalla (4:3)</PresentationFormat>
  <Paragraphs>207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Malacitana</vt:lpstr>
      <vt:lpstr>Malacitana-Sans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Noelia</dc:creator>
  <cp:lastModifiedBy>Noelia Damas Vilchez</cp:lastModifiedBy>
  <cp:revision>74</cp:revision>
  <dcterms:created xsi:type="dcterms:W3CDTF">2019-06-10T11:00:10Z</dcterms:created>
  <dcterms:modified xsi:type="dcterms:W3CDTF">2026-02-08T20:19:46Z</dcterms:modified>
</cp:coreProperties>
</file>